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400300"/>
            <a:ext cx="3200400" cy="3200400"/>
          </a:xfrm>
          <a:prstGeom prst="ellipse">
            <a:avLst/>
          </a:prstGeom>
          <a:solidFill>
            <a:srgbClr val="E8740C">
              <a:alpha val="12000"/>
            </a:srgbClr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314700"/>
            <a:ext cx="2011680" cy="2011680"/>
          </a:xfrm>
          <a:prstGeom prst="ellipse">
            <a:avLst/>
          </a:prstGeom>
          <a:solidFill>
            <a:srgbClr val="E8740C">
              <a:alpha val="25000"/>
            </a:srgbClr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INTERNAL BUSINESS PLAN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事業計画書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822960" y="2971800"/>
            <a:ext cx="1828800" cy="0"/>
          </a:xfrm>
          <a:prstGeom prst="line">
            <a:avLst/>
          </a:prstGeom>
          <a:noFill/>
          <a:ln w="38100">
            <a:solidFill>
              <a:srgbClr val="E874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63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プラットフォーム事業化の全貌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ミッション・戦略・収益モデル・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KPI設計・P&amp;L計画まで全て収録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229100"/>
            <a:ext cx="7498080" cy="0"/>
          </a:xfrm>
          <a:prstGeom prst="line">
            <a:avLst/>
          </a:prstGeom>
          <a:noFill/>
          <a:ln w="12700">
            <a:solidFill>
              <a:srgbClr val="E8740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22960" y="43662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Version 1.0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 4月 策定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45034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エグゼクティブサマリー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3年後の姿と、そこに至るまでの勝ち筋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8229600" cy="594360"/>
          </a:xfrm>
          <a:prstGeom prst="rect">
            <a:avLst/>
          </a:prstGeom>
          <a:solidFill>
            <a:srgbClr val="2A1700"/>
          </a:solidFill>
          <a:ln w="12700">
            <a:solidFill>
              <a:srgbClr val="2A1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45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九州の平屋に強いYouTubeメディアを起点に、</a:t>
            </a:r>
            <a:pPr algn="ctr" indent="0" marL="0">
              <a:buNone/>
            </a:pPr>
            <a:r>
              <a:rPr lang="en-US" sz="13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「家づくりのミスマッチをゼロにする」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住宅ポータル事業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1993392" cy="137160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23160"/>
            <a:ext cx="1993392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3年目 年商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¥1.08億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月商 ¥12M 到達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32888" y="2423160"/>
            <a:ext cx="1993392" cy="137160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32888" y="2423160"/>
            <a:ext cx="1993392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4328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3年目 営業利益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24328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¥2,600万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624328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利益率 24%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08576" y="2423160"/>
            <a:ext cx="1993392" cy="137160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08576" y="2423160"/>
            <a:ext cx="1993392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提携工務店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0016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40-50社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700016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 + 関東進出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84264" y="2423160"/>
            <a:ext cx="1993392" cy="137160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84264" y="2423160"/>
            <a:ext cx="1993392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75704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顧客満足度 NPS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75704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70+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775704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業界トップ水準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主要戦略（Strategic Pillars）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251960"/>
            <a:ext cx="19933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YouTube資産を集客エンジンにする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32888" y="4251960"/>
            <a:ext cx="19933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24328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ハイブリッド成果報酬でリスクゼロ参画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08576" y="4251960"/>
            <a:ext cx="19933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0016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Smart Match で営業効率最大化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684264" y="4251960"/>
            <a:ext cx="19933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75704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先行10社と長期的信頼関係を構築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Mission / Vision / Values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ミッション・ビジョン・バリュー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私たちが何者で、何を成し遂げたいのか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家づくりのミスマッチを、ゼロにする。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777240"/>
          </a:xfrm>
          <a:prstGeom prst="rect">
            <a:avLst/>
          </a:prstGeom>
          <a:solidFill>
            <a:srgbClr val="FFF8F0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VISION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九州No.1の誠実な住宅メディアとして、業界の構造を変える。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VALUES ─ 私たちの行動指針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931920"/>
            <a:ext cx="1572768" cy="54864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23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187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誠実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4622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短期的な売上より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長期的な信頼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12264" y="3931920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12264" y="3931920"/>
            <a:ext cx="1572768" cy="54864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03704" y="4023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03704" y="4187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03704" y="44622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感覚ではなく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数字で判断する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767328" y="3931920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67328" y="3931920"/>
            <a:ext cx="1572768" cy="54864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58768" y="4023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58768" y="4187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長期志向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58768" y="44622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10年後も残る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関係を築く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22392" y="3931920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22392" y="3931920"/>
            <a:ext cx="1572768" cy="54864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4023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4187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共創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13832" y="44622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お客様ではなく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パートナー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077456" y="3931920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77456" y="3931920"/>
            <a:ext cx="1572768" cy="54864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68896" y="4023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68896" y="41879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168896" y="44622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量より質、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本気の出会い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なぜ、今やるのか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プラットフォーム化する意義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YouTube単体では届けられない価値を、プラットフォームで実現する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023360" cy="123444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YouTube単体では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9933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一度きりの「出会い」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視聴者は動画を見て満足して終わる。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誰が・どの工務店に興味を持ったか、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データとして把握できない。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34840" y="21031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46320" y="1691640"/>
            <a:ext cx="3840480" cy="123444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プラットフォーム化で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19933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継続的な「関係」へ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8348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視聴者を会員化し、診断・予約・商談まで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一貫したデータとして追跡可能。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工務店は反響の質と量を数値化できる。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時代背景 ─ 住宅業界の情報取得チャネルは変わった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10712"/>
            <a:ext cx="8229600" cy="0"/>
          </a:xfrm>
          <a:prstGeom prst="line">
            <a:avLst/>
          </a:prstGeom>
          <a:noFill/>
          <a:ln w="12700">
            <a:solidFill>
              <a:srgbClr val="E8740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2044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4.5倍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864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動画・SNS経由 来場率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2020年 3.1% → 2022年 14.0%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5994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ミライスタイル調べ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46120" y="352044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97.1%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33756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35歳以上の視聴割合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家を建てる主要層と完全一致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37560" y="45994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ぺいほーむYouTube実測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35040" y="352044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25.6万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12648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直近28日間の視聴回数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通常比 +977% の驚異的な伸び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0" y="45994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YouTube Studio 実測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Market Size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市場規模 ─ TAM / SAM / SOM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国交省データをもとに算定した、狙える市場の大きさ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日本全国 注文住宅市場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 約 7.8 兆円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0756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新設住宅着工 約80万戸 / うち注文住宅 約25万戸 × 平均契約額3,100万円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71600" y="2606040"/>
            <a:ext cx="6400800" cy="777240"/>
          </a:xfrm>
          <a:prstGeom prst="rect">
            <a:avLst/>
          </a:prstGeom>
          <a:solidFill>
            <a:srgbClr val="FFE8D1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九州7県 注文住宅市場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26334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 約 5,000 億円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299008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九州エリアの注文住宅着工 約1.6万戸 × 平均契約額3,100万円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0" y="3520440"/>
            <a:ext cx="4572000" cy="777240"/>
          </a:xfrm>
          <a:prstGeom prst="rect">
            <a:avLst/>
          </a:prstGeom>
          <a:solidFill>
            <a:srgbClr val="E8740C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ぺいほーむ提携対象 工務店市場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547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 約 500 億円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468880" y="39044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九州の地域工務店で年間10-50棟規模 / 平屋特化 / 動画活用に前向き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2A1700"/>
          </a:solidFill>
          <a:ln w="12700">
            <a:solidFill>
              <a:srgbClr val="2A17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3年目の目標月商 ¥12M (年商 1.08億) は、SOM 500億円の </a:t>
            </a:r>
            <a:pPr algn="ctr" indent="0" marL="0">
              <a:buNone/>
            </a:pPr>
            <a:r>
              <a:rPr lang="en-US" sz="11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わずか 0.22%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のシェア獲得で達成可能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Industry Issues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業界の構造的な問題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既存プレイヤーが抱える、解決されない課題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023360" cy="141732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91440" cy="14173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1.66%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48840" y="1828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資料請求 → 契約率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業界平均は極めて低い。年間120件の資料請求があっても、成約はわずか2件。営業リソースの浪費構造。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8620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ジョンソンパートナーズ調べ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4023360" cy="141732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691640"/>
            <a:ext cx="91440" cy="14173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¥75-100K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1828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来場予約 CPA 相場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3317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展示場来場予約1件あたりの集客コスト。ポータルに月10万以上支払っても、冷やかしが大半という声が多数。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8620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LIFULL HOME'S Business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4023360" cy="141732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46120"/>
            <a:ext cx="91440" cy="14173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37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¥670,000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148840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契約1件あたり広告費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886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業界平均の1契約獲得コスト。粗利率20%前提だと、粗利の約11%が広告費に消える計算。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4165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船井総合研究所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63440" y="3246120"/>
            <a:ext cx="4023360" cy="141732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246120"/>
            <a:ext cx="91440" cy="14173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337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55080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動画経由 来場率の上昇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3886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2020年 3.1% → 2022年 14.0% と4.5倍に急増。既存ポータルは動画を軸にした集客設計になっていない。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44165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ミライスタイル調べ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ぺいほーむは、これらの業界課題を「YouTube資産 × AI診断 × Smart Match」の3点セットで解決する。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Target Segments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ターゲット顧客セグメント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工務店側 × ユーザー側、それぞれ3層に分けて攻略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工務店側（売り手）セグメント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8229600" cy="0"/>
          </a:xfrm>
          <a:prstGeom prst="line">
            <a:avLst/>
          </a:prstGeom>
          <a:noFill/>
          <a:ln w="12700">
            <a:solidFill>
              <a:srgbClr val="E874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2743200" cy="105156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194560"/>
            <a:ext cx="411480" cy="411480"/>
          </a:xfrm>
          <a:prstGeom prst="ellipse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地域工務店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395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年5-15棟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651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平均契約 </a:t>
            </a:r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3,000万円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880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現在の先行10社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6120" y="2103120"/>
            <a:ext cx="2743200" cy="105156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2194560"/>
            <a:ext cx="411480" cy="411480"/>
          </a:xfrm>
          <a:prstGeom prst="ellipse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β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86200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中堅ビルダー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86200" y="2395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年30-80棟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2651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平均契約 </a:t>
            </a:r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3,500万円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2880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2027年以降の主要ターゲット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2103120"/>
            <a:ext cx="2743200" cy="105156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2194560"/>
            <a:ext cx="411480" cy="411480"/>
          </a:xfrm>
          <a:prstGeom prst="ellipse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γ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75120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ハウスメーカー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2395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年100棟+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72200" y="2651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平均契約 </a:t>
            </a:r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4,000万円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72200" y="2880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エンタープライズプラン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ユーザー側（買い手）セグメント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593592"/>
            <a:ext cx="8229600" cy="0"/>
          </a:xfrm>
          <a:prstGeom prst="line">
            <a:avLst/>
          </a:prstGeom>
          <a:noFill/>
          <a:ln w="12700">
            <a:solidFill>
              <a:srgbClr val="E8740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70332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767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認知期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" y="40050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動画で情報収集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4360" y="4297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YouTubeで家づくりを学び中。興味はあるが本気度はまだ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46120" y="370332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3767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検討期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83280" y="40050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AI診断で絞り込み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383280" y="4297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予算・家族構成・希望が固まり、相性の良い工務店を探す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35040" y="370332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3767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決定期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72200" y="40050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見学会で最終判断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172200" y="4297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スマートマッチで希望条件を伝え、工務店と対話開始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Our Assets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自社が持つ資産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競合が簡単には再現できない、ぺいほーむ独自の強み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993392" cy="123444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83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42,859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YouTube登録者数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633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過去28日 +267名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32888" y="1691640"/>
            <a:ext cx="1993392" cy="123444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1783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25.6万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24328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月間視聴回数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24328" y="2633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通常比 +977%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08576" y="1691640"/>
            <a:ext cx="1993392" cy="123444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1783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488万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00016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月間インプレッション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0016" y="2633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CTR 4.5%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84264" y="1691640"/>
            <a:ext cx="1993392" cy="123444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75704" y="1783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97.1%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75704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35歳以上の視聴率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75704" y="2633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家を建てる世代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3つの資産カテゴリ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364992"/>
            <a:ext cx="8229600" cy="0"/>
          </a:xfrm>
          <a:prstGeom prst="line">
            <a:avLst/>
          </a:prstGeom>
          <a:noFill/>
          <a:ln w="12700">
            <a:solidFill>
              <a:srgbClr val="E8740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4747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コンテンツ資産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3858768"/>
            <a:ext cx="2468880" cy="0"/>
          </a:xfrm>
          <a:prstGeom prst="line">
            <a:avLst/>
          </a:prstGeom>
          <a:noFill/>
          <a:ln w="12700">
            <a:solidFill>
              <a:srgbClr val="E874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931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42本</a:t>
            </a:r>
            <a:endParaRPr lang="en-US" sz="900" dirty="0"/>
          </a:p>
          <a:p>
            <a:pPr algn="l"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施工事例 25邸</a:t>
            </a:r>
            <a:endParaRPr lang="en-US" sz="900" dirty="0"/>
          </a:p>
          <a:p>
            <a:pPr algn="l"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間取り図 30プラン</a:t>
            </a:r>
            <a:endParaRPr lang="en-US" sz="900" dirty="0"/>
          </a:p>
          <a:p>
            <a:pPr algn="l"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マガジン 7号</a:t>
            </a:r>
            <a:endParaRPr lang="en-US" sz="900" dirty="0"/>
          </a:p>
          <a:p>
            <a:pPr algn="l"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インタビュー記事多数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46120" y="34747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オーディエンス資産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83280" y="3858768"/>
            <a:ext cx="2468880" cy="0"/>
          </a:xfrm>
          <a:prstGeom prst="line">
            <a:avLst/>
          </a:prstGeom>
          <a:noFill/>
          <a:ln w="12700">
            <a:solidFill>
              <a:srgbClr val="E874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3931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登録者 42,859人</a:t>
            </a:r>
            <a:endParaRPr lang="en-US" sz="900" dirty="0"/>
          </a:p>
          <a:p>
            <a:pPr algn="l"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月間視聴 25.6万</a:t>
            </a:r>
            <a:endParaRPr lang="en-US" sz="900" dirty="0"/>
          </a:p>
          <a:p>
            <a:pPr algn="l"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国内視聴 98.8%</a:t>
            </a:r>
            <a:endParaRPr lang="en-US" sz="900" dirty="0"/>
          </a:p>
          <a:p>
            <a:pPr algn="l"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40-60代の核心層</a:t>
            </a:r>
            <a:endParaRPr lang="en-US" sz="900" dirty="0"/>
          </a:p>
          <a:p>
            <a:pPr algn="l"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新規流入 94.7%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0" y="34747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技術・データ資産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72200" y="3858768"/>
            <a:ext cx="2468880" cy="0"/>
          </a:xfrm>
          <a:prstGeom prst="line">
            <a:avLst/>
          </a:prstGeom>
          <a:noFill/>
          <a:ln w="12700">
            <a:solidFill>
              <a:srgbClr val="E874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3931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AI家づくり診断</a:t>
            </a:r>
            <a:endParaRPr lang="en-US" sz="900" dirty="0"/>
          </a:p>
          <a:p>
            <a:pPr algn="l"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Smart Match システム</a:t>
            </a:r>
            <a:endParaRPr lang="en-US" sz="900" dirty="0"/>
          </a:p>
          <a:p>
            <a:pPr algn="l"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連絡希望プロファイル</a:t>
            </a:r>
            <a:endParaRPr lang="en-US" sz="900" dirty="0"/>
          </a:p>
          <a:p>
            <a:pPr algn="l"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匿名AI仲介質問</a:t>
            </a:r>
            <a:endParaRPr lang="en-US" sz="900" dirty="0"/>
          </a:p>
          <a:p>
            <a:pPr algn="l"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工務店ダッシュボード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競合マップ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主要プレイヤーのビジネスモデル比較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288036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737360"/>
                <a:gridCol w="15544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サービス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運営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料金モデル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相場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特徴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SUUMO（注文）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リクルート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枠制・掲載課金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半期50-60万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全国ブランド力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LIFULL HOME'S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LIFULL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無料+反響課金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反響1件 1-10万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提携先への自動転載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タウンライフ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タウンライフ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完全成果報酬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契約額の約3%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間取り提案がフック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持ち家計画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持ち家計画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完全成果課金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非公開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成約ベース課金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THE ROOM TOUR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ザルームツアー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タイアップ制作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個別見積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SNS総38万フォロワー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ぺいほーむ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自社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ハイブリッド成果報酬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5万+契約3%上限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YouTube起点+AI診断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0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料金モデルは似ていても、「YouTube資産 × AI診断 × Smart Match」を統合しているプレイヤーは存在しない。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Positioning &amp; Moat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ポジショニングと勝ち筋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ぺいほーむだけが立てる、3つの防衛可能な堀（moat）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DF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91640"/>
            <a:ext cx="27432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コンテンツの堀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動画・記事の累積資産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816352"/>
            <a:ext cx="548640" cy="0"/>
          </a:xfrm>
          <a:prstGeom prst="line">
            <a:avLst/>
          </a:prstGeom>
          <a:noFill/>
          <a:ln w="25400">
            <a:solidFill>
              <a:srgbClr val="E874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0779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42本の動画と視聴行動データは、新規参入者が2〜3年でも追いつけない。各動画は今もアルゴリズムで再流入を生み続ける。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2423160" cy="274320"/>
          </a:xfrm>
          <a:prstGeom prst="rect">
            <a:avLst/>
          </a:prstGeom>
          <a:solidFill>
            <a:srgbClr val="FFE8D1"/>
          </a:solidFill>
          <a:ln w="12700">
            <a:solidFill>
              <a:srgbClr val="FFE8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89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時間が経つほど強くなる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6120" y="169164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DF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691640"/>
            <a:ext cx="27432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429000" y="2212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オーディエンスの堀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2900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YouTube検索の独占ポジション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29000" y="2816352"/>
            <a:ext cx="548640" cy="0"/>
          </a:xfrm>
          <a:prstGeom prst="line">
            <a:avLst/>
          </a:prstGeom>
          <a:noFill/>
          <a:ln w="25400">
            <a:solidFill>
              <a:srgbClr val="E874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290779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「平屋ルームツアー」「平屋」「ルームツアー」で検索1-3位を独占。広告費を投じても、買えない『注目』を既に持っている。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29000" y="4389120"/>
            <a:ext cx="2423160" cy="274320"/>
          </a:xfrm>
          <a:prstGeom prst="rect">
            <a:avLst/>
          </a:prstGeom>
          <a:solidFill>
            <a:srgbClr val="FFE8D1"/>
          </a:solidFill>
          <a:ln w="12700">
            <a:solidFill>
              <a:srgbClr val="FFE8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4389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広告費では買えない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169164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DF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1691640"/>
            <a:ext cx="27432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17920" y="2212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データの堀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1792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AI診断 × Smart Match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2816352"/>
            <a:ext cx="548640" cy="0"/>
          </a:xfrm>
          <a:prstGeom prst="line">
            <a:avLst/>
          </a:prstGeom>
          <a:noFill/>
          <a:ln w="25400">
            <a:solidFill>
              <a:srgbClr val="E874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90779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ユーザーの希望条件・本気度・連絡希望をデータ化。蓄積するほど、マッチング精度と工務店への提供価値が上がる。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4389120"/>
            <a:ext cx="2423160" cy="274320"/>
          </a:xfrm>
          <a:prstGeom prst="rect">
            <a:avLst/>
          </a:prstGeom>
          <a:solidFill>
            <a:srgbClr val="FFE8D1"/>
          </a:solidFill>
          <a:ln w="12700">
            <a:solidFill>
              <a:srgbClr val="FFE8D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4389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使うほど精度が上がる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ビジネスモデル全体図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3つのプレイヤーと、価値 / お金の流れ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377440" cy="1828800"/>
          </a:xfrm>
          <a:prstGeom prst="rect">
            <a:avLst/>
          </a:prstGeom>
          <a:solidFill>
            <a:srgbClr val="FFF8F0"/>
          </a:solidFill>
          <a:ln w="19050">
            <a:solidFill>
              <a:srgbClr val="E874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家を建てたい方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35-64歳のご夫婦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【無料で使える】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・動画視聴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・AI診断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・見学会予約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2011680"/>
            <a:ext cx="2377440" cy="182880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5146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媒介プラットフォーム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（メディア × データ）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【提供価値】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・質の高い送客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・コンテンツ制作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・データ分析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2011680"/>
            <a:ext cx="2377440" cy="1828800"/>
          </a:xfrm>
          <a:prstGeom prst="rect">
            <a:avLst/>
          </a:prstGeom>
          <a:solidFill>
            <a:srgbClr val="FFF8F0"/>
          </a:solidFill>
          <a:ln w="19050">
            <a:solidFill>
              <a:srgbClr val="E874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工務店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5146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地域工務店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先行10社 → 40社+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【支払い】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・予約時 ¥50,000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・成約時 3%上限</a:t>
            </a:r>
            <a:endParaRPr lang="en-US" sz="9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・月額プラン（新規）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834640" y="2651760"/>
            <a:ext cx="502920" cy="0"/>
          </a:xfrm>
          <a:prstGeom prst="line">
            <a:avLst/>
          </a:prstGeom>
          <a:noFill/>
          <a:ln w="25400">
            <a:solidFill>
              <a:srgbClr val="E8740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2514600"/>
            <a:ext cx="91440" cy="137160"/>
          </a:xfrm>
          <a:prstGeom prst="line">
            <a:avLst/>
          </a:prstGeom>
          <a:noFill/>
          <a:ln w="25400">
            <a:solidFill>
              <a:srgbClr val="E8740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788920"/>
            <a:ext cx="91440" cy="-137160"/>
          </a:xfrm>
          <a:prstGeom prst="line">
            <a:avLst/>
          </a:prstGeom>
          <a:noFill/>
          <a:ln w="25400">
            <a:solidFill>
              <a:srgbClr val="E874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閲覧・登録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834640" y="3200400"/>
            <a:ext cx="502920" cy="0"/>
          </a:xfrm>
          <a:prstGeom prst="line">
            <a:avLst/>
          </a:prstGeom>
          <a:noFill/>
          <a:ln w="25400">
            <a:solidFill>
              <a:srgbClr val="2A17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4640" y="3063240"/>
            <a:ext cx="91440" cy="137160"/>
          </a:xfrm>
          <a:prstGeom prst="line">
            <a:avLst/>
          </a:prstGeom>
          <a:noFill/>
          <a:ln w="25400">
            <a:solidFill>
              <a:srgbClr val="2A17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4640" y="3337560"/>
            <a:ext cx="91440" cy="-137160"/>
          </a:xfrm>
          <a:prstGeom prst="line">
            <a:avLst/>
          </a:prstGeom>
          <a:noFill/>
          <a:ln w="25400">
            <a:solidFill>
              <a:srgbClr val="2A17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0" y="3383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動画・診断・マッチング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760720" y="2651760"/>
            <a:ext cx="502920" cy="0"/>
          </a:xfrm>
          <a:prstGeom prst="line">
            <a:avLst/>
          </a:prstGeom>
          <a:noFill/>
          <a:ln w="25400">
            <a:solidFill>
              <a:srgbClr val="E8740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2514600"/>
            <a:ext cx="91440" cy="137160"/>
          </a:xfrm>
          <a:prstGeom prst="line">
            <a:avLst/>
          </a:prstGeom>
          <a:noFill/>
          <a:ln w="25400">
            <a:solidFill>
              <a:srgbClr val="E8740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788920"/>
            <a:ext cx="91440" cy="-137160"/>
          </a:xfrm>
          <a:prstGeom prst="line">
            <a:avLst/>
          </a:prstGeom>
          <a:noFill/>
          <a:ln w="25400">
            <a:solidFill>
              <a:srgbClr val="E874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質の高い送客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760720" y="3200400"/>
            <a:ext cx="502920" cy="0"/>
          </a:xfrm>
          <a:prstGeom prst="line">
            <a:avLst/>
          </a:prstGeom>
          <a:noFill/>
          <a:ln w="25400">
            <a:solidFill>
              <a:srgbClr val="2A17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3063240"/>
            <a:ext cx="91440" cy="137160"/>
          </a:xfrm>
          <a:prstGeom prst="line">
            <a:avLst/>
          </a:prstGeom>
          <a:noFill/>
          <a:ln w="25400">
            <a:solidFill>
              <a:srgbClr val="2A17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0" y="3337560"/>
            <a:ext cx="91440" cy="-137160"/>
          </a:xfrm>
          <a:prstGeom prst="line">
            <a:avLst/>
          </a:prstGeom>
          <a:noFill/>
          <a:ln w="25400">
            <a:solidFill>
              <a:srgbClr val="2A17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3383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成果報酬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28800" y="1600200"/>
            <a:ext cx="5486400" cy="365760"/>
          </a:xfrm>
          <a:prstGeom prst="rect">
            <a:avLst/>
          </a:prstGeom>
          <a:solidFill>
            <a:srgbClr val="2A1700"/>
          </a:solidFill>
          <a:ln w="12700">
            <a:solidFill>
              <a:srgbClr val="2A17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YouTubeチャンネル（登録者 4.28万人） ─ 無料の集客エンジン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solidFill>
            <a:srgbClr val="FFE8D1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【隣接収益源】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" y="43891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住宅ローン紹介料 / 土地紹介手数料 / 建材メーカータイアップ / B2C有料会員 / 月刊マガジン広告枠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Revenue Engines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3つの収益エンジン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成果報酬 + サブスク + 隣接収益の組み合わせで、予測可能かつ拡張可能な売上を構築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DF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91640"/>
            <a:ext cx="2743200" cy="41148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Engine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1737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構成比 50%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工務店 成果報酬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4963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見学会予約 ¥50,000/件 + 成約報酬 3%（上限）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2816352"/>
            <a:ext cx="2468880" cy="256032"/>
          </a:xfrm>
          <a:prstGeom prst="rect">
            <a:avLst/>
          </a:prstGeom>
          <a:solidFill>
            <a:srgbClr val="FFE8D1"/>
          </a:solidFill>
          <a:ln w="12700">
            <a:solidFill>
              <a:srgbClr val="FFE8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16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M0 から稼働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3182112"/>
            <a:ext cx="2468880" cy="0"/>
          </a:xfrm>
          <a:prstGeom prst="line">
            <a:avLst/>
          </a:prstGeom>
          <a:noFill/>
          <a:ln w="12700">
            <a:solidFill>
              <a:srgbClr val="EBDF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7355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●"/>
            </a:pPr>
            <a:r>
              <a:rPr lang="en-US" sz="85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リスクゼロで工務店が参画しやすい</a:t>
            </a:r>
            <a:endParaRPr lang="en-US" sz="850" dirty="0"/>
          </a:p>
          <a:p>
            <a:pPr algn="l" marL="342900" indent="-342900">
              <a:spcAft>
                <a:spcPts val="200"/>
              </a:spcAft>
              <a:buSzPct val="100000"/>
              <a:buChar char="●"/>
            </a:pPr>
            <a:r>
              <a:rPr lang="en-US" sz="85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工務店成長と連動して自動で収益拡大</a:t>
            </a:r>
            <a:endParaRPr lang="en-US" sz="850" dirty="0"/>
          </a:p>
          <a:p>
            <a:pPr algn="l" marL="342900" indent="-342900">
              <a:spcAft>
                <a:spcPts val="200"/>
              </a:spcAft>
              <a:buSzPct val="100000"/>
              <a:buChar char="●"/>
            </a:pPr>
            <a:r>
              <a:rPr lang="en-US" sz="85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業界標準（タウンライフと同等）の信頼設計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46120" y="169164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DF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691640"/>
            <a:ext cx="2743200" cy="41148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Engine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1737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構成比 25%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月額サブスクリプション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24963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スタンダード / グロース / プレミアム の3層構造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2816352"/>
            <a:ext cx="2468880" cy="256032"/>
          </a:xfrm>
          <a:prstGeom prst="rect">
            <a:avLst/>
          </a:prstGeom>
          <a:solidFill>
            <a:srgbClr val="FFE8D1"/>
          </a:solidFill>
          <a:ln w="12700">
            <a:solidFill>
              <a:srgbClr val="FFE8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816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M9-M12 導入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0" y="3182112"/>
            <a:ext cx="2468880" cy="0"/>
          </a:xfrm>
          <a:prstGeom prst="line">
            <a:avLst/>
          </a:prstGeom>
          <a:noFill/>
          <a:ln w="12700">
            <a:solidFill>
              <a:srgbClr val="EB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27355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●"/>
            </a:pPr>
            <a:r>
              <a:rPr lang="en-US" sz="85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予測可能なMRRで経営を安定化</a:t>
            </a:r>
            <a:endParaRPr lang="en-US" sz="850" dirty="0"/>
          </a:p>
          <a:p>
            <a:pPr algn="l" marL="342900" indent="-342900">
              <a:spcAft>
                <a:spcPts val="200"/>
              </a:spcAft>
              <a:buSzPct val="100000"/>
              <a:buChar char="●"/>
            </a:pPr>
            <a:r>
              <a:rPr lang="en-US" sz="85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年払い割引で解約率を低減</a:t>
            </a:r>
            <a:endParaRPr lang="en-US" sz="850" dirty="0"/>
          </a:p>
          <a:p>
            <a:pPr algn="l" marL="342900" indent="-342900">
              <a:spcAft>
                <a:spcPts val="200"/>
              </a:spcAft>
              <a:buSzPct val="100000"/>
              <a:buChar char="●"/>
            </a:pPr>
            <a:r>
              <a:rPr lang="en-US" sz="85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プレミアム特典がコンテンツ制作を促進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35040" y="169164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DF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1691640"/>
            <a:ext cx="2743200" cy="41148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Engine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1737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構成比 25%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隣接収益（B2C+広告）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72200" y="24963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B2C有料会員 / 住宅ローン紹介 / 建材タイアップ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72200" y="2816352"/>
            <a:ext cx="2468880" cy="256032"/>
          </a:xfrm>
          <a:prstGeom prst="rect">
            <a:avLst/>
          </a:prstGeom>
          <a:solidFill>
            <a:srgbClr val="FFE8D1"/>
          </a:solidFill>
          <a:ln w="12700">
            <a:solidFill>
              <a:srgbClr val="FFE8D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816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M12-M18 立ち上げ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72200" y="3182112"/>
            <a:ext cx="2468880" cy="0"/>
          </a:xfrm>
          <a:prstGeom prst="line">
            <a:avLst/>
          </a:prstGeom>
          <a:noFill/>
          <a:ln w="12700">
            <a:solidFill>
              <a:srgbClr val="EBDF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327355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●"/>
            </a:pPr>
            <a:r>
              <a:rPr lang="en-US" sz="85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工務店依存度を下げる分散投資</a:t>
            </a:r>
            <a:endParaRPr lang="en-US" sz="850" dirty="0"/>
          </a:p>
          <a:p>
            <a:pPr algn="l" marL="342900" indent="-342900">
              <a:spcAft>
                <a:spcPts val="200"/>
              </a:spcAft>
              <a:buSzPct val="100000"/>
              <a:buChar char="●"/>
            </a:pPr>
            <a:r>
              <a:rPr lang="en-US" sz="85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ユーザー・金融・建材メーカーからの複数流入</a:t>
            </a:r>
            <a:endParaRPr lang="en-US" sz="850" dirty="0"/>
          </a:p>
          <a:p>
            <a:pPr algn="l" marL="342900" indent="-342900">
              <a:spcAft>
                <a:spcPts val="200"/>
              </a:spcAft>
              <a:buSzPct val="100000"/>
              <a:buChar char="●"/>
            </a:pPr>
            <a:r>
              <a:rPr lang="en-US" sz="85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将来のデータ事業の素地となる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Pricing Philosophy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料金設計思想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工務店のリスクを最小化しながら、事業を段階的にグロースさせる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749808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91440" cy="749808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647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原則①：払い損をつくらない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03911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月額掲載料を無料にし、実際に見学会予約が発生した時点ではじめて課金。工務店の広告費が消える不安を原理的に解消。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749808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60320"/>
            <a:ext cx="91440" cy="749808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334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原則②：先行10社は永続維持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90779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最初に信じてくださった10社様には、将来の料金改訂後も現条件を永続的に維持。書面で明記し、経営陣が変わっても引き継がれる。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8229600" cy="749808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29000"/>
            <a:ext cx="91440" cy="749808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021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原則③：3%で工務店の上限を定める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77647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新規プランでも、契約額の3%を支払上限としてキャップ。業界標準水準を保ちつつ、予約時の5万円を差し引く設計で二重課金を回避。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solidFill>
            <a:srgbClr val="2A1700"/>
          </a:solidFill>
          <a:ln w="12700">
            <a:solidFill>
              <a:srgbClr val="2A1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信頼を先に積み上げ、収益は後から段階的に創出する ─ ぺいほーむ流の料金哲学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Short / Mid / Long Term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短期・中期・長期 目的設計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今決めることと、後で決めること ─ 3つの時間軸で事業を育てる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743200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37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短期 (今〜6ヶ月)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947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実績を作る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2743200" cy="237744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3172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導入数を増やす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成功事例を作る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成果データを取る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営業トークを磨く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勝てる顧客像を見つける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691640"/>
            <a:ext cx="2743200" cy="502920"/>
          </a:xfrm>
          <a:prstGeom prst="rect">
            <a:avLst/>
          </a:prstGeom>
          <a:solidFill>
            <a:srgbClr val="C25D00"/>
          </a:solidFill>
          <a:ln w="12700">
            <a:solidFill>
              <a:srgbClr val="C25D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737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中期 (6ヶ月〜1.5年)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1947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検証・特定する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46120" y="2194560"/>
            <a:ext cx="2743200" cy="237744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33172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成果の出る条件を特定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残る顧客像を把握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粗利が合うプランに寄せる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料金改定の実施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サブスク本格稼働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691640"/>
            <a:ext cx="2743200" cy="502920"/>
          </a:xfrm>
          <a:prstGeom prst="rect">
            <a:avLst/>
          </a:prstGeom>
          <a:solidFill>
            <a:srgbClr val="2A1700"/>
          </a:solidFill>
          <a:ln w="12700">
            <a:solidFill>
              <a:srgbClr val="2A1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737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長期 (1.5年〜)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1947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基盤化する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35040" y="2194560"/>
            <a:ext cx="2743200" cy="237744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33172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継続利益が出る料金体系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競争優位のプラットフォーム化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送客事業 → 業務基盤へ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ブランド基盤の確立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多角化・全国展開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2A1700"/>
          </a:solidFill>
          <a:ln w="12700">
            <a:solidFill>
              <a:srgbClr val="2A17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短期戦略は、長期設計の中に置く。細かい料金表より、方向性と判断基準を先に決める。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Transition &amp; Long-term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フェーズ移行判断基準と長期の1枚定義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今決めること＝長期の方向性。今決めないこと＝具体的な金額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3フェーズ &amp; 移行トリガー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4572000" cy="0"/>
          </a:xfrm>
          <a:prstGeom prst="line">
            <a:avLst/>
          </a:prstGeom>
          <a:noFill/>
          <a:ln w="12700">
            <a:solidFill>
              <a:srgbClr val="E874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4572000" cy="676656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03120"/>
            <a:ext cx="777240" cy="676656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03120"/>
            <a:ext cx="777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実績作り期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42316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次へ: 成約3件 / 予約10件/月 / NPS60+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4572000" cy="676656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52928"/>
            <a:ext cx="777240" cy="676656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52928"/>
            <a:ext cx="777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2898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317296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次へ: 成約10件 / 継続率80% / 月商¥3.5M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602736"/>
            <a:ext cx="4572000" cy="676656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02736"/>
            <a:ext cx="777240" cy="676656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02736"/>
            <a:ext cx="777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71600" y="3648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最適化期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71600" y="3922776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次へ: 月商¥10M / 粗利率70% / 提携40社+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1208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長期の1枚定義(VISION)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12080" y="1993392"/>
            <a:ext cx="3474720" cy="0"/>
          </a:xfrm>
          <a:prstGeom prst="line">
            <a:avLst/>
          </a:prstGeom>
          <a:noFill/>
          <a:ln w="12700">
            <a:solidFill>
              <a:srgbClr val="E8740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12080" y="2103120"/>
            <a:ext cx="3474720" cy="914400"/>
          </a:xfrm>
          <a:prstGeom prst="rect">
            <a:avLst/>
          </a:prstGeom>
          <a:solidFill>
            <a:srgbClr val="2A1700"/>
          </a:solidFill>
          <a:ln w="12700">
            <a:solidFill>
              <a:srgbClr val="2A1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21488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ぺいほーむは最終的に</a:t>
            </a:r>
            <a:endParaRPr lang="en-US" sz="9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鹿児島・九州の</a:t>
            </a:r>
            <a:endParaRPr lang="en-US" sz="9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工務店集客・比較・予約・</a:t>
            </a:r>
            <a:endParaRPr lang="en-US" sz="9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信頼形成の基盤になる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12080" y="3108960"/>
            <a:ext cx="3474720" cy="822960"/>
          </a:xfrm>
          <a:prstGeom prst="rect">
            <a:avLst/>
          </a:prstGeom>
          <a:solidFill>
            <a:srgbClr val="FFF8F0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31546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REVENUE(収益源の方向性)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49240" y="336499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主力:予約課金+月額課金</a:t>
            </a:r>
            <a:endParaRPr lang="en-US" sz="900" dirty="0"/>
          </a:p>
          <a:p>
            <a:pPr algn="l"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補助:成約報酬(上位限定)</a:t>
            </a:r>
            <a:endParaRPr lang="en-US" sz="900" dirty="0"/>
          </a:p>
          <a:p>
            <a:pPr algn="l" marL="342900" indent="-342900">
              <a:spcAft>
                <a:spcPts val="1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付加:オプション課金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434840"/>
            <a:ext cx="4023360" cy="54864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4348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✅ 今決めること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課金思想 / 判断基準 / 先行10社の約束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4434840"/>
            <a:ext cx="4023360" cy="548640"/>
          </a:xfrm>
          <a:prstGeom prst="rect">
            <a:avLst/>
          </a:prstGeom>
          <a:solidFill>
            <a:srgbClr val="EBDFD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44348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⏸ 後で決めること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具体的な料金 / プラン名 / 値上げ幅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Hybrid Model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ハイブリッド成果報酬モデル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予約時の着手金 + 成約時の3%上限 = 工務店の最大リスクを原理的に抑える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118872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見学会予約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¥50,000（着手金）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114800" y="1965960"/>
            <a:ext cx="640080" cy="640080"/>
          </a:xfrm>
          <a:prstGeom prst="ellipse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成約時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契約額×3% − 既払分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589520" y="1965960"/>
            <a:ext cx="1005840" cy="64008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19659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上限</a:t>
            </a:r>
            <a:endParaRPr lang="en-US" sz="9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契約金額別の試算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64992"/>
            <a:ext cx="8229600" cy="0"/>
          </a:xfrm>
          <a:prstGeom prst="line">
            <a:avLst/>
          </a:prstGeom>
          <a:noFill/>
          <a:ln w="12700">
            <a:solidFill>
              <a:srgbClr val="E874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49300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66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CASE 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2,500万円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¥750,000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94360" y="4434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予約時5万 + 成約時70万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=契約額の3.0%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46120" y="349300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566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CASE 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3,000万円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8328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¥900,000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383280" y="4434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予約時5万 + 成約時85万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=契約額の3.0%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35040" y="349300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566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CASE 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5,000万円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7220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¥1,500,000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172200" y="4434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予約時5万 + 成約時145万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=契約額の3.0%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Customer Journey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カスタマージャーニー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ユーザー側 × 工務店側、両方のタッチポイントを設計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ユーザー視点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8229600" cy="0"/>
          </a:xfrm>
          <a:prstGeom prst="line">
            <a:avLst/>
          </a:prstGeom>
          <a:noFill/>
          <a:ln w="12700">
            <a:solidFill>
              <a:srgbClr val="E874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1316736" cy="68580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488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認知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40487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YouTube視聴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73936" y="23317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47088" y="2103120"/>
            <a:ext cx="1316736" cy="68580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92808" y="21488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関心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92808" y="240487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サイト閲覧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63824" y="23317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36976" y="2103120"/>
            <a:ext cx="1316736" cy="68580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21488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82696" y="240487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会員登録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53712" y="23317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26864" y="2103120"/>
            <a:ext cx="1316736" cy="68580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72584" y="21488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72584" y="240487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AI家づくり診断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23317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16752" y="2103120"/>
            <a:ext cx="1316736" cy="68580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62472" y="21488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62472" y="240487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見学会予約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33488" y="23317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06640" y="2103120"/>
            <a:ext cx="1316736" cy="68580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52360" y="21488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52360" y="240487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契約・着工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工務店視点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364992"/>
            <a:ext cx="8229600" cy="0"/>
          </a:xfrm>
          <a:prstGeom prst="line">
            <a:avLst/>
          </a:prstGeom>
          <a:noFill/>
          <a:ln w="12700">
            <a:solidFill>
              <a:srgbClr val="E8740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474720"/>
            <a:ext cx="1316736" cy="68580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5204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377647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無料で参画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773936" y="37033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847088" y="3474720"/>
            <a:ext cx="1316736" cy="68580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92808" y="35204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892808" y="377647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動画制作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163824" y="37033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36976" y="3474720"/>
            <a:ext cx="1316736" cy="68580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82696" y="35204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82696" y="377647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掲載開始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53712" y="37033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626864" y="3474720"/>
            <a:ext cx="1316736" cy="68580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72584" y="35204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通知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72584" y="377647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予約を受信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43600" y="37033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016752" y="3474720"/>
            <a:ext cx="1316736" cy="68580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62472" y="35204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来場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062472" y="377647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対面商談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333488" y="37033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406640" y="3474720"/>
            <a:ext cx="1316736" cy="68580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52360" y="35204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成約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452360" y="377647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3%成果報酬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FFE8D1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ユーザーの検討期間は平均2-4週間。この間ぺいほーむはずっと寄り添い、見学会予約時には既に『心を寄せた状態』で工務店と出会える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Product Features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プロダクト機能マップ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4つの面から構成されるプラットフォーム全体像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023360" cy="141732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402336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ユーザー向け機能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動画一覧・検索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0" y="2194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AI家づくり診断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450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施工事例ライブラリ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0" y="2450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デジタルカタログ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7066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ローンシミュレーター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0320" y="27066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マイページ / お気に入り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691640"/>
            <a:ext cx="4023360" cy="141732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691640"/>
            <a:ext cx="402336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工務店向け機能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194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管理ダッシュボード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66560" y="2194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リード管理 / 商談メモ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450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見学会登録 / 管理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0" y="2450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施工事例の投稿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7066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動画の埋め込み管理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0" y="27066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匿名質問への回答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246120"/>
            <a:ext cx="4023360" cy="141732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246120"/>
            <a:ext cx="402336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383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Smart Match システム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3749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見学会モード選択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60320" y="3749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連絡希望プロファイル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匿名AI仲介質問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60320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営業フィードバック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42611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エリア絞り込み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60320" y="42611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相性マッチングAI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246120"/>
            <a:ext cx="4023360" cy="141732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246120"/>
            <a:ext cx="402336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383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データ・分析基盤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46320" y="3749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月次レポート自動生成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0" y="3749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反響→成約トラッキング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競合比較ベンチマーク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66560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視聴行動データ統合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42611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NPS 自動収集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66560" y="42611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Supabase 永続化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Milestones M0-M24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マイルストーン M0 → M24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リリース後24ヶ月の成長フェーズ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685800" cy="41148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6916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2026/05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0" y="1691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正式リリース / 先行10社運用開始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23760" y="1691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¥500K/月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30552"/>
            <a:ext cx="8229600" cy="41148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130552"/>
            <a:ext cx="685800" cy="41148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3055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213055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2026/08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77440" y="21305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初回データレビュー / 成功事例5件蓄積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21305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¥750K/月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569464"/>
            <a:ext cx="8229600" cy="41148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569464"/>
            <a:ext cx="685800" cy="41148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56946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256946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2026/11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77440" y="256946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ハイブリッドモデル ソフトローンチ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3760" y="256946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¥1.2M/月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008376"/>
            <a:ext cx="8229600" cy="41148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008376"/>
            <a:ext cx="685800" cy="41148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08376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M9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300837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2027/02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377440" y="300837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新規向けプラン本格展開 / 15-20社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300837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¥2.5M/月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447288"/>
            <a:ext cx="8229600" cy="41148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447288"/>
            <a:ext cx="685800" cy="41148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44728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M12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280160" y="344728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2027/05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377440" y="34472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月額サブスクリプション導入 / 20-25社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23760" y="34472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¥3.5M/月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886200"/>
            <a:ext cx="685800" cy="41148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88620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M18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280160" y="3886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2027/11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377440" y="3886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隣接収益本格化 / B2C会員200名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23760" y="3886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¥5.5M/月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325112"/>
            <a:ext cx="8229600" cy="41148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4325112"/>
            <a:ext cx="685800" cy="41148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32511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M24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280160" y="432511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2028/05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377440" y="43251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全国展開準備完了 / 関東 or 東海進出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223760" y="43251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¥10M/月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3-Year Roadmap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3年ロードマップ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Year 1：信頼構築 / Year 2：収益最大化 / Year 3：全国展開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DF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91640"/>
            <a:ext cx="2743200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Year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938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1737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信頼構築期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33172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2026/05 ─ 正式リリース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先行10社との運用確立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M6 ハイブリッドモデル着手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AI診断・Smart Match 定着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成功事例 10件蓄積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4023360"/>
            <a:ext cx="2468880" cy="320040"/>
          </a:xfrm>
          <a:prstGeom prst="rect">
            <a:avLst/>
          </a:prstGeom>
          <a:solidFill>
            <a:srgbClr val="FFE8D1"/>
          </a:solidFill>
          <a:ln w="12700">
            <a:solidFill>
              <a:srgbClr val="FFE8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023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年商 ¥1,800万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370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投資期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6120" y="169164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DF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691640"/>
            <a:ext cx="2743200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Year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1938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83280" y="1737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収益最大化期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233172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月額サブスクリプション本格導入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提携工務店 20-30社に拡大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B2C有料会員サービス始動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住宅ローン紹介提携開始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制作チーム体制強化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83280" y="4023360"/>
            <a:ext cx="2468880" cy="320040"/>
          </a:xfrm>
          <a:prstGeom prst="rect">
            <a:avLst/>
          </a:prstGeom>
          <a:solidFill>
            <a:srgbClr val="FFE8D1"/>
          </a:solidFill>
          <a:ln w="12700">
            <a:solidFill>
              <a:srgbClr val="FFE8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4023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年商 ¥5,400万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4370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黒字化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169164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DF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1691640"/>
            <a:ext cx="2743200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Year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1938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2028年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172200" y="1737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全国展開期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233172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九州モデルの横展開準備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関東 or 東海エリア進出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フランチャイズ構想検討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データ事業 β 版リリース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提携工務店 40-50社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72200" y="4023360"/>
            <a:ext cx="2468880" cy="320040"/>
          </a:xfrm>
          <a:prstGeom prst="rect">
            <a:avLst/>
          </a:prstGeom>
          <a:solidFill>
            <a:srgbClr val="FFE8D1"/>
          </a:solidFill>
          <a:ln w="12700">
            <a:solidFill>
              <a:srgbClr val="FFE8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4023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年商 ¥1.08億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4370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利益率 24%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 Tree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KPIツリー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KGIから日次指標までを論理的に分解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691640"/>
            <a:ext cx="4572000" cy="502920"/>
          </a:xfrm>
          <a:prstGeom prst="rect">
            <a:avLst/>
          </a:prstGeom>
          <a:solidFill>
            <a:srgbClr val="2A1700"/>
          </a:solidFill>
          <a:ln w="12700">
            <a:solidFill>
              <a:srgbClr val="2A1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691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KGI ： 年商 ¥1.08億 / 営業利益 ¥2,600万 / NPS 70+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194560"/>
            <a:ext cx="0" cy="228600"/>
          </a:xfrm>
          <a:prstGeom prst="line">
            <a:avLst/>
          </a:prstGeom>
          <a:noFill/>
          <a:ln w="25400">
            <a:solidFill>
              <a:srgbClr val="E874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2423160"/>
            <a:ext cx="6035040" cy="0"/>
          </a:xfrm>
          <a:prstGeom prst="line">
            <a:avLst/>
          </a:prstGeom>
          <a:noFill/>
          <a:ln w="25400">
            <a:solidFill>
              <a:srgbClr val="E8740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54480" y="2423160"/>
            <a:ext cx="0" cy="228600"/>
          </a:xfrm>
          <a:prstGeom prst="line">
            <a:avLst/>
          </a:prstGeom>
          <a:noFill/>
          <a:ln w="25400">
            <a:solidFill>
              <a:srgbClr val="E874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423160"/>
            <a:ext cx="0" cy="228600"/>
          </a:xfrm>
          <a:prstGeom prst="line">
            <a:avLst/>
          </a:prstGeom>
          <a:noFill/>
          <a:ln w="25400">
            <a:solidFill>
              <a:srgbClr val="E8740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2423160"/>
            <a:ext cx="0" cy="228600"/>
          </a:xfrm>
          <a:prstGeom prst="line">
            <a:avLst/>
          </a:prstGeom>
          <a:noFill/>
          <a:ln w="25400">
            <a:solidFill>
              <a:srgbClr val="E874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51760"/>
            <a:ext cx="2194560" cy="384048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51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売上拡大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2194560" cy="310896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004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提携工務店数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2194560" cy="310896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661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月間見学会予約数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2194560" cy="310896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31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成約転換率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2194560" cy="310896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297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平均契約額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0" y="2651760"/>
            <a:ext cx="2194560" cy="384048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651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顧客満足最大化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0" y="3200400"/>
            <a:ext cx="2194560" cy="310896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32004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NPS スコア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0" y="3566160"/>
            <a:ext cx="2194560" cy="310896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35661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ユーザー会員数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0" y="3931920"/>
            <a:ext cx="2194560" cy="310896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3931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リピート率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0" y="4297680"/>
            <a:ext cx="2194560" cy="310896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0" y="4297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クレーム件数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92240" y="2651760"/>
            <a:ext cx="2194560" cy="384048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2651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コスト最適化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92240" y="3200400"/>
            <a:ext cx="2194560" cy="310896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32004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CAC / LTV 比率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92240" y="3566160"/>
            <a:ext cx="2194560" cy="310896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35661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制作原価率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92240" y="3931920"/>
            <a:ext cx="2194560" cy="310896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3931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人件費率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92240" y="4297680"/>
            <a:ext cx="2194560" cy="310896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42976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オペレーションコスト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各KPIは月次でモニタリングし、四半期でレビュー・軌道修正。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Revenue Plan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売上計画（3年シミュレーション）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フェーズ別の月商推移と年次サマリー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715768" cy="137160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2715768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8308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Year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011680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2026/5 - 2027/4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28600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¥18M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4360" y="2816352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月商平均 ¥1.5M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前年比 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64408" y="1691640"/>
            <a:ext cx="2715768" cy="137160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1691640"/>
            <a:ext cx="2715768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178308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Year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01568" y="2011680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2027/5 - 2028/4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01568" y="228600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¥54M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401568" y="2816352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月商平均 ¥4.5M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前年比 +200%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71616" y="1691640"/>
            <a:ext cx="2715768" cy="137160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71616" y="1691640"/>
            <a:ext cx="2715768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178308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Year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08776" y="2011680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2028/5 - 2029/4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08776" y="228600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¥108M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208776" y="2816352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月商平均 ¥9.0M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前年比 +100%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月商の推移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1097280"/>
        </p:xfrm>
        <a:graphic>
          <a:graphicData uri="http://schemas.openxmlformats.org/drawingml/2006/table">
            <a:tbl>
              <a:tblPr/>
              <a:tblGrid>
                <a:gridCol w="13716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フェーズ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M3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M6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M9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M12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M18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M24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17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月商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¥0.75M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¥1.2M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¥2.5M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740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¥3.5M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740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¥5.5M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740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¥10M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A17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提携社数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12社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12-15社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15-20社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20-25社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25-30社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40-50社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Revenue Mix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収益ミックスの推移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工務店依存から、多角化モデルへの転換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743200" cy="457200"/>
          </a:xfrm>
          <a:prstGeom prst="rect">
            <a:avLst/>
          </a:prstGeom>
          <a:solidFill>
            <a:srgbClr val="2A1700"/>
          </a:solidFill>
          <a:ln w="12700">
            <a:solidFill>
              <a:srgbClr val="2A1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190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Year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工務店集中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2286000"/>
            <a:ext cx="548640" cy="1632204"/>
          </a:xfrm>
          <a:prstGeom prst="rect">
            <a:avLst/>
          </a:prstGeom>
          <a:solidFill>
            <a:srgbClr val="E8740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918204"/>
            <a:ext cx="548640" cy="288036"/>
          </a:xfrm>
          <a:prstGeom prst="rect">
            <a:avLst/>
          </a:prstGeom>
          <a:solidFill>
            <a:srgbClr val="FFE8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2286000"/>
            <a:ext cx="137160" cy="137160"/>
          </a:xfrm>
          <a:prstGeom prst="rect">
            <a:avLst/>
          </a:prstGeom>
          <a:solidFill>
            <a:srgbClr val="E8740C"/>
          </a:solidFill>
          <a:ln w="6350">
            <a:solidFill>
              <a:srgbClr val="EBDF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2494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見学会予約 85%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371600" y="2505456"/>
            <a:ext cx="137160" cy="137160"/>
          </a:xfrm>
          <a:prstGeom prst="rect">
            <a:avLst/>
          </a:prstGeom>
          <a:solidFill>
            <a:srgbClr val="FFE8D1"/>
          </a:solidFill>
          <a:ln w="6350">
            <a:solidFill>
              <a:srgbClr val="EBDF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24688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オプション制作 15%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46120" y="1691640"/>
            <a:ext cx="2743200" cy="457200"/>
          </a:xfrm>
          <a:prstGeom prst="rect">
            <a:avLst/>
          </a:prstGeom>
          <a:solidFill>
            <a:srgbClr val="2A1700"/>
          </a:solidFill>
          <a:ln w="12700">
            <a:solidFill>
              <a:srgbClr val="2A1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7190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Year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19202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サブスク導入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20440" y="2286000"/>
            <a:ext cx="548640" cy="768096"/>
          </a:xfrm>
          <a:prstGeom prst="rect">
            <a:avLst/>
          </a:prstGeom>
          <a:solidFill>
            <a:srgbClr val="E8740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0440" y="3054096"/>
            <a:ext cx="548640" cy="480060"/>
          </a:xfrm>
          <a:prstGeom prst="rect">
            <a:avLst/>
          </a:prstGeom>
          <a:solidFill>
            <a:srgbClr val="C25D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0440" y="3534156"/>
            <a:ext cx="548640" cy="384048"/>
          </a:xfrm>
          <a:prstGeom prst="rect">
            <a:avLst/>
          </a:prstGeom>
          <a:solidFill>
            <a:srgbClr val="FFE8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0440" y="3918204"/>
            <a:ext cx="548640" cy="192024"/>
          </a:xfrm>
          <a:prstGeom prst="rect">
            <a:avLst/>
          </a:prstGeom>
          <a:solidFill>
            <a:srgbClr val="FFF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0440" y="4110228"/>
            <a:ext cx="548640" cy="96012"/>
          </a:xfrm>
          <a:prstGeom prst="rect">
            <a:avLst/>
          </a:prstGeom>
          <a:solidFill>
            <a:srgbClr val="EBDF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60520" y="2286000"/>
            <a:ext cx="137160" cy="137160"/>
          </a:xfrm>
          <a:prstGeom prst="rect">
            <a:avLst/>
          </a:prstGeom>
          <a:solidFill>
            <a:srgbClr val="E8740C"/>
          </a:solidFill>
          <a:ln w="6350">
            <a:solidFill>
              <a:srgbClr val="EB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22494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見学会予約 40%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60520" y="2505456"/>
            <a:ext cx="137160" cy="137160"/>
          </a:xfrm>
          <a:prstGeom prst="rect">
            <a:avLst/>
          </a:prstGeom>
          <a:solidFill>
            <a:srgbClr val="C25D00"/>
          </a:solidFill>
          <a:ln w="6350">
            <a:solidFill>
              <a:srgbClr val="EBDF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24688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成約報酬3% 25%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60520" y="2724912"/>
            <a:ext cx="137160" cy="137160"/>
          </a:xfrm>
          <a:prstGeom prst="rect">
            <a:avLst/>
          </a:prstGeom>
          <a:solidFill>
            <a:srgbClr val="FFE8D1"/>
          </a:solidFill>
          <a:ln w="6350">
            <a:solidFill>
              <a:srgbClr val="EBDF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26883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月額サブスク 20%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60520" y="2944368"/>
            <a:ext cx="137160" cy="137160"/>
          </a:xfrm>
          <a:prstGeom prst="rect">
            <a:avLst/>
          </a:prstGeom>
          <a:solidFill>
            <a:srgbClr val="FFF8F0"/>
          </a:solidFill>
          <a:ln w="6350">
            <a:solidFill>
              <a:srgbClr val="EBDF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29077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オプション制作 10%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60520" y="3163824"/>
            <a:ext cx="137160" cy="137160"/>
          </a:xfrm>
          <a:prstGeom prst="rect">
            <a:avLst/>
          </a:prstGeom>
          <a:solidFill>
            <a:srgbClr val="EBDFD0"/>
          </a:solidFill>
          <a:ln w="6350">
            <a:solidFill>
              <a:srgbClr val="EBDF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3400" y="31272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隣接収益 5%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035040" y="1691640"/>
            <a:ext cx="2743200" cy="457200"/>
          </a:xfrm>
          <a:prstGeom prst="rect">
            <a:avLst/>
          </a:prstGeom>
          <a:solidFill>
            <a:srgbClr val="2A1700"/>
          </a:solidFill>
          <a:ln w="12700">
            <a:solidFill>
              <a:srgbClr val="2A17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17190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Year 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72200" y="19202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多角化完成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09360" y="2286000"/>
            <a:ext cx="548640" cy="384048"/>
          </a:xfrm>
          <a:prstGeom prst="rect">
            <a:avLst/>
          </a:prstGeom>
          <a:solidFill>
            <a:srgbClr val="E8740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2670048"/>
            <a:ext cx="548640" cy="576072"/>
          </a:xfrm>
          <a:prstGeom prst="rect">
            <a:avLst/>
          </a:prstGeom>
          <a:solidFill>
            <a:srgbClr val="C25D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3246120"/>
            <a:ext cx="548640" cy="288036"/>
          </a:xfrm>
          <a:prstGeom prst="rect">
            <a:avLst/>
          </a:prstGeom>
          <a:solidFill>
            <a:srgbClr val="FFE8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3534156"/>
            <a:ext cx="548640" cy="192024"/>
          </a:xfrm>
          <a:prstGeom prst="rect">
            <a:avLst/>
          </a:prstGeom>
          <a:solidFill>
            <a:srgbClr val="FFF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3726180"/>
            <a:ext cx="548640" cy="96012"/>
          </a:xfrm>
          <a:prstGeom prst="rect">
            <a:avLst/>
          </a:prstGeom>
          <a:solidFill>
            <a:srgbClr val="E3F2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9360" y="3822192"/>
            <a:ext cx="548640" cy="192024"/>
          </a:xfrm>
          <a:prstGeom prst="rect">
            <a:avLst/>
          </a:prstGeom>
          <a:solidFill>
            <a:srgbClr val="E8F5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4014216"/>
            <a:ext cx="548640" cy="192024"/>
          </a:xfrm>
          <a:prstGeom prst="rect">
            <a:avLst/>
          </a:prstGeom>
          <a:solidFill>
            <a:srgbClr val="EBDFD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49440" y="2286000"/>
            <a:ext cx="137160" cy="137160"/>
          </a:xfrm>
          <a:prstGeom prst="rect">
            <a:avLst/>
          </a:prstGeom>
          <a:solidFill>
            <a:srgbClr val="E8740C"/>
          </a:solidFill>
          <a:ln w="6350">
            <a:solidFill>
              <a:srgbClr val="EBDF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0" y="22494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見学会予約 20%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949440" y="2505456"/>
            <a:ext cx="137160" cy="137160"/>
          </a:xfrm>
          <a:prstGeom prst="rect">
            <a:avLst/>
          </a:prstGeom>
          <a:solidFill>
            <a:srgbClr val="C25D00"/>
          </a:solidFill>
          <a:ln w="6350">
            <a:solidFill>
              <a:srgbClr val="EBDF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0" y="24688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成約報酬3% 30%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949440" y="2724912"/>
            <a:ext cx="137160" cy="137160"/>
          </a:xfrm>
          <a:prstGeom prst="rect">
            <a:avLst/>
          </a:prstGeom>
          <a:solidFill>
            <a:srgbClr val="FFE8D1"/>
          </a:solidFill>
          <a:ln w="6350">
            <a:solidFill>
              <a:srgbClr val="EBDF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0" y="26883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月額サブスク 15%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949440" y="2944368"/>
            <a:ext cx="137160" cy="137160"/>
          </a:xfrm>
          <a:prstGeom prst="rect">
            <a:avLst/>
          </a:prstGeom>
          <a:solidFill>
            <a:srgbClr val="FFF8F0"/>
          </a:solidFill>
          <a:ln w="6350">
            <a:solidFill>
              <a:srgbClr val="EBDF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32320" y="29077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オプション制作 10%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949440" y="3163824"/>
            <a:ext cx="137160" cy="137160"/>
          </a:xfrm>
          <a:prstGeom prst="rect">
            <a:avLst/>
          </a:prstGeom>
          <a:solidFill>
            <a:srgbClr val="E3F2FD"/>
          </a:solidFill>
          <a:ln w="6350">
            <a:solidFill>
              <a:srgbClr val="EBDF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0" y="31272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B2C会員 5%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949440" y="3383280"/>
            <a:ext cx="137160" cy="137160"/>
          </a:xfrm>
          <a:prstGeom prst="rect">
            <a:avLst/>
          </a:prstGeom>
          <a:solidFill>
            <a:srgbClr val="E8F5E9"/>
          </a:solidFill>
          <a:ln w="6350">
            <a:solidFill>
              <a:srgbClr val="EBDFD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0" y="33467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住宅ローン紹介 10%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949440" y="3602736"/>
            <a:ext cx="137160" cy="137160"/>
          </a:xfrm>
          <a:prstGeom prst="rect">
            <a:avLst/>
          </a:prstGeom>
          <a:solidFill>
            <a:srgbClr val="EBDFD0"/>
          </a:solidFill>
          <a:ln w="6350">
            <a:solidFill>
              <a:srgbClr val="EBDF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32320" y="35661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建材広告 10%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Year 3時点で工務店依存度は 65% に低下し、多角化が進む。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Gross Profit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原価・粗利計算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3事業レイヤーそれぞれの原価構造と粗利率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283464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822960"/>
                <a:gridCol w="128016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収益源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主な原価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粗利率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Year 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Year 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Year 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見学会予約 + 成約報酬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マッチング運用費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740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85%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¥12.3M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¥27.6M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¥44.2M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月額サブスクリプション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システム運用費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740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80%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5A4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¥0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¥8.6M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¥13.0M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オプション制作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撮影・編集外注費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740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45%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¥1.2M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¥2.4M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¥4.9M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B2C会員・広告・紹介料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決済手数料等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740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90%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5A4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¥0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¥2.4M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¥24.3M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粗利合計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─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平均 70%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¥13.5M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¥41.0M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¥86.4M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0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月額サブスクとB2C会員は Year 2 以降に収益化。オプション制作のみ人件費依存で粗利率が低い。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SG&amp;A Plan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販管費計画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組織拡大と広告投資を織り込んだ3年間の販管費見通し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310896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188720"/>
                <a:gridCol w="1188720"/>
                <a:gridCol w="28346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Year 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Year 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Year 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17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人件費（社員）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¥12.0M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¥21.6M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¥36.0M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5A4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4名 → 6名 → 10名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17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外注費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¥1.8M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¥3.6M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¥6.0M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5A4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撮影クルー / 法務 / 税務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17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インフラ・システム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¥0.9M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¥1.8M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¥3.0M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5A4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Supabase / CDN / AI / SaaS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17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マーケティング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¥1.2M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¥3.6M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¥6.0M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5A4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動画制作・SNS広告・展示会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17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オフィス・水道光熱費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¥0.6M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¥1.2M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¥2.4M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5A4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拠点拡張含む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17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その他（旅費・保険等）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¥0.6M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¥1.2M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¥2.4M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5A4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工務店訪問・備品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販管費合計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¥17.1M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¥33.0M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¥55.8M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売上比率: 95 → 61 → 52%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0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P&amp;L Forecast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営業利益・P&amp;L 3年計画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Year 1 は投資期（赤字）、Year 2 で黒字化、Year 3 で利益率 24%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292608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Year 1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Year 2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Year 3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70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7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¥18.0M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D22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¥54.0M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740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¥108.0M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7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売上原価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B5A4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 ¥4.5M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B5A4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 ¥13.0M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B5A4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 ¥21.6M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7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粗利（粗利率）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D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740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¥13.5M (75%)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D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740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¥41.0M (76%)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D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740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¥86.4M (80%)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D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7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販管費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B5A4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 ¥17.1M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B5A4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 ¥33.0M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B5A4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 ¥55.8M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営業利益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 ¥3.6M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¥8.0M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¥30.6M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0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7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営業利益率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-20%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+15%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+28%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solidFill>
            <a:srgbClr val="2A1700"/>
          </a:solidFill>
          <a:ln w="12700">
            <a:solidFill>
              <a:srgbClr val="2A17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Year 1 累計赤字 ¥3.6M は、先行投資として必要な額。Year 2 で単年黒字化、Year 3 で累積黒字化を達成。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組織計画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各フェーズで必要な人材構成と、採用優先順位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DF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91640"/>
            <a:ext cx="2743200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37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Year 1 (4名)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947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 ¥1.0M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代表（戦略・営業・渉外）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コンテンツ制作（撮影・編集）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エンジニア（プロダクト開発）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カスタマーサクセス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69164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DF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691640"/>
            <a:ext cx="2743200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737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Year 2 (6名)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1947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 ¥1.8M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2377440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前年メンバー 継承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営業責任者（新規開拓専任）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ディレクター（動画企画・取材）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データ分析（KPI モニタ）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69164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DF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691640"/>
            <a:ext cx="2743200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737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Year 3 (10名)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1947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 ¥3.0M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2377440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前年メンバー 継承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全国展開責任者（関東）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マーケティング責任者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法務・経理バックオフィス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プロダクトマネージャー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Risks &amp; Mitigations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主要リスクと対策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事業を揺るがし得るリスクと、その軽減策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64008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YouTube アルゴリズム変更による流入減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171907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Googleオーガニック検索・SNS・メルマガへの流入分散を M6 までに着手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8229600" cy="45720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03704"/>
            <a:ext cx="64008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037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23113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工務店の成約申告漏れによる収益逸失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223113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契約書に成約報告義務条項を明記 / ユーザー側からの成約確認ルートで双方検証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15768"/>
            <a:ext cx="8229600" cy="45720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715768"/>
            <a:ext cx="640080" cy="45720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157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27432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競合ポータルの値下げ攻勢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274320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広告枠販売型と差別化 / コンテンツ資産 + Smart Match のロックインを強化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227832"/>
            <a:ext cx="8229600" cy="45720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227832"/>
            <a:ext cx="640080" cy="45720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278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325526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コンテンツ制作コストの高騰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80560" y="325526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動画1本あたりの標準原価を定義 / 月間制作本数の上限設定 / 外部クリエイター網の整備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739896"/>
            <a:ext cx="8229600" cy="45720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39896"/>
            <a:ext cx="640080" cy="45720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7398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376732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多店舗化時の品質ばらつき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80560" y="376732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エリア展開前に標準オペレーション（SOP）を確立 / CS スコアを KPI 化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251960"/>
            <a:ext cx="640080" cy="457200"/>
          </a:xfrm>
          <a:prstGeom prst="rect">
            <a:avLst/>
          </a:prstGeom>
          <a:solidFill>
            <a:srgbClr val="6B5A47"/>
          </a:solidFill>
          <a:ln w="12700">
            <a:solidFill>
              <a:srgbClr val="6B5A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251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低-中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88720" y="427939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主要人材の離脱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80560" y="427939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Equity プールの準備 / ナレッジ文書化 / 業務の属人化を避ける体制設計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 / 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Success Criteria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09728" cy="502920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17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成功の定義と直近のアクション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何をもって成功とするか、今日から何をするか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成功の定義（チェックポイント）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4114800" cy="0"/>
          </a:xfrm>
          <a:prstGeom prst="line">
            <a:avLst/>
          </a:prstGeom>
          <a:noFill/>
          <a:ln w="12700">
            <a:solidFill>
              <a:srgbClr val="E874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4114800" cy="338328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03120"/>
            <a:ext cx="640080" cy="338328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03120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88720" y="2103120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成功事例 3件以上の蓄積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87168"/>
            <a:ext cx="4114800" cy="338328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87168"/>
            <a:ext cx="640080" cy="338328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87168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487168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ハイブリッド契約 2社以上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71216"/>
            <a:ext cx="4114800" cy="338328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71216"/>
            <a:ext cx="640080" cy="338328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71216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M12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2871216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月商 ¥3.5M 達成 / 黒字化基盤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55264"/>
            <a:ext cx="4114800" cy="338328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55264"/>
            <a:ext cx="640080" cy="338328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55264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M18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88720" y="3255264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B2C会員 200名 / 金融提携開始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639312"/>
            <a:ext cx="4114800" cy="338328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639312"/>
            <a:ext cx="640080" cy="338328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39312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M24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88720" y="3639312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月商 ¥10M / 関東エリア進出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023360"/>
            <a:ext cx="4114800" cy="338328"/>
          </a:xfrm>
          <a:prstGeom prst="rect">
            <a:avLst/>
          </a:prstGeom>
          <a:solidFill>
            <a:srgbClr val="FFF8F0"/>
          </a:solidFill>
          <a:ln w="12700">
            <a:solidFill>
              <a:srgbClr val="EBDF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023360"/>
            <a:ext cx="640080" cy="338328"/>
          </a:xfrm>
          <a:prstGeom prst="rect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023360"/>
            <a:ext cx="640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88720" y="4023360"/>
            <a:ext cx="3291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年商 1億円 / NPS 70+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直近90日のアクション（M0-M3）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1993392"/>
            <a:ext cx="3931920" cy="0"/>
          </a:xfrm>
          <a:prstGeom prst="line">
            <a:avLst/>
          </a:prstGeom>
          <a:noFill/>
          <a:ln w="12700">
            <a:solidFill>
              <a:srgbClr val="E8740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2103120"/>
            <a:ext cx="3931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28032" y="2157984"/>
            <a:ext cx="228600" cy="228600"/>
          </a:xfrm>
          <a:prstGeom prst="ellipse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20640" y="2103120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先行10社との契約書面化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487168"/>
            <a:ext cx="3931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28032" y="2542032"/>
            <a:ext cx="228600" cy="228600"/>
          </a:xfrm>
          <a:prstGeom prst="ellipse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25420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20640" y="2487168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成約トラッキング機能を管理画面に実装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2871216"/>
            <a:ext cx="3931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28032" y="2926080"/>
            <a:ext cx="228600" cy="228600"/>
          </a:xfrm>
          <a:prstGeom prst="ellipse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2926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20640" y="2871216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KPIダッシュボードの立ち上げ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3255264"/>
            <a:ext cx="3931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28032" y="3310128"/>
            <a:ext cx="228600" cy="228600"/>
          </a:xfrm>
          <a:prstGeom prst="ellipse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33101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20640" y="3255264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Smart Match 効果測定レポート初版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3639312"/>
            <a:ext cx="3931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28032" y="3694176"/>
            <a:ext cx="228600" cy="228600"/>
          </a:xfrm>
          <a:prstGeom prst="ellipse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28032" y="36941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120640" y="3639312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最初の成功事例取材・記事化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54880" y="4023360"/>
            <a:ext cx="3931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28032" y="4078224"/>
            <a:ext cx="228600" cy="228600"/>
          </a:xfrm>
          <a:prstGeom prst="ellipse">
            <a:avLst/>
          </a:prstGeom>
          <a:solidFill>
            <a:srgbClr val="E8740C"/>
          </a:solidFill>
          <a:ln w="12700">
            <a:solidFill>
              <a:srgbClr val="E8740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28032" y="40782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120640" y="4023360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5月正式リリース準備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2A1700"/>
          </a:solidFill>
          <a:ln w="12700">
            <a:solidFill>
              <a:srgbClr val="2A17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「家づくりのミスマッチを、ゼロにする」 ─ この理念のために、今日から一歩ずつ進めていきます。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BDFD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ぺいほーむ 事業計画書 v1.0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206240" y="48508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i="1" dirty="0">
                <a:solidFill>
                  <a:srgbClr val="E874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ぺいほーむ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ぺいほーむ 事業計画書（社内向け）</dc:title>
  <dc:subject>Business Plan</dc:subject>
  <dc:creator>ぺいほーむ</dc:creator>
  <cp:lastModifiedBy>ぺいほーむ</cp:lastModifiedBy>
  <cp:revision>1</cp:revision>
  <dcterms:created xsi:type="dcterms:W3CDTF">2026-04-11T14:01:52Z</dcterms:created>
  <dcterms:modified xsi:type="dcterms:W3CDTF">2026-04-11T14:01:52Z</dcterms:modified>
</cp:coreProperties>
</file>