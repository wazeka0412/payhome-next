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A1700"/>
        </a:solidFill>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E8740C"/>
          </a:solidFill>
          <a:ln w="12700">
            <a:solidFill>
              <a:srgbClr val="E8740C"/>
            </a:solidFill>
            <a:prstDash val="solid"/>
          </a:ln>
        </p:spPr>
      </p:sp>
      <p:sp>
        <p:nvSpPr>
          <p:cNvPr id="3" name="Shape 1"/>
          <p:cNvSpPr/>
          <p:nvPr/>
        </p:nvSpPr>
        <p:spPr>
          <a:xfrm>
            <a:off x="6858000" y="2857500"/>
            <a:ext cx="2743200" cy="2743200"/>
          </a:xfrm>
          <a:prstGeom prst="ellipse">
            <a:avLst/>
          </a:prstGeom>
          <a:solidFill>
            <a:srgbClr val="E8740C">
              <a:alpha val="15000"/>
            </a:srgbClr>
          </a:solidFill>
          <a:ln w="12700">
            <a:solidFill>
              <a:srgbClr val="E8740C"/>
            </a:solidFill>
            <a:prstDash val="solid"/>
          </a:ln>
        </p:spPr>
      </p:sp>
      <p:sp>
        <p:nvSpPr>
          <p:cNvPr id="4" name="Shape 2"/>
          <p:cNvSpPr/>
          <p:nvPr/>
        </p:nvSpPr>
        <p:spPr>
          <a:xfrm>
            <a:off x="7498080" y="3497580"/>
            <a:ext cx="1645920" cy="1645920"/>
          </a:xfrm>
          <a:prstGeom prst="ellipse">
            <a:avLst/>
          </a:prstGeom>
          <a:solidFill>
            <a:srgbClr val="E8740C">
              <a:alpha val="30000"/>
            </a:srgbClr>
          </a:solidFill>
          <a:ln w="12700">
            <a:solidFill>
              <a:srgbClr val="E8740C"/>
            </a:solidFill>
            <a:prstDash val="solid"/>
          </a:ln>
        </p:spPr>
      </p:sp>
      <p:sp>
        <p:nvSpPr>
          <p:cNvPr id="5" name="Text 3"/>
          <p:cNvSpPr/>
          <p:nvPr/>
        </p:nvSpPr>
        <p:spPr>
          <a:xfrm>
            <a:off x="822960" y="1005840"/>
            <a:ext cx="7315200" cy="320040"/>
          </a:xfrm>
          <a:prstGeom prst="rect">
            <a:avLst/>
          </a:prstGeom>
          <a:noFill/>
          <a:ln/>
        </p:spPr>
        <p:txBody>
          <a:bodyPr wrap="square" lIns="0" tIns="0" rIns="0" bIns="0" rtlCol="0" anchor="ctr"/>
          <a:lstStyle/>
          <a:p>
            <a:pPr algn="l" indent="0" marL="0">
              <a:buNone/>
            </a:pPr>
            <a:r>
              <a:rPr lang="en-US" sz="1200" b="1" spc="400" kern="0" dirty="0">
                <a:solidFill>
                  <a:srgbClr val="E8740C"/>
                </a:solidFill>
                <a:latin typeface="Yu Gothic" pitchFamily="34" charset="0"/>
                <a:ea typeface="Yu Gothic" pitchFamily="34" charset="-122"/>
                <a:cs typeface="Yu Gothic" pitchFamily="34" charset="-120"/>
              </a:rPr>
              <a:t>FOR HOUSING BUILDERS</a:t>
            </a:r>
            <a:endParaRPr lang="en-US" sz="1200" dirty="0"/>
          </a:p>
        </p:txBody>
      </p:sp>
      <p:sp>
        <p:nvSpPr>
          <p:cNvPr id="6" name="Text 4"/>
          <p:cNvSpPr/>
          <p:nvPr/>
        </p:nvSpPr>
        <p:spPr>
          <a:xfrm>
            <a:off x="822960" y="1371600"/>
            <a:ext cx="7772400" cy="914400"/>
          </a:xfrm>
          <a:prstGeom prst="rect">
            <a:avLst/>
          </a:prstGeom>
          <a:noFill/>
          <a:ln/>
        </p:spPr>
        <p:txBody>
          <a:bodyPr wrap="square" lIns="0" tIns="0" rIns="0" bIns="0" rtlCol="0" anchor="ctr"/>
          <a:lstStyle/>
          <a:p>
            <a:pPr algn="l" indent="0" marL="0">
              <a:buNone/>
            </a:pPr>
            <a:r>
              <a:rPr lang="en-US" sz="4400" b="1" dirty="0">
                <a:solidFill>
                  <a:srgbClr val="FFFFFF"/>
                </a:solidFill>
                <a:latin typeface="Yu Gothic" pitchFamily="34" charset="0"/>
                <a:ea typeface="Yu Gothic" pitchFamily="34" charset="-122"/>
                <a:cs typeface="Yu Gothic" pitchFamily="34" charset="-120"/>
              </a:rPr>
              <a:t>ぺいほーむ ポータルサイト</a:t>
            </a:r>
            <a:endParaRPr lang="en-US" sz="4400" dirty="0"/>
          </a:p>
        </p:txBody>
      </p:sp>
      <p:sp>
        <p:nvSpPr>
          <p:cNvPr id="7" name="Text 5"/>
          <p:cNvSpPr/>
          <p:nvPr/>
        </p:nvSpPr>
        <p:spPr>
          <a:xfrm>
            <a:off x="822960" y="2377440"/>
            <a:ext cx="7772400" cy="457200"/>
          </a:xfrm>
          <a:prstGeom prst="rect">
            <a:avLst/>
          </a:prstGeom>
          <a:noFill/>
          <a:ln/>
        </p:spPr>
        <p:txBody>
          <a:bodyPr wrap="square" lIns="0" tIns="0" rIns="0" bIns="0" rtlCol="0" anchor="ctr"/>
          <a:lstStyle/>
          <a:p>
            <a:pPr algn="l" indent="0" marL="0">
              <a:buNone/>
            </a:pPr>
            <a:r>
              <a:rPr lang="en-US" sz="2000" dirty="0">
                <a:solidFill>
                  <a:srgbClr val="E8740C"/>
                </a:solidFill>
                <a:latin typeface="Yu Gothic" pitchFamily="34" charset="0"/>
                <a:ea typeface="Yu Gothic" pitchFamily="34" charset="-122"/>
                <a:cs typeface="Yu Gothic" pitchFamily="34" charset="-120"/>
              </a:rPr>
              <a:t>お客様と工務店様を、誠実につなぐメディア</a:t>
            </a:r>
            <a:endParaRPr lang="en-US" sz="2000" dirty="0"/>
          </a:p>
        </p:txBody>
      </p:sp>
      <p:sp>
        <p:nvSpPr>
          <p:cNvPr id="8" name="Text 6"/>
          <p:cNvSpPr/>
          <p:nvPr/>
        </p:nvSpPr>
        <p:spPr>
          <a:xfrm>
            <a:off x="822960" y="3017520"/>
            <a:ext cx="7772400" cy="731520"/>
          </a:xfrm>
          <a:prstGeom prst="rect">
            <a:avLst/>
          </a:prstGeom>
          <a:noFill/>
          <a:ln/>
        </p:spPr>
        <p:txBody>
          <a:bodyPr wrap="square" lIns="0" tIns="0" rIns="0" bIns="0" rtlCol="0" anchor="ctr"/>
          <a:lstStyle/>
          <a:p>
            <a:pPr algn="l" indent="0" marL="0">
              <a:buNone/>
            </a:pPr>
            <a:r>
              <a:rPr lang="en-US" sz="1400" dirty="0">
                <a:solidFill>
                  <a:srgbClr val="FFFFFF">
                    <a:alpha val="80000"/>
                  </a:srgbClr>
                </a:solidFill>
                <a:latin typeface="Yu Gothic" pitchFamily="34" charset="0"/>
                <a:ea typeface="Yu Gothic" pitchFamily="34" charset="-122"/>
                <a:cs typeface="Yu Gothic" pitchFamily="34" charset="-120"/>
              </a:rPr>
              <a:t>九州の家づくりをもっと豊かにする、</a:t>
            </a:r>
            <a:endParaRPr lang="en-US" sz="1400" dirty="0"/>
          </a:p>
          <a:p>
            <a:pPr algn="l" indent="0" marL="0">
              <a:buNone/>
            </a:pPr>
            <a:r>
              <a:rPr lang="en-US" sz="1400" dirty="0">
                <a:solidFill>
                  <a:srgbClr val="FFFFFF">
                    <a:alpha val="80000"/>
                  </a:srgbClr>
                </a:solidFill>
                <a:latin typeface="Yu Gothic" pitchFamily="34" charset="0"/>
                <a:ea typeface="Yu Gothic" pitchFamily="34" charset="-122"/>
                <a:cs typeface="Yu Gothic" pitchFamily="34" charset="-120"/>
              </a:rPr>
              <a:t>新しい集客のかたち</a:t>
            </a:r>
            <a:endParaRPr lang="en-US" sz="1400" dirty="0"/>
          </a:p>
        </p:txBody>
      </p:sp>
      <p:sp>
        <p:nvSpPr>
          <p:cNvPr id="9" name="Shape 7"/>
          <p:cNvSpPr/>
          <p:nvPr/>
        </p:nvSpPr>
        <p:spPr>
          <a:xfrm>
            <a:off x="822960" y="4320540"/>
            <a:ext cx="2286000" cy="0"/>
          </a:xfrm>
          <a:prstGeom prst="line">
            <a:avLst/>
          </a:prstGeom>
          <a:noFill/>
          <a:ln w="25400">
            <a:solidFill>
              <a:srgbClr val="E8740C"/>
            </a:solidFill>
            <a:prstDash val="solid"/>
          </a:ln>
        </p:spPr>
      </p:sp>
      <p:sp>
        <p:nvSpPr>
          <p:cNvPr id="10" name="Text 8"/>
          <p:cNvSpPr/>
          <p:nvPr/>
        </p:nvSpPr>
        <p:spPr>
          <a:xfrm>
            <a:off x="822960" y="4457700"/>
            <a:ext cx="7315200" cy="320040"/>
          </a:xfrm>
          <a:prstGeom prst="rect">
            <a:avLst/>
          </a:prstGeom>
          <a:noFill/>
          <a:ln/>
        </p:spPr>
        <p:txBody>
          <a:bodyPr wrap="square" lIns="0" tIns="0" rIns="0" bIns="0" rtlCol="0" anchor="ctr"/>
          <a:lstStyle/>
          <a:p>
            <a:pPr algn="l" indent="0" marL="0">
              <a:buNone/>
            </a:pPr>
            <a:r>
              <a:rPr lang="en-US" sz="1200" dirty="0">
                <a:solidFill>
                  <a:srgbClr val="FFFFFF"/>
                </a:solidFill>
                <a:latin typeface="Yu Gothic" pitchFamily="34" charset="0"/>
                <a:ea typeface="Yu Gothic" pitchFamily="34" charset="-122"/>
                <a:cs typeface="Yu Gothic" pitchFamily="34" charset="-120"/>
              </a:rPr>
              <a:t>工務店様向けご提案資料</a:t>
            </a:r>
            <a:endParaRPr lang="en-US" sz="1200" dirty="0"/>
          </a:p>
        </p:txBody>
      </p:sp>
      <p:sp>
        <p:nvSpPr>
          <p:cNvPr id="11" name="Text 9"/>
          <p:cNvSpPr/>
          <p:nvPr/>
        </p:nvSpPr>
        <p:spPr>
          <a:xfrm>
            <a:off x="6858000" y="4457700"/>
            <a:ext cx="1828800" cy="320040"/>
          </a:xfrm>
          <a:prstGeom prst="rect">
            <a:avLst/>
          </a:prstGeom>
          <a:noFill/>
          <a:ln/>
        </p:spPr>
        <p:txBody>
          <a:bodyPr wrap="square" lIns="0" tIns="0" rIns="0" bIns="0" rtlCol="0" anchor="ctr"/>
          <a:lstStyle/>
          <a:p>
            <a:pPr algn="r" indent="0" marL="0">
              <a:buNone/>
            </a:pPr>
            <a:r>
              <a:rPr lang="en-US" sz="1100" b="1" dirty="0">
                <a:solidFill>
                  <a:srgbClr val="E8740C"/>
                </a:solidFill>
                <a:latin typeface="Yu Gothic" pitchFamily="34" charset="0"/>
                <a:ea typeface="Yu Gothic" pitchFamily="34" charset="-122"/>
                <a:cs typeface="Yu Gothic" pitchFamily="34" charset="-120"/>
              </a:rPr>
              <a:t>2026年 春</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8740C"/>
          </a:solidFill>
          <a:ln w="12700">
            <a:solidFill>
              <a:srgbClr val="E8740C"/>
            </a:solidFill>
            <a:prstDash val="solid"/>
          </a:ln>
        </p:spPr>
      </p:sp>
      <p:sp>
        <p:nvSpPr>
          <p:cNvPr id="3" name="Text 1"/>
          <p:cNvSpPr/>
          <p:nvPr/>
        </p:nvSpPr>
        <p:spPr>
          <a:xfrm>
            <a:off x="365760" y="182880"/>
            <a:ext cx="1097280" cy="274320"/>
          </a:xfrm>
          <a:prstGeom prst="rect">
            <a:avLst/>
          </a:prstGeom>
          <a:noFill/>
          <a:ln/>
        </p:spPr>
        <p:txBody>
          <a:bodyPr wrap="square" lIns="0" tIns="0" rIns="0" bIns="0" rtlCol="0" anchor="ctr"/>
          <a:lstStyle/>
          <a:p>
            <a:pPr algn="l" indent="0" marL="0">
              <a:buNone/>
            </a:pPr>
            <a:r>
              <a:rPr lang="en-US" sz="1000" b="1" dirty="0">
                <a:solidFill>
                  <a:srgbClr val="E8740C"/>
                </a:solidFill>
                <a:latin typeface="Yu Gothic" pitchFamily="34" charset="0"/>
                <a:ea typeface="Yu Gothic" pitchFamily="34" charset="-122"/>
                <a:cs typeface="Yu Gothic" pitchFamily="34" charset="-120"/>
              </a:rPr>
              <a:t>02 / 20</a:t>
            </a:r>
            <a:endParaRPr lang="en-US" sz="1000" dirty="0"/>
          </a:p>
        </p:txBody>
      </p:sp>
      <p:sp>
        <p:nvSpPr>
          <p:cNvPr id="4" name="Text 2"/>
          <p:cNvSpPr/>
          <p:nvPr/>
        </p:nvSpPr>
        <p:spPr>
          <a:xfrm>
            <a:off x="1554480" y="182880"/>
            <a:ext cx="7223760" cy="274320"/>
          </a:xfrm>
          <a:prstGeom prst="rect">
            <a:avLst/>
          </a:prstGeom>
          <a:noFill/>
          <a:ln/>
        </p:spPr>
        <p:txBody>
          <a:bodyPr wrap="square" lIns="0" tIns="0" rIns="0" bIns="0" rtlCol="0" anchor="ctr"/>
          <a:lstStyle/>
          <a:p>
            <a:pPr algn="r" indent="0" marL="0">
              <a:buNone/>
            </a:pPr>
            <a:r>
              <a:rPr lang="en-US" sz="1000" dirty="0">
                <a:solidFill>
                  <a:srgbClr val="6B5A47"/>
                </a:solidFill>
                <a:latin typeface="Yu Gothic" pitchFamily="34" charset="0"/>
                <a:ea typeface="Yu Gothic" pitchFamily="34" charset="-122"/>
                <a:cs typeface="Yu Gothic" pitchFamily="34" charset="-120"/>
              </a:rPr>
              <a:t>ごあいさつ</a:t>
            </a:r>
            <a:endParaRPr lang="en-US" sz="1000" dirty="0"/>
          </a:p>
        </p:txBody>
      </p:sp>
      <p:sp>
        <p:nvSpPr>
          <p:cNvPr id="5" name="Shape 3"/>
          <p:cNvSpPr/>
          <p:nvPr/>
        </p:nvSpPr>
        <p:spPr>
          <a:xfrm>
            <a:off x="457200" y="685800"/>
            <a:ext cx="109728" cy="502920"/>
          </a:xfrm>
          <a:prstGeom prst="rect">
            <a:avLst/>
          </a:prstGeom>
          <a:solidFill>
            <a:srgbClr val="E8740C"/>
          </a:solidFill>
          <a:ln w="12700">
            <a:solidFill>
              <a:srgbClr val="E8740C"/>
            </a:solidFill>
            <a:prstDash val="solid"/>
          </a:ln>
        </p:spPr>
      </p:sp>
      <p:sp>
        <p:nvSpPr>
          <p:cNvPr id="6" name="Text 4"/>
          <p:cNvSpPr/>
          <p:nvPr/>
        </p:nvSpPr>
        <p:spPr>
          <a:xfrm>
            <a:off x="685800" y="640080"/>
            <a:ext cx="8229600" cy="594360"/>
          </a:xfrm>
          <a:prstGeom prst="rect">
            <a:avLst/>
          </a:prstGeom>
          <a:noFill/>
          <a:ln/>
        </p:spPr>
        <p:txBody>
          <a:bodyPr wrap="square" lIns="0" tIns="0" rIns="0" bIns="0" rtlCol="0" anchor="ctr"/>
          <a:lstStyle/>
          <a:p>
            <a:pPr algn="l" indent="0" marL="0">
              <a:buNone/>
            </a:pPr>
            <a:r>
              <a:rPr lang="en-US" sz="2600" b="1" dirty="0">
                <a:solidFill>
                  <a:srgbClr val="2A1700"/>
                </a:solidFill>
                <a:latin typeface="Yu Gothic" pitchFamily="34" charset="0"/>
                <a:ea typeface="Yu Gothic" pitchFamily="34" charset="-122"/>
                <a:cs typeface="Yu Gothic" pitchFamily="34" charset="-120"/>
              </a:rPr>
              <a:t>はじめに</a:t>
            </a:r>
            <a:endParaRPr lang="en-US" sz="2600" dirty="0"/>
          </a:p>
        </p:txBody>
      </p:sp>
      <p:sp>
        <p:nvSpPr>
          <p:cNvPr id="7" name="Text 5"/>
          <p:cNvSpPr/>
          <p:nvPr/>
        </p:nvSpPr>
        <p:spPr>
          <a:xfrm>
            <a:off x="685800" y="1207008"/>
            <a:ext cx="8229600" cy="274320"/>
          </a:xfrm>
          <a:prstGeom prst="rect">
            <a:avLst/>
          </a:prstGeom>
          <a:noFill/>
          <a:ln/>
        </p:spPr>
        <p:txBody>
          <a:bodyPr wrap="square" lIns="0" tIns="0" rIns="0" bIns="0" rtlCol="0" anchor="ctr"/>
          <a:lstStyle/>
          <a:p>
            <a:pPr algn="l" indent="0" marL="0">
              <a:buNone/>
            </a:pPr>
            <a:r>
              <a:rPr lang="en-US" sz="1200" dirty="0">
                <a:solidFill>
                  <a:srgbClr val="6B5A47"/>
                </a:solidFill>
                <a:latin typeface="Yu Gothic" pitchFamily="34" charset="0"/>
                <a:ea typeface="Yu Gothic" pitchFamily="34" charset="-122"/>
                <a:cs typeface="Yu Gothic" pitchFamily="34" charset="-120"/>
              </a:rPr>
              <a:t>本日はお時間をいただき、誠にありがとうございます。</a:t>
            </a:r>
            <a:endParaRPr lang="en-US" sz="1200" dirty="0"/>
          </a:p>
        </p:txBody>
      </p:sp>
      <p:sp>
        <p:nvSpPr>
          <p:cNvPr id="8" name="Text 6"/>
          <p:cNvSpPr/>
          <p:nvPr/>
        </p:nvSpPr>
        <p:spPr>
          <a:xfrm>
            <a:off x="685800" y="1691640"/>
            <a:ext cx="5303520" cy="2926080"/>
          </a:xfrm>
          <a:prstGeom prst="rect">
            <a:avLst/>
          </a:prstGeom>
          <a:noFill/>
          <a:ln/>
        </p:spPr>
        <p:txBody>
          <a:bodyPr wrap="square" lIns="0" tIns="0" rIns="0" bIns="0" rtlCol="0" anchor="t"/>
          <a:lstStyle/>
          <a:p>
            <a:pPr algn="l" indent="0" marL="0">
              <a:spcAft>
                <a:spcPts val="400"/>
              </a:spcAft>
              <a:buNone/>
            </a:pPr>
            <a:r>
              <a:rPr lang="en-US" sz="1400" dirty="0">
                <a:solidFill>
                  <a:srgbClr val="3D2200"/>
                </a:solidFill>
                <a:latin typeface="Yu Gothic" pitchFamily="34" charset="0"/>
                <a:ea typeface="Yu Gothic" pitchFamily="34" charset="-122"/>
                <a:cs typeface="Yu Gothic" pitchFamily="34" charset="-120"/>
              </a:rPr>
              <a:t>ぺいほーむは、</a:t>
            </a:r>
            <a:pPr algn="l" indent="0" marL="0">
              <a:spcAft>
                <a:spcPts val="400"/>
              </a:spcAft>
              <a:buNone/>
            </a:pPr>
            <a:r>
              <a:rPr lang="en-US" sz="1400" b="1" dirty="0">
                <a:solidFill>
                  <a:srgbClr val="E8740C"/>
                </a:solidFill>
                <a:latin typeface="Yu Gothic" pitchFamily="34" charset="0"/>
                <a:ea typeface="Yu Gothic" pitchFamily="34" charset="-122"/>
                <a:cs typeface="Yu Gothic" pitchFamily="34" charset="-120"/>
              </a:rPr>
              <a:t>登録者 約4万2千人</a:t>
            </a:r>
            <a:pPr algn="l" indent="0" marL="0">
              <a:spcAft>
                <a:spcPts val="400"/>
              </a:spcAft>
              <a:buNone/>
            </a:pPr>
            <a:r>
              <a:rPr lang="en-US" sz="1400" dirty="0">
                <a:solidFill>
                  <a:srgbClr val="3D2200"/>
                </a:solidFill>
                <a:latin typeface="Yu Gothic" pitchFamily="34" charset="0"/>
                <a:ea typeface="Yu Gothic" pitchFamily="34" charset="-122"/>
                <a:cs typeface="Yu Gothic" pitchFamily="34" charset="-120"/>
              </a:rPr>
              <a:t> を超えるYouTubeチャンネル「ぺいほーむ」から生まれた、</a:t>
            </a:r>
            <a:endParaRPr lang="en-US" sz="1400" dirty="0"/>
          </a:p>
          <a:p>
            <a:pPr algn="l" indent="0" marL="0">
              <a:spcAft>
                <a:spcPts val="400"/>
              </a:spcAft>
              <a:buNone/>
            </a:pPr>
            <a:r>
              <a:rPr lang="en-US" sz="1400" dirty="0">
                <a:solidFill>
                  <a:srgbClr val="3D2200"/>
                </a:solidFill>
                <a:latin typeface="Yu Gothic" pitchFamily="34" charset="0"/>
                <a:ea typeface="Yu Gothic" pitchFamily="34" charset="-122"/>
                <a:cs typeface="Yu Gothic" pitchFamily="34" charset="-120"/>
              </a:rPr>
              <a:t>住宅メディア型のポータルサイトです。</a:t>
            </a:r>
            <a:endParaRPr lang="en-US" sz="1400" dirty="0"/>
          </a:p>
          <a:p>
            <a:pPr algn="l" indent="0" marL="0">
              <a:spcAft>
                <a:spcPts val="400"/>
              </a:spcAft>
              <a:buNone/>
            </a:pPr>
            <a:r>
              <a:rPr lang="en-US" sz="1000" dirty="0">
                <a:solidFill>
                  <a:srgbClr val="3D2200"/>
                </a:solidFill>
                <a:latin typeface="Yu Gothic" pitchFamily="34" charset="0"/>
                <a:ea typeface="Yu Gothic" pitchFamily="34" charset="-122"/>
                <a:cs typeface="Yu Gothic" pitchFamily="34" charset="-120"/>
              </a:rPr>
              <a:t> </a:t>
            </a:r>
            <a:endParaRPr lang="en-US" sz="1400" dirty="0"/>
          </a:p>
          <a:p>
            <a:pPr algn="l" indent="0" marL="0">
              <a:spcAft>
                <a:spcPts val="400"/>
              </a:spcAft>
              <a:buNone/>
            </a:pPr>
            <a:r>
              <a:rPr lang="en-US" sz="1200" dirty="0">
                <a:solidFill>
                  <a:srgbClr val="3D2200"/>
                </a:solidFill>
                <a:latin typeface="Yu Gothic" pitchFamily="34" charset="0"/>
                <a:ea typeface="Yu Gothic" pitchFamily="34" charset="-122"/>
                <a:cs typeface="Yu Gothic" pitchFamily="34" charset="-120"/>
              </a:rPr>
              <a:t>動画では、工務店様が丁寧につくられた家のルームツアーや、施主様のリアルなご感想、間取りの工夫などを日々発信しております。おかげさまで、九州を中心に </a:t>
            </a:r>
            <a:pPr algn="l" indent="0" marL="0">
              <a:spcAft>
                <a:spcPts val="400"/>
              </a:spcAft>
              <a:buNone/>
            </a:pPr>
            <a:r>
              <a:rPr lang="en-US" sz="1200" b="1" dirty="0">
                <a:solidFill>
                  <a:srgbClr val="E8740C"/>
                </a:solidFill>
                <a:latin typeface="Yu Gothic" pitchFamily="34" charset="0"/>
                <a:ea typeface="Yu Gothic" pitchFamily="34" charset="-122"/>
                <a:cs typeface="Yu Gothic" pitchFamily="34" charset="-120"/>
              </a:rPr>
              <a:t>毎月25万回以上</a:t>
            </a:r>
            <a:pPr algn="l" indent="0" marL="0">
              <a:spcAft>
                <a:spcPts val="400"/>
              </a:spcAft>
              <a:buNone/>
            </a:pPr>
            <a:r>
              <a:rPr lang="en-US" sz="1200" dirty="0">
                <a:solidFill>
                  <a:srgbClr val="3D2200"/>
                </a:solidFill>
                <a:latin typeface="Yu Gothic" pitchFamily="34" charset="0"/>
                <a:ea typeface="Yu Gothic" pitchFamily="34" charset="-122"/>
                <a:cs typeface="Yu Gothic" pitchFamily="34" charset="-120"/>
              </a:rPr>
              <a:t> 再生していただいております。</a:t>
            </a:r>
            <a:endParaRPr lang="en-US" sz="1400" dirty="0"/>
          </a:p>
          <a:p>
            <a:pPr algn="l" indent="0" marL="0">
              <a:spcAft>
                <a:spcPts val="400"/>
              </a:spcAft>
              <a:buNone/>
            </a:pPr>
            <a:r>
              <a:rPr lang="en-US" sz="1000" dirty="0">
                <a:solidFill>
                  <a:srgbClr val="3D2200"/>
                </a:solidFill>
                <a:latin typeface="Yu Gothic" pitchFamily="34" charset="0"/>
                <a:ea typeface="Yu Gothic" pitchFamily="34" charset="-122"/>
                <a:cs typeface="Yu Gothic" pitchFamily="34" charset="-120"/>
              </a:rPr>
              <a:t> </a:t>
            </a:r>
            <a:endParaRPr lang="en-US" sz="1400" dirty="0"/>
          </a:p>
          <a:p>
            <a:pPr algn="l" indent="0" marL="0">
              <a:spcAft>
                <a:spcPts val="400"/>
              </a:spcAft>
              <a:buNone/>
            </a:pPr>
            <a:r>
              <a:rPr lang="en-US" sz="1200" dirty="0">
                <a:solidFill>
                  <a:srgbClr val="3D2200"/>
                </a:solidFill>
                <a:latin typeface="Yu Gothic" pitchFamily="34" charset="0"/>
                <a:ea typeface="Yu Gothic" pitchFamily="34" charset="-122"/>
                <a:cs typeface="Yu Gothic" pitchFamily="34" charset="-120"/>
              </a:rPr>
              <a:t>そうしたなかで、動画を見てくださった方から「この工務店さんにお話を聞きたい」という声を数多くいただくようになりました。</a:t>
            </a:r>
            <a:endParaRPr lang="en-US" sz="1400" dirty="0"/>
          </a:p>
        </p:txBody>
      </p:sp>
      <p:sp>
        <p:nvSpPr>
          <p:cNvPr id="9" name="Shape 7"/>
          <p:cNvSpPr/>
          <p:nvPr/>
        </p:nvSpPr>
        <p:spPr>
          <a:xfrm>
            <a:off x="6263640" y="1691640"/>
            <a:ext cx="2514600" cy="2743200"/>
          </a:xfrm>
          <a:prstGeom prst="rect">
            <a:avLst/>
          </a:prstGeom>
          <a:solidFill>
            <a:srgbClr val="FFF8F0"/>
          </a:solidFill>
          <a:ln w="19050">
            <a:solidFill>
              <a:srgbClr val="E8740C"/>
            </a:solidFill>
            <a:prstDash val="solid"/>
          </a:ln>
        </p:spPr>
      </p:sp>
      <p:sp>
        <p:nvSpPr>
          <p:cNvPr id="10" name="Text 8"/>
          <p:cNvSpPr/>
          <p:nvPr/>
        </p:nvSpPr>
        <p:spPr>
          <a:xfrm>
            <a:off x="6400800" y="1828800"/>
            <a:ext cx="2286000" cy="320040"/>
          </a:xfrm>
          <a:prstGeom prst="rect">
            <a:avLst/>
          </a:prstGeom>
          <a:noFill/>
          <a:ln/>
        </p:spPr>
        <p:txBody>
          <a:bodyPr wrap="square" lIns="0" tIns="0" rIns="0" bIns="0" rtlCol="0" anchor="ctr"/>
          <a:lstStyle/>
          <a:p>
            <a:pPr algn="l" indent="0" marL="0">
              <a:buNone/>
            </a:pPr>
            <a:r>
              <a:rPr lang="en-US" sz="1100" b="1" spc="200" kern="0" dirty="0">
                <a:solidFill>
                  <a:srgbClr val="E8740C"/>
                </a:solidFill>
                <a:latin typeface="Yu Gothic" pitchFamily="34" charset="0"/>
                <a:ea typeface="Yu Gothic" pitchFamily="34" charset="-122"/>
                <a:cs typeface="Yu Gothic" pitchFamily="34" charset="-120"/>
              </a:rPr>
              <a:t>私たちの想い</a:t>
            </a:r>
            <a:endParaRPr lang="en-US" sz="1100" dirty="0"/>
          </a:p>
        </p:txBody>
      </p:sp>
      <p:sp>
        <p:nvSpPr>
          <p:cNvPr id="11" name="Shape 9"/>
          <p:cNvSpPr/>
          <p:nvPr/>
        </p:nvSpPr>
        <p:spPr>
          <a:xfrm>
            <a:off x="6400800" y="2176272"/>
            <a:ext cx="640080" cy="0"/>
          </a:xfrm>
          <a:prstGeom prst="line">
            <a:avLst/>
          </a:prstGeom>
          <a:noFill/>
          <a:ln w="25400">
            <a:solidFill>
              <a:srgbClr val="E8740C"/>
            </a:solidFill>
            <a:prstDash val="solid"/>
          </a:ln>
        </p:spPr>
      </p:sp>
      <p:sp>
        <p:nvSpPr>
          <p:cNvPr id="12" name="Text 10"/>
          <p:cNvSpPr/>
          <p:nvPr/>
        </p:nvSpPr>
        <p:spPr>
          <a:xfrm>
            <a:off x="6400800" y="2331720"/>
            <a:ext cx="2286000" cy="2011680"/>
          </a:xfrm>
          <a:prstGeom prst="rect">
            <a:avLst/>
          </a:prstGeom>
          <a:noFill/>
          <a:ln/>
        </p:spPr>
        <p:txBody>
          <a:bodyPr wrap="square" lIns="0" tIns="0" rIns="0" bIns="0" rtlCol="0" anchor="t"/>
          <a:lstStyle/>
          <a:p>
            <a:pPr algn="l" indent="0" marL="0">
              <a:spcAft>
                <a:spcPts val="200"/>
              </a:spcAft>
              <a:buNone/>
            </a:pPr>
            <a:r>
              <a:rPr lang="en-US" sz="1200" dirty="0">
                <a:solidFill>
                  <a:srgbClr val="3D2200"/>
                </a:solidFill>
                <a:latin typeface="Yu Gothic" pitchFamily="34" charset="0"/>
                <a:ea typeface="Yu Gothic" pitchFamily="34" charset="-122"/>
                <a:cs typeface="Yu Gothic" pitchFamily="34" charset="-120"/>
              </a:rPr>
              <a:t>工務店様を </a:t>
            </a:r>
            <a:pPr algn="l" indent="0" marL="0">
              <a:spcAft>
                <a:spcPts val="200"/>
              </a:spcAft>
              <a:buNone/>
            </a:pPr>
            <a:r>
              <a:rPr lang="en-US" sz="1200" b="1" dirty="0">
                <a:solidFill>
                  <a:srgbClr val="3D2200"/>
                </a:solidFill>
                <a:latin typeface="Yu Gothic" pitchFamily="34" charset="0"/>
                <a:ea typeface="Yu Gothic" pitchFamily="34" charset="-122"/>
                <a:cs typeface="Yu Gothic" pitchFamily="34" charset="-120"/>
              </a:rPr>
              <a:t>「お客様」ではなく</a:t>
            </a:r>
            <a:endParaRPr lang="en-US" sz="1200" dirty="0"/>
          </a:p>
          <a:p>
            <a:pPr algn="l" indent="0" marL="0">
              <a:spcAft>
                <a:spcPts val="200"/>
              </a:spcAft>
              <a:buNone/>
            </a:pPr>
            <a:r>
              <a:rPr lang="en-US" sz="1200" b="1" dirty="0">
                <a:solidFill>
                  <a:srgbClr val="3D2200"/>
                </a:solidFill>
                <a:latin typeface="Yu Gothic" pitchFamily="34" charset="0"/>
                <a:ea typeface="Yu Gothic" pitchFamily="34" charset="-122"/>
                <a:cs typeface="Yu Gothic" pitchFamily="34" charset="-120"/>
              </a:rPr>
              <a:t>「共にメディアを</a:t>
            </a:r>
            <a:endParaRPr lang="en-US" sz="1200" dirty="0"/>
          </a:p>
          <a:p>
            <a:pPr algn="l" indent="0" marL="0">
              <a:spcAft>
                <a:spcPts val="200"/>
              </a:spcAft>
              <a:buNone/>
            </a:pPr>
            <a:r>
              <a:rPr lang="en-US" sz="1200" b="1" dirty="0">
                <a:solidFill>
                  <a:srgbClr val="3D2200"/>
                </a:solidFill>
                <a:latin typeface="Yu Gothic" pitchFamily="34" charset="0"/>
                <a:ea typeface="Yu Gothic" pitchFamily="34" charset="-122"/>
                <a:cs typeface="Yu Gothic" pitchFamily="34" charset="-120"/>
              </a:rPr>
              <a:t>育てるパートナー」</a:t>
            </a:r>
            <a:endParaRPr lang="en-US" sz="1200" dirty="0"/>
          </a:p>
          <a:p>
            <a:pPr algn="l" indent="0" marL="0">
              <a:spcAft>
                <a:spcPts val="200"/>
              </a:spcAft>
              <a:buNone/>
            </a:pPr>
            <a:r>
              <a:rPr lang="en-US" sz="1200" dirty="0">
                <a:solidFill>
                  <a:srgbClr val="3D2200"/>
                </a:solidFill>
                <a:latin typeface="Yu Gothic" pitchFamily="34" charset="0"/>
                <a:ea typeface="Yu Gothic" pitchFamily="34" charset="-122"/>
                <a:cs typeface="Yu Gothic" pitchFamily="34" charset="-120"/>
              </a:rPr>
              <a:t>と考えております。</a:t>
            </a:r>
            <a:endParaRPr lang="en-US" sz="1200" dirty="0"/>
          </a:p>
          <a:p>
            <a:pPr algn="l" indent="0" marL="0">
              <a:spcAft>
                <a:spcPts val="200"/>
              </a:spcAft>
              <a:buNone/>
            </a:pPr>
            <a:r>
              <a:rPr lang="en-US" sz="800" dirty="0">
                <a:solidFill>
                  <a:srgbClr val="3D2200"/>
                </a:solidFill>
                <a:latin typeface="Yu Gothic" pitchFamily="34" charset="0"/>
                <a:ea typeface="Yu Gothic" pitchFamily="34" charset="-122"/>
                <a:cs typeface="Yu Gothic" pitchFamily="34" charset="-120"/>
              </a:rPr>
              <a:t> </a:t>
            </a:r>
            <a:endParaRPr lang="en-US" sz="1200" dirty="0"/>
          </a:p>
          <a:p>
            <a:pPr algn="l" indent="0" marL="0">
              <a:spcAft>
                <a:spcPts val="200"/>
              </a:spcAft>
              <a:buNone/>
            </a:pPr>
            <a:r>
              <a:rPr lang="en-US" sz="1200" dirty="0">
                <a:solidFill>
                  <a:srgbClr val="3D2200"/>
                </a:solidFill>
                <a:latin typeface="Yu Gothic" pitchFamily="34" charset="0"/>
                <a:ea typeface="Yu Gothic" pitchFamily="34" charset="-122"/>
                <a:cs typeface="Yu Gothic" pitchFamily="34" charset="-120"/>
              </a:rPr>
              <a:t>本日は、その考えを</a:t>
            </a:r>
            <a:endParaRPr lang="en-US" sz="1200" dirty="0"/>
          </a:p>
          <a:p>
            <a:pPr algn="l" indent="0" marL="0">
              <a:spcAft>
                <a:spcPts val="200"/>
              </a:spcAft>
              <a:buNone/>
            </a:pPr>
            <a:r>
              <a:rPr lang="en-US" sz="1200" dirty="0">
                <a:solidFill>
                  <a:srgbClr val="3D2200"/>
                </a:solidFill>
                <a:latin typeface="Yu Gothic" pitchFamily="34" charset="0"/>
                <a:ea typeface="Yu Gothic" pitchFamily="34" charset="-122"/>
                <a:cs typeface="Yu Gothic" pitchFamily="34" charset="-120"/>
              </a:rPr>
              <a:t>丁寧にお伝えできれば</a:t>
            </a:r>
            <a:endParaRPr lang="en-US" sz="1200" dirty="0"/>
          </a:p>
          <a:p>
            <a:pPr algn="l" indent="0" marL="0">
              <a:spcAft>
                <a:spcPts val="200"/>
              </a:spcAft>
              <a:buNone/>
            </a:pPr>
            <a:r>
              <a:rPr lang="en-US" sz="1200" dirty="0">
                <a:solidFill>
                  <a:srgbClr val="3D2200"/>
                </a:solidFill>
                <a:latin typeface="Yu Gothic" pitchFamily="34" charset="0"/>
                <a:ea typeface="Yu Gothic" pitchFamily="34" charset="-122"/>
                <a:cs typeface="Yu Gothic" pitchFamily="34" charset="-120"/>
              </a:rPr>
              <a:t>と思います。</a:t>
            </a:r>
            <a:endParaRPr lang="en-US" sz="1200" dirty="0"/>
          </a:p>
        </p:txBody>
      </p:sp>
      <p:sp>
        <p:nvSpPr>
          <p:cNvPr id="13" name="Shape 11"/>
          <p:cNvSpPr/>
          <p:nvPr/>
        </p:nvSpPr>
        <p:spPr>
          <a:xfrm>
            <a:off x="365760" y="4823460"/>
            <a:ext cx="8412480" cy="0"/>
          </a:xfrm>
          <a:prstGeom prst="line">
            <a:avLst/>
          </a:prstGeom>
          <a:noFill/>
          <a:ln w="9525">
            <a:solidFill>
              <a:srgbClr val="EBDFD0"/>
            </a:solidFill>
            <a:prstDash val="solid"/>
          </a:ln>
        </p:spPr>
      </p:sp>
      <p:sp>
        <p:nvSpPr>
          <p:cNvPr id="14" name="Text 12"/>
          <p:cNvSpPr/>
          <p:nvPr/>
        </p:nvSpPr>
        <p:spPr>
          <a:xfrm>
            <a:off x="365760" y="4850892"/>
            <a:ext cx="4572000" cy="274320"/>
          </a:xfrm>
          <a:prstGeom prst="rect">
            <a:avLst/>
          </a:prstGeom>
          <a:noFill/>
          <a:ln/>
        </p:spPr>
        <p:txBody>
          <a:bodyPr wrap="square" lIns="0" tIns="0" rIns="0" bIns="0" rtlCol="0" anchor="ctr"/>
          <a:lstStyle/>
          <a:p>
            <a:pPr algn="l" indent="0" marL="0">
              <a:buNone/>
            </a:pPr>
            <a:r>
              <a:rPr lang="en-US" sz="900" dirty="0">
                <a:solidFill>
                  <a:srgbClr val="6B5A47"/>
                </a:solidFill>
                <a:latin typeface="Yu Gothic" pitchFamily="34" charset="0"/>
                <a:ea typeface="Yu Gothic" pitchFamily="34" charset="-122"/>
                <a:cs typeface="Yu Gothic" pitchFamily="34" charset="-120"/>
              </a:rPr>
              <a:t>ぺいほーむ ポータルサイト</a:t>
            </a:r>
            <a:endParaRPr lang="en-US" sz="900" dirty="0"/>
          </a:p>
        </p:txBody>
      </p:sp>
      <p:sp>
        <p:nvSpPr>
          <p:cNvPr id="15" name="Text 13"/>
          <p:cNvSpPr/>
          <p:nvPr/>
        </p:nvSpPr>
        <p:spPr>
          <a:xfrm>
            <a:off x="4206240" y="4850892"/>
            <a:ext cx="4572000" cy="274320"/>
          </a:xfrm>
          <a:prstGeom prst="rect">
            <a:avLst/>
          </a:prstGeom>
          <a:noFill/>
          <a:ln/>
        </p:spPr>
        <p:txBody>
          <a:bodyPr wrap="square" lIns="0" tIns="0" rIns="0" bIns="0" rtlCol="0" anchor="ctr"/>
          <a:lstStyle/>
          <a:p>
            <a:pPr algn="r" indent="0" marL="0">
              <a:buNone/>
            </a:pPr>
            <a:r>
              <a:rPr lang="en-US" sz="900" i="1" dirty="0">
                <a:solidFill>
                  <a:srgbClr val="6B5A47"/>
                </a:solidFill>
                <a:latin typeface="Yu Gothic" pitchFamily="34" charset="0"/>
                <a:ea typeface="Yu Gothic" pitchFamily="34" charset="-122"/>
                <a:cs typeface="Yu Gothic" pitchFamily="34" charset="-120"/>
              </a:rPr>
              <a:t>本気の出会いを、誠実に。</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8740C"/>
          </a:solidFill>
          <a:ln w="12700">
            <a:solidFill>
              <a:srgbClr val="E8740C"/>
            </a:solidFill>
            <a:prstDash val="solid"/>
          </a:ln>
        </p:spPr>
      </p:sp>
      <p:sp>
        <p:nvSpPr>
          <p:cNvPr id="3" name="Text 1"/>
          <p:cNvSpPr/>
          <p:nvPr/>
        </p:nvSpPr>
        <p:spPr>
          <a:xfrm>
            <a:off x="365760" y="182880"/>
            <a:ext cx="1097280" cy="274320"/>
          </a:xfrm>
          <a:prstGeom prst="rect">
            <a:avLst/>
          </a:prstGeom>
          <a:noFill/>
          <a:ln/>
        </p:spPr>
        <p:txBody>
          <a:bodyPr wrap="square" lIns="0" tIns="0" rIns="0" bIns="0" rtlCol="0" anchor="ctr"/>
          <a:lstStyle/>
          <a:p>
            <a:pPr algn="l" indent="0" marL="0">
              <a:buNone/>
            </a:pPr>
            <a:r>
              <a:rPr lang="en-US" sz="1000" b="1" dirty="0">
                <a:solidFill>
                  <a:srgbClr val="E8740C"/>
                </a:solidFill>
                <a:latin typeface="Yu Gothic" pitchFamily="34" charset="0"/>
                <a:ea typeface="Yu Gothic" pitchFamily="34" charset="-122"/>
                <a:cs typeface="Yu Gothic" pitchFamily="34" charset="-120"/>
              </a:rPr>
              <a:t>03 / 20</a:t>
            </a:r>
            <a:endParaRPr lang="en-US" sz="1000" dirty="0"/>
          </a:p>
        </p:txBody>
      </p:sp>
      <p:sp>
        <p:nvSpPr>
          <p:cNvPr id="4" name="Text 2"/>
          <p:cNvSpPr/>
          <p:nvPr/>
        </p:nvSpPr>
        <p:spPr>
          <a:xfrm>
            <a:off x="1554480" y="182880"/>
            <a:ext cx="7223760" cy="274320"/>
          </a:xfrm>
          <a:prstGeom prst="rect">
            <a:avLst/>
          </a:prstGeom>
          <a:noFill/>
          <a:ln/>
        </p:spPr>
        <p:txBody>
          <a:bodyPr wrap="square" lIns="0" tIns="0" rIns="0" bIns="0" rtlCol="0" anchor="ctr"/>
          <a:lstStyle/>
          <a:p>
            <a:pPr algn="r" indent="0" marL="0">
              <a:buNone/>
            </a:pPr>
            <a:r>
              <a:rPr lang="en-US" sz="1000" dirty="0">
                <a:solidFill>
                  <a:srgbClr val="6B5A47"/>
                </a:solidFill>
                <a:latin typeface="Yu Gothic" pitchFamily="34" charset="0"/>
                <a:ea typeface="Yu Gothic" pitchFamily="34" charset="-122"/>
                <a:cs typeface="Yu Gothic" pitchFamily="34" charset="-120"/>
              </a:rPr>
              <a:t>住宅業界で起きていること</a:t>
            </a:r>
            <a:endParaRPr lang="en-US" sz="1000" dirty="0"/>
          </a:p>
        </p:txBody>
      </p:sp>
      <p:sp>
        <p:nvSpPr>
          <p:cNvPr id="5" name="Shape 3"/>
          <p:cNvSpPr/>
          <p:nvPr/>
        </p:nvSpPr>
        <p:spPr>
          <a:xfrm>
            <a:off x="457200" y="685800"/>
            <a:ext cx="109728" cy="502920"/>
          </a:xfrm>
          <a:prstGeom prst="rect">
            <a:avLst/>
          </a:prstGeom>
          <a:solidFill>
            <a:srgbClr val="E8740C"/>
          </a:solidFill>
          <a:ln w="12700">
            <a:solidFill>
              <a:srgbClr val="E8740C"/>
            </a:solidFill>
            <a:prstDash val="solid"/>
          </a:ln>
        </p:spPr>
      </p:sp>
      <p:sp>
        <p:nvSpPr>
          <p:cNvPr id="6" name="Text 4"/>
          <p:cNvSpPr/>
          <p:nvPr/>
        </p:nvSpPr>
        <p:spPr>
          <a:xfrm>
            <a:off x="685800" y="640080"/>
            <a:ext cx="8229600" cy="594360"/>
          </a:xfrm>
          <a:prstGeom prst="rect">
            <a:avLst/>
          </a:prstGeom>
          <a:noFill/>
          <a:ln/>
        </p:spPr>
        <p:txBody>
          <a:bodyPr wrap="square" lIns="0" tIns="0" rIns="0" bIns="0" rtlCol="0" anchor="ctr"/>
          <a:lstStyle/>
          <a:p>
            <a:pPr algn="l" indent="0" marL="0">
              <a:buNone/>
            </a:pPr>
            <a:r>
              <a:rPr lang="en-US" sz="2600" b="1" dirty="0">
                <a:solidFill>
                  <a:srgbClr val="2A1700"/>
                </a:solidFill>
                <a:latin typeface="Yu Gothic" pitchFamily="34" charset="0"/>
                <a:ea typeface="Yu Gothic" pitchFamily="34" charset="-122"/>
                <a:cs typeface="Yu Gothic" pitchFamily="34" charset="-120"/>
              </a:rPr>
              <a:t>家づくりの情報収集は、確実に変わりました</a:t>
            </a:r>
            <a:endParaRPr lang="en-US" sz="2600" dirty="0"/>
          </a:p>
        </p:txBody>
      </p:sp>
      <p:sp>
        <p:nvSpPr>
          <p:cNvPr id="7" name="Text 5"/>
          <p:cNvSpPr/>
          <p:nvPr/>
        </p:nvSpPr>
        <p:spPr>
          <a:xfrm>
            <a:off x="685800" y="1207008"/>
            <a:ext cx="8229600" cy="274320"/>
          </a:xfrm>
          <a:prstGeom prst="rect">
            <a:avLst/>
          </a:prstGeom>
          <a:noFill/>
          <a:ln/>
        </p:spPr>
        <p:txBody>
          <a:bodyPr wrap="square" lIns="0" tIns="0" rIns="0" bIns="0" rtlCol="0" anchor="ctr"/>
          <a:lstStyle/>
          <a:p>
            <a:pPr algn="l" indent="0" marL="0">
              <a:buNone/>
            </a:pPr>
            <a:r>
              <a:rPr lang="en-US" sz="1200" dirty="0">
                <a:solidFill>
                  <a:srgbClr val="6B5A47"/>
                </a:solidFill>
                <a:latin typeface="Yu Gothic" pitchFamily="34" charset="0"/>
                <a:ea typeface="Yu Gothic" pitchFamily="34" charset="-122"/>
                <a:cs typeface="Yu Gothic" pitchFamily="34" charset="-120"/>
              </a:rPr>
              <a:t>動画・SNSを見てから展示場へ — 時代は明確にシフトしています</a:t>
            </a:r>
            <a:endParaRPr lang="en-US" sz="1200" dirty="0"/>
          </a:p>
        </p:txBody>
      </p:sp>
      <p:sp>
        <p:nvSpPr>
          <p:cNvPr id="8" name="Shape 6"/>
          <p:cNvSpPr/>
          <p:nvPr/>
        </p:nvSpPr>
        <p:spPr>
          <a:xfrm>
            <a:off x="685800" y="1828800"/>
            <a:ext cx="3291840" cy="2468880"/>
          </a:xfrm>
          <a:prstGeom prst="rect">
            <a:avLst/>
          </a:prstGeom>
          <a:solidFill>
            <a:srgbClr val="FFF8F0"/>
          </a:solidFill>
          <a:ln w="12700">
            <a:solidFill>
              <a:srgbClr val="EBDFD0"/>
            </a:solidFill>
            <a:prstDash val="solid"/>
          </a:ln>
        </p:spPr>
      </p:sp>
      <p:sp>
        <p:nvSpPr>
          <p:cNvPr id="9" name="Text 7"/>
          <p:cNvSpPr/>
          <p:nvPr/>
        </p:nvSpPr>
        <p:spPr>
          <a:xfrm>
            <a:off x="685800" y="1965960"/>
            <a:ext cx="3291840" cy="320040"/>
          </a:xfrm>
          <a:prstGeom prst="rect">
            <a:avLst/>
          </a:prstGeom>
          <a:noFill/>
          <a:ln/>
        </p:spPr>
        <p:txBody>
          <a:bodyPr wrap="square" lIns="0" tIns="0" rIns="0" bIns="0" rtlCol="0" anchor="ctr"/>
          <a:lstStyle/>
          <a:p>
            <a:pPr algn="ctr" indent="0" marL="0">
              <a:buNone/>
            </a:pPr>
            <a:r>
              <a:rPr lang="en-US" sz="1200" dirty="0">
                <a:solidFill>
                  <a:srgbClr val="6B5A47"/>
                </a:solidFill>
                <a:latin typeface="Yu Gothic" pitchFamily="34" charset="0"/>
                <a:ea typeface="Yu Gothic" pitchFamily="34" charset="-122"/>
                <a:cs typeface="Yu Gothic" pitchFamily="34" charset="-120"/>
              </a:rPr>
              <a:t>2020年</a:t>
            </a:r>
            <a:endParaRPr lang="en-US" sz="1200" dirty="0"/>
          </a:p>
        </p:txBody>
      </p:sp>
      <p:sp>
        <p:nvSpPr>
          <p:cNvPr id="10" name="Text 8"/>
          <p:cNvSpPr/>
          <p:nvPr/>
        </p:nvSpPr>
        <p:spPr>
          <a:xfrm>
            <a:off x="685800" y="2286000"/>
            <a:ext cx="3291840" cy="1097280"/>
          </a:xfrm>
          <a:prstGeom prst="rect">
            <a:avLst/>
          </a:prstGeom>
          <a:noFill/>
          <a:ln/>
        </p:spPr>
        <p:txBody>
          <a:bodyPr wrap="square" lIns="0" tIns="0" rIns="0" bIns="0" rtlCol="0" anchor="ctr"/>
          <a:lstStyle/>
          <a:p>
            <a:pPr algn="ctr" indent="0" marL="0">
              <a:buNone/>
            </a:pPr>
            <a:r>
              <a:rPr lang="en-US" sz="6400" b="1" dirty="0">
                <a:solidFill>
                  <a:srgbClr val="6B5A47"/>
                </a:solidFill>
                <a:latin typeface="Yu Gothic" pitchFamily="34" charset="0"/>
                <a:ea typeface="Yu Gothic" pitchFamily="34" charset="-122"/>
                <a:cs typeface="Yu Gothic" pitchFamily="34" charset="-120"/>
              </a:rPr>
              <a:t>3.1%</a:t>
            </a:r>
            <a:endParaRPr lang="en-US" sz="6400" dirty="0"/>
          </a:p>
        </p:txBody>
      </p:sp>
      <p:sp>
        <p:nvSpPr>
          <p:cNvPr id="11" name="Text 9"/>
          <p:cNvSpPr/>
          <p:nvPr/>
        </p:nvSpPr>
        <p:spPr>
          <a:xfrm>
            <a:off x="685800" y="3429000"/>
            <a:ext cx="3291840" cy="731520"/>
          </a:xfrm>
          <a:prstGeom prst="rect">
            <a:avLst/>
          </a:prstGeom>
          <a:noFill/>
          <a:ln/>
        </p:spPr>
        <p:txBody>
          <a:bodyPr wrap="square" lIns="0" tIns="0" rIns="0" bIns="0" rtlCol="0" anchor="ctr"/>
          <a:lstStyle/>
          <a:p>
            <a:pPr algn="ctr" indent="0" marL="0">
              <a:buNone/>
            </a:pPr>
            <a:r>
              <a:rPr lang="en-US" sz="1100" dirty="0">
                <a:solidFill>
                  <a:srgbClr val="3D2200"/>
                </a:solidFill>
                <a:latin typeface="Yu Gothic" pitchFamily="34" charset="0"/>
                <a:ea typeface="Yu Gothic" pitchFamily="34" charset="-122"/>
                <a:cs typeface="Yu Gothic" pitchFamily="34" charset="-120"/>
              </a:rPr>
              <a:t>動画・SNSを見て</a:t>
            </a:r>
            <a:endParaRPr lang="en-US" sz="1100" dirty="0"/>
          </a:p>
          <a:p>
            <a:pPr algn="ctr" indent="0" marL="0">
              <a:buNone/>
            </a:pPr>
            <a:r>
              <a:rPr lang="en-US" sz="1100" dirty="0">
                <a:solidFill>
                  <a:srgbClr val="3D2200"/>
                </a:solidFill>
                <a:latin typeface="Yu Gothic" pitchFamily="34" charset="0"/>
                <a:ea typeface="Yu Gothic" pitchFamily="34" charset="-122"/>
                <a:cs typeface="Yu Gothic" pitchFamily="34" charset="-120"/>
              </a:rPr>
              <a:t>展示場に来場した方</a:t>
            </a:r>
            <a:endParaRPr lang="en-US" sz="1100" dirty="0"/>
          </a:p>
        </p:txBody>
      </p:sp>
      <p:sp>
        <p:nvSpPr>
          <p:cNvPr id="12" name="Text 10"/>
          <p:cNvSpPr/>
          <p:nvPr/>
        </p:nvSpPr>
        <p:spPr>
          <a:xfrm>
            <a:off x="4114800" y="2651760"/>
            <a:ext cx="914400" cy="822960"/>
          </a:xfrm>
          <a:prstGeom prst="rect">
            <a:avLst/>
          </a:prstGeom>
          <a:noFill/>
          <a:ln/>
        </p:spPr>
        <p:txBody>
          <a:bodyPr wrap="square" lIns="0" tIns="0" rIns="0" bIns="0" rtlCol="0" anchor="ctr"/>
          <a:lstStyle/>
          <a:p>
            <a:pPr algn="ctr" indent="0" marL="0">
              <a:buNone/>
            </a:pPr>
            <a:r>
              <a:rPr lang="en-US" sz="4000" b="1" dirty="0">
                <a:solidFill>
                  <a:srgbClr val="E8740C"/>
                </a:solidFill>
                <a:latin typeface="Yu Gothic" pitchFamily="34" charset="0"/>
                <a:ea typeface="Yu Gothic" pitchFamily="34" charset="-122"/>
                <a:cs typeface="Yu Gothic" pitchFamily="34" charset="-120"/>
              </a:rPr>
              <a:t>▶</a:t>
            </a:r>
            <a:endParaRPr lang="en-US" sz="4000" dirty="0"/>
          </a:p>
        </p:txBody>
      </p:sp>
      <p:sp>
        <p:nvSpPr>
          <p:cNvPr id="13" name="Shape 11"/>
          <p:cNvSpPr/>
          <p:nvPr/>
        </p:nvSpPr>
        <p:spPr>
          <a:xfrm>
            <a:off x="5166360" y="1828800"/>
            <a:ext cx="3291840" cy="2468880"/>
          </a:xfrm>
          <a:prstGeom prst="rect">
            <a:avLst/>
          </a:prstGeom>
          <a:solidFill>
            <a:srgbClr val="E8740C"/>
          </a:solidFill>
          <a:ln w="12700">
            <a:solidFill>
              <a:srgbClr val="E8740C"/>
            </a:solidFill>
            <a:prstDash val="solid"/>
          </a:ln>
        </p:spPr>
      </p:sp>
      <p:sp>
        <p:nvSpPr>
          <p:cNvPr id="14" name="Text 12"/>
          <p:cNvSpPr/>
          <p:nvPr/>
        </p:nvSpPr>
        <p:spPr>
          <a:xfrm>
            <a:off x="5166360" y="1965960"/>
            <a:ext cx="3291840" cy="320040"/>
          </a:xfrm>
          <a:prstGeom prst="rect">
            <a:avLst/>
          </a:prstGeom>
          <a:noFill/>
          <a:ln/>
        </p:spPr>
        <p:txBody>
          <a:bodyPr wrap="square" lIns="0" tIns="0" rIns="0" bIns="0" rtlCol="0" anchor="ctr"/>
          <a:lstStyle/>
          <a:p>
            <a:pPr algn="ctr" indent="0" marL="0">
              <a:buNone/>
            </a:pPr>
            <a:r>
              <a:rPr lang="en-US" sz="1200" dirty="0">
                <a:solidFill>
                  <a:srgbClr val="FFFFFF"/>
                </a:solidFill>
                <a:latin typeface="Yu Gothic" pitchFamily="34" charset="0"/>
                <a:ea typeface="Yu Gothic" pitchFamily="34" charset="-122"/>
                <a:cs typeface="Yu Gothic" pitchFamily="34" charset="-120"/>
              </a:rPr>
              <a:t>2022年</a:t>
            </a:r>
            <a:endParaRPr lang="en-US" sz="1200" dirty="0"/>
          </a:p>
        </p:txBody>
      </p:sp>
      <p:sp>
        <p:nvSpPr>
          <p:cNvPr id="15" name="Text 13"/>
          <p:cNvSpPr/>
          <p:nvPr/>
        </p:nvSpPr>
        <p:spPr>
          <a:xfrm>
            <a:off x="5166360" y="2286000"/>
            <a:ext cx="3291840" cy="1097280"/>
          </a:xfrm>
          <a:prstGeom prst="rect">
            <a:avLst/>
          </a:prstGeom>
          <a:noFill/>
          <a:ln/>
        </p:spPr>
        <p:txBody>
          <a:bodyPr wrap="square" lIns="0" tIns="0" rIns="0" bIns="0" rtlCol="0" anchor="ctr"/>
          <a:lstStyle/>
          <a:p>
            <a:pPr algn="ctr" indent="0" marL="0">
              <a:buNone/>
            </a:pPr>
            <a:r>
              <a:rPr lang="en-US" sz="6400" b="1" dirty="0">
                <a:solidFill>
                  <a:srgbClr val="FFFFFF"/>
                </a:solidFill>
                <a:latin typeface="Yu Gothic" pitchFamily="34" charset="0"/>
                <a:ea typeface="Yu Gothic" pitchFamily="34" charset="-122"/>
                <a:cs typeface="Yu Gothic" pitchFamily="34" charset="-120"/>
              </a:rPr>
              <a:t>14.0%</a:t>
            </a:r>
            <a:endParaRPr lang="en-US" sz="6400" dirty="0"/>
          </a:p>
        </p:txBody>
      </p:sp>
      <p:sp>
        <p:nvSpPr>
          <p:cNvPr id="16" name="Text 14"/>
          <p:cNvSpPr/>
          <p:nvPr/>
        </p:nvSpPr>
        <p:spPr>
          <a:xfrm>
            <a:off x="5166360" y="3429000"/>
            <a:ext cx="3291840" cy="731520"/>
          </a:xfrm>
          <a:prstGeom prst="rect">
            <a:avLst/>
          </a:prstGeom>
          <a:noFill/>
          <a:ln/>
        </p:spPr>
        <p:txBody>
          <a:bodyPr wrap="square" lIns="0" tIns="0" rIns="0" bIns="0" rtlCol="0" anchor="ctr"/>
          <a:lstStyle/>
          <a:p>
            <a:pPr algn="ctr" indent="0" marL="0">
              <a:buNone/>
            </a:pPr>
            <a:r>
              <a:rPr lang="en-US" sz="1100" dirty="0">
                <a:solidFill>
                  <a:srgbClr val="FFFFFF"/>
                </a:solidFill>
                <a:latin typeface="Yu Gothic" pitchFamily="34" charset="0"/>
                <a:ea typeface="Yu Gothic" pitchFamily="34" charset="-122"/>
                <a:cs typeface="Yu Gothic" pitchFamily="34" charset="-120"/>
              </a:rPr>
              <a:t>動画・SNSを見て</a:t>
            </a:r>
            <a:endParaRPr lang="en-US" sz="1100" dirty="0"/>
          </a:p>
          <a:p>
            <a:pPr algn="ctr" indent="0" marL="0">
              <a:buNone/>
            </a:pPr>
            <a:r>
              <a:rPr lang="en-US" sz="1100" dirty="0">
                <a:solidFill>
                  <a:srgbClr val="FFFFFF"/>
                </a:solidFill>
                <a:latin typeface="Yu Gothic" pitchFamily="34" charset="0"/>
                <a:ea typeface="Yu Gothic" pitchFamily="34" charset="-122"/>
                <a:cs typeface="Yu Gothic" pitchFamily="34" charset="-120"/>
              </a:rPr>
              <a:t>展示場に来場した方</a:t>
            </a:r>
            <a:endParaRPr lang="en-US" sz="1100" dirty="0"/>
          </a:p>
        </p:txBody>
      </p:sp>
      <p:sp>
        <p:nvSpPr>
          <p:cNvPr id="17" name="Text 15"/>
          <p:cNvSpPr/>
          <p:nvPr/>
        </p:nvSpPr>
        <p:spPr>
          <a:xfrm>
            <a:off x="685800" y="4434840"/>
            <a:ext cx="7772400" cy="320040"/>
          </a:xfrm>
          <a:prstGeom prst="rect">
            <a:avLst/>
          </a:prstGeom>
          <a:noFill/>
          <a:ln/>
        </p:spPr>
        <p:txBody>
          <a:bodyPr wrap="square" lIns="0" tIns="0" rIns="0" bIns="0" rtlCol="0" anchor="ctr"/>
          <a:lstStyle/>
          <a:p>
            <a:pPr algn="ctr" indent="0" marL="0">
              <a:buNone/>
            </a:pPr>
            <a:r>
              <a:rPr lang="en-US" sz="1300" dirty="0">
                <a:solidFill>
                  <a:srgbClr val="3D2200"/>
                </a:solidFill>
                <a:latin typeface="Yu Gothic" pitchFamily="34" charset="0"/>
                <a:ea typeface="Yu Gothic" pitchFamily="34" charset="-122"/>
                <a:cs typeface="Yu Gothic" pitchFamily="34" charset="-120"/>
              </a:rPr>
              <a:t>わずか2年で </a:t>
            </a:r>
            <a:pPr algn="ctr" indent="0" marL="0">
              <a:buNone/>
            </a:pPr>
            <a:r>
              <a:rPr lang="en-US" sz="1600" b="1" dirty="0">
                <a:solidFill>
                  <a:srgbClr val="E8740C"/>
                </a:solidFill>
                <a:latin typeface="Yu Gothic" pitchFamily="34" charset="0"/>
                <a:ea typeface="Yu Gothic" pitchFamily="34" charset="-122"/>
                <a:cs typeface="Yu Gothic" pitchFamily="34" charset="-120"/>
              </a:rPr>
              <a:t>約4.5倍</a:t>
            </a:r>
            <a:pPr algn="ctr" indent="0" marL="0">
              <a:buNone/>
            </a:pPr>
            <a:r>
              <a:rPr lang="en-US" sz="1300" dirty="0">
                <a:solidFill>
                  <a:srgbClr val="3D2200"/>
                </a:solidFill>
                <a:latin typeface="Yu Gothic" pitchFamily="34" charset="0"/>
                <a:ea typeface="Yu Gothic" pitchFamily="34" charset="-122"/>
                <a:cs typeface="Yu Gothic" pitchFamily="34" charset="-120"/>
              </a:rPr>
              <a:t> に。動画の時代は、丁寧なものづくりが最もよく伝わる時代です。</a:t>
            </a:r>
            <a:endParaRPr lang="en-US" sz="1300" dirty="0"/>
          </a:p>
        </p:txBody>
      </p:sp>
      <p:sp>
        <p:nvSpPr>
          <p:cNvPr id="18" name="Shape 16"/>
          <p:cNvSpPr/>
          <p:nvPr/>
        </p:nvSpPr>
        <p:spPr>
          <a:xfrm>
            <a:off x="365760" y="4823460"/>
            <a:ext cx="8412480" cy="0"/>
          </a:xfrm>
          <a:prstGeom prst="line">
            <a:avLst/>
          </a:prstGeom>
          <a:noFill/>
          <a:ln w="9525">
            <a:solidFill>
              <a:srgbClr val="EBDFD0"/>
            </a:solidFill>
            <a:prstDash val="solid"/>
          </a:ln>
        </p:spPr>
      </p:sp>
      <p:sp>
        <p:nvSpPr>
          <p:cNvPr id="19" name="Text 17"/>
          <p:cNvSpPr/>
          <p:nvPr/>
        </p:nvSpPr>
        <p:spPr>
          <a:xfrm>
            <a:off x="365760" y="4850892"/>
            <a:ext cx="4572000" cy="274320"/>
          </a:xfrm>
          <a:prstGeom prst="rect">
            <a:avLst/>
          </a:prstGeom>
          <a:noFill/>
          <a:ln/>
        </p:spPr>
        <p:txBody>
          <a:bodyPr wrap="square" lIns="0" tIns="0" rIns="0" bIns="0" rtlCol="0" anchor="ctr"/>
          <a:lstStyle/>
          <a:p>
            <a:pPr algn="l" indent="0" marL="0">
              <a:buNone/>
            </a:pPr>
            <a:r>
              <a:rPr lang="en-US" sz="900" dirty="0">
                <a:solidFill>
                  <a:srgbClr val="6B5A47"/>
                </a:solidFill>
                <a:latin typeface="Yu Gothic" pitchFamily="34" charset="0"/>
                <a:ea typeface="Yu Gothic" pitchFamily="34" charset="-122"/>
                <a:cs typeface="Yu Gothic" pitchFamily="34" charset="-120"/>
              </a:rPr>
              <a:t>ぺいほーむ ポータルサイト</a:t>
            </a:r>
            <a:endParaRPr lang="en-US" sz="900" dirty="0"/>
          </a:p>
        </p:txBody>
      </p:sp>
      <p:sp>
        <p:nvSpPr>
          <p:cNvPr id="20" name="Text 18"/>
          <p:cNvSpPr/>
          <p:nvPr/>
        </p:nvSpPr>
        <p:spPr>
          <a:xfrm>
            <a:off x="4206240" y="4850892"/>
            <a:ext cx="4572000" cy="274320"/>
          </a:xfrm>
          <a:prstGeom prst="rect">
            <a:avLst/>
          </a:prstGeom>
          <a:noFill/>
          <a:ln/>
        </p:spPr>
        <p:txBody>
          <a:bodyPr wrap="square" lIns="0" tIns="0" rIns="0" bIns="0" rtlCol="0" anchor="ctr"/>
          <a:lstStyle/>
          <a:p>
            <a:pPr algn="r" indent="0" marL="0">
              <a:buNone/>
            </a:pPr>
            <a:r>
              <a:rPr lang="en-US" sz="900" i="1" dirty="0">
                <a:solidFill>
                  <a:srgbClr val="6B5A47"/>
                </a:solidFill>
                <a:latin typeface="Yu Gothic" pitchFamily="34" charset="0"/>
                <a:ea typeface="Yu Gothic" pitchFamily="34" charset="-122"/>
                <a:cs typeface="Yu Gothic" pitchFamily="34" charset="-120"/>
              </a:rPr>
              <a:t>本気の出会いを、誠実に。</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8740C"/>
          </a:solidFill>
          <a:ln w="12700">
            <a:solidFill>
              <a:srgbClr val="E8740C"/>
            </a:solidFill>
            <a:prstDash val="solid"/>
          </a:ln>
        </p:spPr>
      </p:sp>
      <p:sp>
        <p:nvSpPr>
          <p:cNvPr id="3" name="Text 1"/>
          <p:cNvSpPr/>
          <p:nvPr/>
        </p:nvSpPr>
        <p:spPr>
          <a:xfrm>
            <a:off x="365760" y="182880"/>
            <a:ext cx="1097280" cy="274320"/>
          </a:xfrm>
          <a:prstGeom prst="rect">
            <a:avLst/>
          </a:prstGeom>
          <a:noFill/>
          <a:ln/>
        </p:spPr>
        <p:txBody>
          <a:bodyPr wrap="square" lIns="0" tIns="0" rIns="0" bIns="0" rtlCol="0" anchor="ctr"/>
          <a:lstStyle/>
          <a:p>
            <a:pPr algn="l" indent="0" marL="0">
              <a:buNone/>
            </a:pPr>
            <a:r>
              <a:rPr lang="en-US" sz="1000" b="1" dirty="0">
                <a:solidFill>
                  <a:srgbClr val="E8740C"/>
                </a:solidFill>
                <a:latin typeface="Yu Gothic" pitchFamily="34" charset="0"/>
                <a:ea typeface="Yu Gothic" pitchFamily="34" charset="-122"/>
                <a:cs typeface="Yu Gothic" pitchFamily="34" charset="-120"/>
              </a:rPr>
              <a:t>04 / 20</a:t>
            </a:r>
            <a:endParaRPr lang="en-US" sz="1000" dirty="0"/>
          </a:p>
        </p:txBody>
      </p:sp>
      <p:sp>
        <p:nvSpPr>
          <p:cNvPr id="4" name="Text 2"/>
          <p:cNvSpPr/>
          <p:nvPr/>
        </p:nvSpPr>
        <p:spPr>
          <a:xfrm>
            <a:off x="1554480" y="182880"/>
            <a:ext cx="7223760" cy="274320"/>
          </a:xfrm>
          <a:prstGeom prst="rect">
            <a:avLst/>
          </a:prstGeom>
          <a:noFill/>
          <a:ln/>
        </p:spPr>
        <p:txBody>
          <a:bodyPr wrap="square" lIns="0" tIns="0" rIns="0" bIns="0" rtlCol="0" anchor="ctr"/>
          <a:lstStyle/>
          <a:p>
            <a:pPr algn="r" indent="0" marL="0">
              <a:buNone/>
            </a:pPr>
            <a:r>
              <a:rPr lang="en-US" sz="1000" dirty="0">
                <a:solidFill>
                  <a:srgbClr val="6B5A47"/>
                </a:solidFill>
                <a:latin typeface="Yu Gothic" pitchFamily="34" charset="0"/>
                <a:ea typeface="Yu Gothic" pitchFamily="34" charset="-122"/>
                <a:cs typeface="Yu Gothic" pitchFamily="34" charset="-120"/>
              </a:rPr>
              <a:t>工務店様によくあるお悩み</a:t>
            </a:r>
            <a:endParaRPr lang="en-US" sz="1000" dirty="0"/>
          </a:p>
        </p:txBody>
      </p:sp>
      <p:sp>
        <p:nvSpPr>
          <p:cNvPr id="5" name="Shape 3"/>
          <p:cNvSpPr/>
          <p:nvPr/>
        </p:nvSpPr>
        <p:spPr>
          <a:xfrm>
            <a:off x="457200" y="685800"/>
            <a:ext cx="109728" cy="502920"/>
          </a:xfrm>
          <a:prstGeom prst="rect">
            <a:avLst/>
          </a:prstGeom>
          <a:solidFill>
            <a:srgbClr val="E8740C"/>
          </a:solidFill>
          <a:ln w="12700">
            <a:solidFill>
              <a:srgbClr val="E8740C"/>
            </a:solidFill>
            <a:prstDash val="solid"/>
          </a:ln>
        </p:spPr>
      </p:sp>
      <p:sp>
        <p:nvSpPr>
          <p:cNvPr id="6" name="Text 4"/>
          <p:cNvSpPr/>
          <p:nvPr/>
        </p:nvSpPr>
        <p:spPr>
          <a:xfrm>
            <a:off x="685800" y="640080"/>
            <a:ext cx="8229600" cy="594360"/>
          </a:xfrm>
          <a:prstGeom prst="rect">
            <a:avLst/>
          </a:prstGeom>
          <a:noFill/>
          <a:ln/>
        </p:spPr>
        <p:txBody>
          <a:bodyPr wrap="square" lIns="0" tIns="0" rIns="0" bIns="0" rtlCol="0" anchor="ctr"/>
          <a:lstStyle/>
          <a:p>
            <a:pPr algn="l" indent="0" marL="0">
              <a:buNone/>
            </a:pPr>
            <a:r>
              <a:rPr lang="en-US" sz="2600" b="1" dirty="0">
                <a:solidFill>
                  <a:srgbClr val="2A1700"/>
                </a:solidFill>
                <a:latin typeface="Yu Gothic" pitchFamily="34" charset="0"/>
                <a:ea typeface="Yu Gothic" pitchFamily="34" charset="-122"/>
                <a:cs typeface="Yu Gothic" pitchFamily="34" charset="-120"/>
              </a:rPr>
              <a:t>集客の現場で、こんなお声をよく伺います</a:t>
            </a:r>
            <a:endParaRPr lang="en-US" sz="2600" dirty="0"/>
          </a:p>
        </p:txBody>
      </p:sp>
      <p:sp>
        <p:nvSpPr>
          <p:cNvPr id="7" name="Shape 5"/>
          <p:cNvSpPr/>
          <p:nvPr/>
        </p:nvSpPr>
        <p:spPr>
          <a:xfrm>
            <a:off x="457200" y="1691640"/>
            <a:ext cx="2679192" cy="1234440"/>
          </a:xfrm>
          <a:prstGeom prst="rect">
            <a:avLst/>
          </a:prstGeom>
          <a:solidFill>
            <a:srgbClr val="FFF8F0"/>
          </a:solidFill>
          <a:ln w="12700">
            <a:solidFill>
              <a:srgbClr val="EBDFD0"/>
            </a:solidFill>
            <a:prstDash val="solid"/>
          </a:ln>
        </p:spPr>
      </p:sp>
      <p:sp>
        <p:nvSpPr>
          <p:cNvPr id="8" name="Text 6"/>
          <p:cNvSpPr/>
          <p:nvPr/>
        </p:nvSpPr>
        <p:spPr>
          <a:xfrm>
            <a:off x="548640" y="1764792"/>
            <a:ext cx="548640" cy="320040"/>
          </a:xfrm>
          <a:prstGeom prst="rect">
            <a:avLst/>
          </a:prstGeom>
          <a:noFill/>
          <a:ln/>
        </p:spPr>
        <p:txBody>
          <a:bodyPr wrap="square" lIns="0" tIns="0" rIns="0" bIns="0" rtlCol="0" anchor="ctr"/>
          <a:lstStyle/>
          <a:p>
            <a:pPr algn="l" indent="0" marL="0">
              <a:buNone/>
            </a:pPr>
            <a:r>
              <a:rPr lang="en-US" sz="1100" b="1" dirty="0">
                <a:solidFill>
                  <a:srgbClr val="E8740C"/>
                </a:solidFill>
                <a:latin typeface="Yu Gothic" pitchFamily="34" charset="0"/>
                <a:ea typeface="Yu Gothic" pitchFamily="34" charset="-122"/>
                <a:cs typeface="Yu Gothic" pitchFamily="34" charset="-120"/>
              </a:rPr>
              <a:t>01</a:t>
            </a:r>
            <a:endParaRPr lang="en-US" sz="1100" dirty="0"/>
          </a:p>
        </p:txBody>
      </p:sp>
      <p:sp>
        <p:nvSpPr>
          <p:cNvPr id="9" name="Text 7"/>
          <p:cNvSpPr/>
          <p:nvPr/>
        </p:nvSpPr>
        <p:spPr>
          <a:xfrm>
            <a:off x="594360" y="1984248"/>
            <a:ext cx="2404872" cy="365760"/>
          </a:xfrm>
          <a:prstGeom prst="rect">
            <a:avLst/>
          </a:prstGeom>
          <a:noFill/>
          <a:ln/>
        </p:spPr>
        <p:txBody>
          <a:bodyPr wrap="square" lIns="0" tIns="0" rIns="0" bIns="0" rtlCol="0" anchor="ctr"/>
          <a:lstStyle/>
          <a:p>
            <a:pPr algn="l" indent="0" marL="0">
              <a:buNone/>
            </a:pPr>
            <a:r>
              <a:rPr lang="en-US" sz="1400" b="1" dirty="0">
                <a:solidFill>
                  <a:srgbClr val="2A1700"/>
                </a:solidFill>
                <a:latin typeface="Yu Gothic" pitchFamily="34" charset="0"/>
                <a:ea typeface="Yu Gothic" pitchFamily="34" charset="-122"/>
                <a:cs typeface="Yu Gothic" pitchFamily="34" charset="-120"/>
              </a:rPr>
              <a:t>反響の質が低い</a:t>
            </a:r>
            <a:endParaRPr lang="en-US" sz="1400" dirty="0"/>
          </a:p>
        </p:txBody>
      </p:sp>
      <p:sp>
        <p:nvSpPr>
          <p:cNvPr id="10" name="Text 8"/>
          <p:cNvSpPr/>
          <p:nvPr/>
        </p:nvSpPr>
        <p:spPr>
          <a:xfrm>
            <a:off x="594360" y="2350008"/>
            <a:ext cx="2404872" cy="548640"/>
          </a:xfrm>
          <a:prstGeom prst="rect">
            <a:avLst/>
          </a:prstGeom>
          <a:noFill/>
          <a:ln/>
        </p:spPr>
        <p:txBody>
          <a:bodyPr wrap="square" lIns="0" tIns="0" rIns="0" bIns="0" rtlCol="0" anchor="t"/>
          <a:lstStyle/>
          <a:p>
            <a:pPr algn="l" indent="0" marL="0">
              <a:buNone/>
            </a:pPr>
            <a:r>
              <a:rPr lang="en-US" sz="1000" dirty="0">
                <a:solidFill>
                  <a:srgbClr val="3D2200"/>
                </a:solidFill>
                <a:latin typeface="Yu Gothic" pitchFamily="34" charset="0"/>
                <a:ea typeface="Yu Gothic" pitchFamily="34" charset="-122"/>
                <a:cs typeface="Yu Gothic" pitchFamily="34" charset="-120"/>
              </a:rPr>
              <a:t>ポータルに月10万円以上払っているのに、冷やかしの問い合わせばかり</a:t>
            </a:r>
            <a:endParaRPr lang="en-US" sz="1000" dirty="0"/>
          </a:p>
        </p:txBody>
      </p:sp>
      <p:sp>
        <p:nvSpPr>
          <p:cNvPr id="11" name="Shape 9"/>
          <p:cNvSpPr/>
          <p:nvPr/>
        </p:nvSpPr>
        <p:spPr>
          <a:xfrm>
            <a:off x="3209544" y="1691640"/>
            <a:ext cx="2679192" cy="1234440"/>
          </a:xfrm>
          <a:prstGeom prst="rect">
            <a:avLst/>
          </a:prstGeom>
          <a:solidFill>
            <a:srgbClr val="FFF8F0"/>
          </a:solidFill>
          <a:ln w="12700">
            <a:solidFill>
              <a:srgbClr val="EBDFD0"/>
            </a:solidFill>
            <a:prstDash val="solid"/>
          </a:ln>
        </p:spPr>
      </p:sp>
      <p:sp>
        <p:nvSpPr>
          <p:cNvPr id="12" name="Text 10"/>
          <p:cNvSpPr/>
          <p:nvPr/>
        </p:nvSpPr>
        <p:spPr>
          <a:xfrm>
            <a:off x="3300984" y="1764792"/>
            <a:ext cx="548640" cy="320040"/>
          </a:xfrm>
          <a:prstGeom prst="rect">
            <a:avLst/>
          </a:prstGeom>
          <a:noFill/>
          <a:ln/>
        </p:spPr>
        <p:txBody>
          <a:bodyPr wrap="square" lIns="0" tIns="0" rIns="0" bIns="0" rtlCol="0" anchor="ctr"/>
          <a:lstStyle/>
          <a:p>
            <a:pPr algn="l" indent="0" marL="0">
              <a:buNone/>
            </a:pPr>
            <a:r>
              <a:rPr lang="en-US" sz="1100" b="1" dirty="0">
                <a:solidFill>
                  <a:srgbClr val="E8740C"/>
                </a:solidFill>
                <a:latin typeface="Yu Gothic" pitchFamily="34" charset="0"/>
                <a:ea typeface="Yu Gothic" pitchFamily="34" charset="-122"/>
                <a:cs typeface="Yu Gothic" pitchFamily="34" charset="-120"/>
              </a:rPr>
              <a:t>02</a:t>
            </a:r>
            <a:endParaRPr lang="en-US" sz="1100" dirty="0"/>
          </a:p>
        </p:txBody>
      </p:sp>
      <p:sp>
        <p:nvSpPr>
          <p:cNvPr id="13" name="Text 11"/>
          <p:cNvSpPr/>
          <p:nvPr/>
        </p:nvSpPr>
        <p:spPr>
          <a:xfrm>
            <a:off x="3346704" y="1984248"/>
            <a:ext cx="2404872" cy="365760"/>
          </a:xfrm>
          <a:prstGeom prst="rect">
            <a:avLst/>
          </a:prstGeom>
          <a:noFill/>
          <a:ln/>
        </p:spPr>
        <p:txBody>
          <a:bodyPr wrap="square" lIns="0" tIns="0" rIns="0" bIns="0" rtlCol="0" anchor="ctr"/>
          <a:lstStyle/>
          <a:p>
            <a:pPr algn="l" indent="0" marL="0">
              <a:buNone/>
            </a:pPr>
            <a:r>
              <a:rPr lang="en-US" sz="1400" b="1" dirty="0">
                <a:solidFill>
                  <a:srgbClr val="2A1700"/>
                </a:solidFill>
                <a:latin typeface="Yu Gothic" pitchFamily="34" charset="0"/>
                <a:ea typeface="Yu Gothic" pitchFamily="34" charset="-122"/>
                <a:cs typeface="Yu Gothic" pitchFamily="34" charset="-120"/>
              </a:rPr>
              <a:t>来場につながらない</a:t>
            </a:r>
            <a:endParaRPr lang="en-US" sz="1400" dirty="0"/>
          </a:p>
        </p:txBody>
      </p:sp>
      <p:sp>
        <p:nvSpPr>
          <p:cNvPr id="14" name="Text 12"/>
          <p:cNvSpPr/>
          <p:nvPr/>
        </p:nvSpPr>
        <p:spPr>
          <a:xfrm>
            <a:off x="3346704" y="2350008"/>
            <a:ext cx="2404872" cy="548640"/>
          </a:xfrm>
          <a:prstGeom prst="rect">
            <a:avLst/>
          </a:prstGeom>
          <a:noFill/>
          <a:ln/>
        </p:spPr>
        <p:txBody>
          <a:bodyPr wrap="square" lIns="0" tIns="0" rIns="0" bIns="0" rtlCol="0" anchor="t"/>
          <a:lstStyle/>
          <a:p>
            <a:pPr algn="l" indent="0" marL="0">
              <a:buNone/>
            </a:pPr>
            <a:r>
              <a:rPr lang="en-US" sz="1000" dirty="0">
                <a:solidFill>
                  <a:srgbClr val="3D2200"/>
                </a:solidFill>
                <a:latin typeface="Yu Gothic" pitchFamily="34" charset="0"/>
                <a:ea typeface="Yu Gothic" pitchFamily="34" charset="-122"/>
                <a:cs typeface="Yu Gothic" pitchFamily="34" charset="-120"/>
              </a:rPr>
              <a:t>資料請求は届くけれど、実際に来場される方はほんの数%</a:t>
            </a:r>
            <a:endParaRPr lang="en-US" sz="1000" dirty="0"/>
          </a:p>
        </p:txBody>
      </p:sp>
      <p:sp>
        <p:nvSpPr>
          <p:cNvPr id="15" name="Shape 13"/>
          <p:cNvSpPr/>
          <p:nvPr/>
        </p:nvSpPr>
        <p:spPr>
          <a:xfrm>
            <a:off x="5961888" y="1691640"/>
            <a:ext cx="2679192" cy="1234440"/>
          </a:xfrm>
          <a:prstGeom prst="rect">
            <a:avLst/>
          </a:prstGeom>
          <a:solidFill>
            <a:srgbClr val="FFF8F0"/>
          </a:solidFill>
          <a:ln w="12700">
            <a:solidFill>
              <a:srgbClr val="EBDFD0"/>
            </a:solidFill>
            <a:prstDash val="solid"/>
          </a:ln>
        </p:spPr>
      </p:sp>
      <p:sp>
        <p:nvSpPr>
          <p:cNvPr id="16" name="Text 14"/>
          <p:cNvSpPr/>
          <p:nvPr/>
        </p:nvSpPr>
        <p:spPr>
          <a:xfrm>
            <a:off x="6053328" y="1764792"/>
            <a:ext cx="548640" cy="320040"/>
          </a:xfrm>
          <a:prstGeom prst="rect">
            <a:avLst/>
          </a:prstGeom>
          <a:noFill/>
          <a:ln/>
        </p:spPr>
        <p:txBody>
          <a:bodyPr wrap="square" lIns="0" tIns="0" rIns="0" bIns="0" rtlCol="0" anchor="ctr"/>
          <a:lstStyle/>
          <a:p>
            <a:pPr algn="l" indent="0" marL="0">
              <a:buNone/>
            </a:pPr>
            <a:r>
              <a:rPr lang="en-US" sz="1100" b="1" dirty="0">
                <a:solidFill>
                  <a:srgbClr val="E8740C"/>
                </a:solidFill>
                <a:latin typeface="Yu Gothic" pitchFamily="34" charset="0"/>
                <a:ea typeface="Yu Gothic" pitchFamily="34" charset="-122"/>
                <a:cs typeface="Yu Gothic" pitchFamily="34" charset="-120"/>
              </a:rPr>
              <a:t>03</a:t>
            </a:r>
            <a:endParaRPr lang="en-US" sz="1100" dirty="0"/>
          </a:p>
        </p:txBody>
      </p:sp>
      <p:sp>
        <p:nvSpPr>
          <p:cNvPr id="17" name="Text 15"/>
          <p:cNvSpPr/>
          <p:nvPr/>
        </p:nvSpPr>
        <p:spPr>
          <a:xfrm>
            <a:off x="6099048" y="1984248"/>
            <a:ext cx="2404872" cy="365760"/>
          </a:xfrm>
          <a:prstGeom prst="rect">
            <a:avLst/>
          </a:prstGeom>
          <a:noFill/>
          <a:ln/>
        </p:spPr>
        <p:txBody>
          <a:bodyPr wrap="square" lIns="0" tIns="0" rIns="0" bIns="0" rtlCol="0" anchor="ctr"/>
          <a:lstStyle/>
          <a:p>
            <a:pPr algn="l" indent="0" marL="0">
              <a:buNone/>
            </a:pPr>
            <a:r>
              <a:rPr lang="en-US" sz="1400" b="1" dirty="0">
                <a:solidFill>
                  <a:srgbClr val="2A1700"/>
                </a:solidFill>
                <a:latin typeface="Yu Gothic" pitchFamily="34" charset="0"/>
                <a:ea typeface="Yu Gothic" pitchFamily="34" charset="-122"/>
                <a:cs typeface="Yu Gothic" pitchFamily="34" charset="-120"/>
              </a:rPr>
              <a:t>価格だけで比較される</a:t>
            </a:r>
            <a:endParaRPr lang="en-US" sz="1400" dirty="0"/>
          </a:p>
        </p:txBody>
      </p:sp>
      <p:sp>
        <p:nvSpPr>
          <p:cNvPr id="18" name="Text 16"/>
          <p:cNvSpPr/>
          <p:nvPr/>
        </p:nvSpPr>
        <p:spPr>
          <a:xfrm>
            <a:off x="6099048" y="2350008"/>
            <a:ext cx="2404872" cy="548640"/>
          </a:xfrm>
          <a:prstGeom prst="rect">
            <a:avLst/>
          </a:prstGeom>
          <a:noFill/>
          <a:ln/>
        </p:spPr>
        <p:txBody>
          <a:bodyPr wrap="square" lIns="0" tIns="0" rIns="0" bIns="0" rtlCol="0" anchor="t"/>
          <a:lstStyle/>
          <a:p>
            <a:pPr algn="l" indent="0" marL="0">
              <a:buNone/>
            </a:pPr>
            <a:r>
              <a:rPr lang="en-US" sz="1000" dirty="0">
                <a:solidFill>
                  <a:srgbClr val="3D2200"/>
                </a:solidFill>
                <a:latin typeface="Yu Gothic" pitchFamily="34" charset="0"/>
                <a:ea typeface="Yu Gothic" pitchFamily="34" charset="-122"/>
                <a:cs typeface="Yu Gothic" pitchFamily="34" charset="-120"/>
              </a:rPr>
              <a:t>ハウスメーカーと同じ並びで、強みや哲学が埋もれてしまう</a:t>
            </a:r>
            <a:endParaRPr lang="en-US" sz="1000" dirty="0"/>
          </a:p>
        </p:txBody>
      </p:sp>
      <p:sp>
        <p:nvSpPr>
          <p:cNvPr id="19" name="Shape 17"/>
          <p:cNvSpPr/>
          <p:nvPr/>
        </p:nvSpPr>
        <p:spPr>
          <a:xfrm>
            <a:off x="457200" y="3035808"/>
            <a:ext cx="2679192" cy="1234440"/>
          </a:xfrm>
          <a:prstGeom prst="rect">
            <a:avLst/>
          </a:prstGeom>
          <a:solidFill>
            <a:srgbClr val="FFF8F0"/>
          </a:solidFill>
          <a:ln w="12700">
            <a:solidFill>
              <a:srgbClr val="EBDFD0"/>
            </a:solidFill>
            <a:prstDash val="solid"/>
          </a:ln>
        </p:spPr>
      </p:sp>
      <p:sp>
        <p:nvSpPr>
          <p:cNvPr id="20" name="Text 18"/>
          <p:cNvSpPr/>
          <p:nvPr/>
        </p:nvSpPr>
        <p:spPr>
          <a:xfrm>
            <a:off x="548640" y="3108960"/>
            <a:ext cx="548640" cy="320040"/>
          </a:xfrm>
          <a:prstGeom prst="rect">
            <a:avLst/>
          </a:prstGeom>
          <a:noFill/>
          <a:ln/>
        </p:spPr>
        <p:txBody>
          <a:bodyPr wrap="square" lIns="0" tIns="0" rIns="0" bIns="0" rtlCol="0" anchor="ctr"/>
          <a:lstStyle/>
          <a:p>
            <a:pPr algn="l" indent="0" marL="0">
              <a:buNone/>
            </a:pPr>
            <a:r>
              <a:rPr lang="en-US" sz="1100" b="1" dirty="0">
                <a:solidFill>
                  <a:srgbClr val="E8740C"/>
                </a:solidFill>
                <a:latin typeface="Yu Gothic" pitchFamily="34" charset="0"/>
                <a:ea typeface="Yu Gothic" pitchFamily="34" charset="-122"/>
                <a:cs typeface="Yu Gothic" pitchFamily="34" charset="-120"/>
              </a:rPr>
              <a:t>04</a:t>
            </a:r>
            <a:endParaRPr lang="en-US" sz="1100" dirty="0"/>
          </a:p>
        </p:txBody>
      </p:sp>
      <p:sp>
        <p:nvSpPr>
          <p:cNvPr id="21" name="Text 19"/>
          <p:cNvSpPr/>
          <p:nvPr/>
        </p:nvSpPr>
        <p:spPr>
          <a:xfrm>
            <a:off x="594360" y="3328416"/>
            <a:ext cx="2404872" cy="365760"/>
          </a:xfrm>
          <a:prstGeom prst="rect">
            <a:avLst/>
          </a:prstGeom>
          <a:noFill/>
          <a:ln/>
        </p:spPr>
        <p:txBody>
          <a:bodyPr wrap="square" lIns="0" tIns="0" rIns="0" bIns="0" rtlCol="0" anchor="ctr"/>
          <a:lstStyle/>
          <a:p>
            <a:pPr algn="l" indent="0" marL="0">
              <a:buNone/>
            </a:pPr>
            <a:r>
              <a:rPr lang="en-US" sz="1400" b="1" dirty="0">
                <a:solidFill>
                  <a:srgbClr val="2A1700"/>
                </a:solidFill>
                <a:latin typeface="Yu Gothic" pitchFamily="34" charset="0"/>
                <a:ea typeface="Yu Gothic" pitchFamily="34" charset="-122"/>
                <a:cs typeface="Yu Gothic" pitchFamily="34" charset="-120"/>
              </a:rPr>
              <a:t>営業がしづらい</a:t>
            </a:r>
            <a:endParaRPr lang="en-US" sz="1400" dirty="0"/>
          </a:p>
        </p:txBody>
      </p:sp>
      <p:sp>
        <p:nvSpPr>
          <p:cNvPr id="22" name="Text 20"/>
          <p:cNvSpPr/>
          <p:nvPr/>
        </p:nvSpPr>
        <p:spPr>
          <a:xfrm>
            <a:off x="594360" y="3694176"/>
            <a:ext cx="2404872" cy="548640"/>
          </a:xfrm>
          <a:prstGeom prst="rect">
            <a:avLst/>
          </a:prstGeom>
          <a:noFill/>
          <a:ln/>
        </p:spPr>
        <p:txBody>
          <a:bodyPr wrap="square" lIns="0" tIns="0" rIns="0" bIns="0" rtlCol="0" anchor="t"/>
          <a:lstStyle/>
          <a:p>
            <a:pPr algn="l" indent="0" marL="0">
              <a:buNone/>
            </a:pPr>
            <a:r>
              <a:rPr lang="en-US" sz="1000" dirty="0">
                <a:solidFill>
                  <a:srgbClr val="3D2200"/>
                </a:solidFill>
                <a:latin typeface="Yu Gothic" pitchFamily="34" charset="0"/>
                <a:ea typeface="Yu Gothic" pitchFamily="34" charset="-122"/>
                <a:cs typeface="Yu Gothic" pitchFamily="34" charset="-120"/>
              </a:rPr>
              <a:t>初対面の段階で「しつこい営業は嫌だ」と身構えられてしまう</a:t>
            </a:r>
            <a:endParaRPr lang="en-US" sz="1000" dirty="0"/>
          </a:p>
        </p:txBody>
      </p:sp>
      <p:sp>
        <p:nvSpPr>
          <p:cNvPr id="23" name="Shape 21"/>
          <p:cNvSpPr/>
          <p:nvPr/>
        </p:nvSpPr>
        <p:spPr>
          <a:xfrm>
            <a:off x="3209544" y="3035808"/>
            <a:ext cx="2679192" cy="1234440"/>
          </a:xfrm>
          <a:prstGeom prst="rect">
            <a:avLst/>
          </a:prstGeom>
          <a:solidFill>
            <a:srgbClr val="FFF8F0"/>
          </a:solidFill>
          <a:ln w="12700">
            <a:solidFill>
              <a:srgbClr val="EBDFD0"/>
            </a:solidFill>
            <a:prstDash val="solid"/>
          </a:ln>
        </p:spPr>
      </p:sp>
      <p:sp>
        <p:nvSpPr>
          <p:cNvPr id="24" name="Text 22"/>
          <p:cNvSpPr/>
          <p:nvPr/>
        </p:nvSpPr>
        <p:spPr>
          <a:xfrm>
            <a:off x="3300984" y="3108960"/>
            <a:ext cx="548640" cy="320040"/>
          </a:xfrm>
          <a:prstGeom prst="rect">
            <a:avLst/>
          </a:prstGeom>
          <a:noFill/>
          <a:ln/>
        </p:spPr>
        <p:txBody>
          <a:bodyPr wrap="square" lIns="0" tIns="0" rIns="0" bIns="0" rtlCol="0" anchor="ctr"/>
          <a:lstStyle/>
          <a:p>
            <a:pPr algn="l" indent="0" marL="0">
              <a:buNone/>
            </a:pPr>
            <a:r>
              <a:rPr lang="en-US" sz="1100" b="1" dirty="0">
                <a:solidFill>
                  <a:srgbClr val="E8740C"/>
                </a:solidFill>
                <a:latin typeface="Yu Gothic" pitchFamily="34" charset="0"/>
                <a:ea typeface="Yu Gothic" pitchFamily="34" charset="-122"/>
                <a:cs typeface="Yu Gothic" pitchFamily="34" charset="-120"/>
              </a:rPr>
              <a:t>05</a:t>
            </a:r>
            <a:endParaRPr lang="en-US" sz="1100" dirty="0"/>
          </a:p>
        </p:txBody>
      </p:sp>
      <p:sp>
        <p:nvSpPr>
          <p:cNvPr id="25" name="Text 23"/>
          <p:cNvSpPr/>
          <p:nvPr/>
        </p:nvSpPr>
        <p:spPr>
          <a:xfrm>
            <a:off x="3346704" y="3328416"/>
            <a:ext cx="2404872" cy="365760"/>
          </a:xfrm>
          <a:prstGeom prst="rect">
            <a:avLst/>
          </a:prstGeom>
          <a:noFill/>
          <a:ln/>
        </p:spPr>
        <p:txBody>
          <a:bodyPr wrap="square" lIns="0" tIns="0" rIns="0" bIns="0" rtlCol="0" anchor="ctr"/>
          <a:lstStyle/>
          <a:p>
            <a:pPr algn="l" indent="0" marL="0">
              <a:buNone/>
            </a:pPr>
            <a:r>
              <a:rPr lang="en-US" sz="1400" b="1" dirty="0">
                <a:solidFill>
                  <a:srgbClr val="2A1700"/>
                </a:solidFill>
                <a:latin typeface="Yu Gothic" pitchFamily="34" charset="0"/>
                <a:ea typeface="Yu Gothic" pitchFamily="34" charset="-122"/>
                <a:cs typeface="Yu Gothic" pitchFamily="34" charset="-120"/>
              </a:rPr>
              <a:t>発信のノウハウがない</a:t>
            </a:r>
            <a:endParaRPr lang="en-US" sz="1400" dirty="0"/>
          </a:p>
        </p:txBody>
      </p:sp>
      <p:sp>
        <p:nvSpPr>
          <p:cNvPr id="26" name="Text 24"/>
          <p:cNvSpPr/>
          <p:nvPr/>
        </p:nvSpPr>
        <p:spPr>
          <a:xfrm>
            <a:off x="3346704" y="3694176"/>
            <a:ext cx="2404872" cy="548640"/>
          </a:xfrm>
          <a:prstGeom prst="rect">
            <a:avLst/>
          </a:prstGeom>
          <a:noFill/>
          <a:ln/>
        </p:spPr>
        <p:txBody>
          <a:bodyPr wrap="square" lIns="0" tIns="0" rIns="0" bIns="0" rtlCol="0" anchor="t"/>
          <a:lstStyle/>
          <a:p>
            <a:pPr algn="l" indent="0" marL="0">
              <a:buNone/>
            </a:pPr>
            <a:r>
              <a:rPr lang="en-US" sz="1000" dirty="0">
                <a:solidFill>
                  <a:srgbClr val="3D2200"/>
                </a:solidFill>
                <a:latin typeface="Yu Gothic" pitchFamily="34" charset="0"/>
                <a:ea typeface="Yu Gothic" pitchFamily="34" charset="-122"/>
                <a:cs typeface="Yu Gothic" pitchFamily="34" charset="-120"/>
              </a:rPr>
              <a:t>SNSやYouTubeを始めたいが、撮影・編集のノウハウも時間もない</a:t>
            </a:r>
            <a:endParaRPr lang="en-US" sz="1000" dirty="0"/>
          </a:p>
        </p:txBody>
      </p:sp>
      <p:sp>
        <p:nvSpPr>
          <p:cNvPr id="27" name="Shape 25"/>
          <p:cNvSpPr/>
          <p:nvPr/>
        </p:nvSpPr>
        <p:spPr>
          <a:xfrm>
            <a:off x="5961888" y="3035808"/>
            <a:ext cx="2679192" cy="1234440"/>
          </a:xfrm>
          <a:prstGeom prst="rect">
            <a:avLst/>
          </a:prstGeom>
          <a:solidFill>
            <a:srgbClr val="FFF8F0"/>
          </a:solidFill>
          <a:ln w="12700">
            <a:solidFill>
              <a:srgbClr val="EBDFD0"/>
            </a:solidFill>
            <a:prstDash val="solid"/>
          </a:ln>
        </p:spPr>
      </p:sp>
      <p:sp>
        <p:nvSpPr>
          <p:cNvPr id="28" name="Text 26"/>
          <p:cNvSpPr/>
          <p:nvPr/>
        </p:nvSpPr>
        <p:spPr>
          <a:xfrm>
            <a:off x="6053328" y="3108960"/>
            <a:ext cx="548640" cy="320040"/>
          </a:xfrm>
          <a:prstGeom prst="rect">
            <a:avLst/>
          </a:prstGeom>
          <a:noFill/>
          <a:ln/>
        </p:spPr>
        <p:txBody>
          <a:bodyPr wrap="square" lIns="0" tIns="0" rIns="0" bIns="0" rtlCol="0" anchor="ctr"/>
          <a:lstStyle/>
          <a:p>
            <a:pPr algn="l" indent="0" marL="0">
              <a:buNone/>
            </a:pPr>
            <a:r>
              <a:rPr lang="en-US" sz="1100" b="1" dirty="0">
                <a:solidFill>
                  <a:srgbClr val="E8740C"/>
                </a:solidFill>
                <a:latin typeface="Yu Gothic" pitchFamily="34" charset="0"/>
                <a:ea typeface="Yu Gothic" pitchFamily="34" charset="-122"/>
                <a:cs typeface="Yu Gothic" pitchFamily="34" charset="-120"/>
              </a:rPr>
              <a:t>06</a:t>
            </a:r>
            <a:endParaRPr lang="en-US" sz="1100" dirty="0"/>
          </a:p>
        </p:txBody>
      </p:sp>
      <p:sp>
        <p:nvSpPr>
          <p:cNvPr id="29" name="Text 27"/>
          <p:cNvSpPr/>
          <p:nvPr/>
        </p:nvSpPr>
        <p:spPr>
          <a:xfrm>
            <a:off x="6099048" y="3328416"/>
            <a:ext cx="2404872" cy="365760"/>
          </a:xfrm>
          <a:prstGeom prst="rect">
            <a:avLst/>
          </a:prstGeom>
          <a:noFill/>
          <a:ln/>
        </p:spPr>
        <p:txBody>
          <a:bodyPr wrap="square" lIns="0" tIns="0" rIns="0" bIns="0" rtlCol="0" anchor="ctr"/>
          <a:lstStyle/>
          <a:p>
            <a:pPr algn="l" indent="0" marL="0">
              <a:buNone/>
            </a:pPr>
            <a:r>
              <a:rPr lang="en-US" sz="1400" b="1" dirty="0">
                <a:solidFill>
                  <a:srgbClr val="2A1700"/>
                </a:solidFill>
                <a:latin typeface="Yu Gothic" pitchFamily="34" charset="0"/>
                <a:ea typeface="Yu Gothic" pitchFamily="34" charset="-122"/>
                <a:cs typeface="Yu Gothic" pitchFamily="34" charset="-120"/>
              </a:rPr>
              <a:t>反響の見える化不足</a:t>
            </a:r>
            <a:endParaRPr lang="en-US" sz="1400" dirty="0"/>
          </a:p>
        </p:txBody>
      </p:sp>
      <p:sp>
        <p:nvSpPr>
          <p:cNvPr id="30" name="Text 28"/>
          <p:cNvSpPr/>
          <p:nvPr/>
        </p:nvSpPr>
        <p:spPr>
          <a:xfrm>
            <a:off x="6099048" y="3694176"/>
            <a:ext cx="2404872" cy="548640"/>
          </a:xfrm>
          <a:prstGeom prst="rect">
            <a:avLst/>
          </a:prstGeom>
          <a:noFill/>
          <a:ln/>
        </p:spPr>
        <p:txBody>
          <a:bodyPr wrap="square" lIns="0" tIns="0" rIns="0" bIns="0" rtlCol="0" anchor="t"/>
          <a:lstStyle/>
          <a:p>
            <a:pPr algn="l" indent="0" marL="0">
              <a:buNone/>
            </a:pPr>
            <a:r>
              <a:rPr lang="en-US" sz="1000" dirty="0">
                <a:solidFill>
                  <a:srgbClr val="3D2200"/>
                </a:solidFill>
                <a:latin typeface="Yu Gothic" pitchFamily="34" charset="0"/>
                <a:ea typeface="Yu Gothic" pitchFamily="34" charset="-122"/>
                <a:cs typeface="Yu Gothic" pitchFamily="34" charset="-120"/>
              </a:rPr>
              <a:t>広告費をかけても、どんな方が来場したのかが把握できない</a:t>
            </a:r>
            <a:endParaRPr lang="en-US" sz="1000" dirty="0"/>
          </a:p>
        </p:txBody>
      </p:sp>
      <p:sp>
        <p:nvSpPr>
          <p:cNvPr id="31" name="Text 29"/>
          <p:cNvSpPr/>
          <p:nvPr/>
        </p:nvSpPr>
        <p:spPr>
          <a:xfrm>
            <a:off x="457200" y="4526280"/>
            <a:ext cx="8229600" cy="320040"/>
          </a:xfrm>
          <a:prstGeom prst="rect">
            <a:avLst/>
          </a:prstGeom>
          <a:noFill/>
          <a:ln/>
        </p:spPr>
        <p:txBody>
          <a:bodyPr wrap="square" lIns="0" tIns="0" rIns="0" bIns="0" rtlCol="0" anchor="ctr"/>
          <a:lstStyle/>
          <a:p>
            <a:pPr algn="ctr" indent="0" marL="0">
              <a:buNone/>
            </a:pPr>
            <a:r>
              <a:rPr lang="en-US" sz="1100" i="1" dirty="0">
                <a:solidFill>
                  <a:srgbClr val="6B5A47"/>
                </a:solidFill>
                <a:latin typeface="Yu Gothic" pitchFamily="34" charset="0"/>
                <a:ea typeface="Yu Gothic" pitchFamily="34" charset="-122"/>
                <a:cs typeface="Yu Gothic" pitchFamily="34" charset="-120"/>
              </a:rPr>
              <a:t>これらは、情報発信の仕組みが時代とズレ始めているからです。ぺいほーむは、この仕組みそのものを変えていきたいと考えています。</a:t>
            </a:r>
            <a:endParaRPr lang="en-US" sz="1100" dirty="0"/>
          </a:p>
        </p:txBody>
      </p:sp>
      <p:sp>
        <p:nvSpPr>
          <p:cNvPr id="32" name="Shape 30"/>
          <p:cNvSpPr/>
          <p:nvPr/>
        </p:nvSpPr>
        <p:spPr>
          <a:xfrm>
            <a:off x="365760" y="4823460"/>
            <a:ext cx="8412480" cy="0"/>
          </a:xfrm>
          <a:prstGeom prst="line">
            <a:avLst/>
          </a:prstGeom>
          <a:noFill/>
          <a:ln w="9525">
            <a:solidFill>
              <a:srgbClr val="EBDFD0"/>
            </a:solidFill>
            <a:prstDash val="solid"/>
          </a:ln>
        </p:spPr>
      </p:sp>
      <p:sp>
        <p:nvSpPr>
          <p:cNvPr id="33" name="Text 31"/>
          <p:cNvSpPr/>
          <p:nvPr/>
        </p:nvSpPr>
        <p:spPr>
          <a:xfrm>
            <a:off x="365760" y="4850892"/>
            <a:ext cx="4572000" cy="274320"/>
          </a:xfrm>
          <a:prstGeom prst="rect">
            <a:avLst/>
          </a:prstGeom>
          <a:noFill/>
          <a:ln/>
        </p:spPr>
        <p:txBody>
          <a:bodyPr wrap="square" lIns="0" tIns="0" rIns="0" bIns="0" rtlCol="0" anchor="ctr"/>
          <a:lstStyle/>
          <a:p>
            <a:pPr algn="l" indent="0" marL="0">
              <a:buNone/>
            </a:pPr>
            <a:r>
              <a:rPr lang="en-US" sz="900" dirty="0">
                <a:solidFill>
                  <a:srgbClr val="6B5A47"/>
                </a:solidFill>
                <a:latin typeface="Yu Gothic" pitchFamily="34" charset="0"/>
                <a:ea typeface="Yu Gothic" pitchFamily="34" charset="-122"/>
                <a:cs typeface="Yu Gothic" pitchFamily="34" charset="-120"/>
              </a:rPr>
              <a:t>ぺいほーむ ポータルサイト</a:t>
            </a:r>
            <a:endParaRPr lang="en-US" sz="900" dirty="0"/>
          </a:p>
        </p:txBody>
      </p:sp>
      <p:sp>
        <p:nvSpPr>
          <p:cNvPr id="34" name="Text 32"/>
          <p:cNvSpPr/>
          <p:nvPr/>
        </p:nvSpPr>
        <p:spPr>
          <a:xfrm>
            <a:off x="4206240" y="4850892"/>
            <a:ext cx="4572000" cy="274320"/>
          </a:xfrm>
          <a:prstGeom prst="rect">
            <a:avLst/>
          </a:prstGeom>
          <a:noFill/>
          <a:ln/>
        </p:spPr>
        <p:txBody>
          <a:bodyPr wrap="square" lIns="0" tIns="0" rIns="0" bIns="0" rtlCol="0" anchor="ctr"/>
          <a:lstStyle/>
          <a:p>
            <a:pPr algn="r" indent="0" marL="0">
              <a:buNone/>
            </a:pPr>
            <a:r>
              <a:rPr lang="en-US" sz="900" i="1" dirty="0">
                <a:solidFill>
                  <a:srgbClr val="6B5A47"/>
                </a:solidFill>
                <a:latin typeface="Yu Gothic" pitchFamily="34" charset="0"/>
                <a:ea typeface="Yu Gothic" pitchFamily="34" charset="-122"/>
                <a:cs typeface="Yu Gothic" pitchFamily="34" charset="-120"/>
              </a:rPr>
              <a:t>本気の出会いを、誠実に。</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8740C"/>
          </a:solidFill>
          <a:ln w="12700">
            <a:solidFill>
              <a:srgbClr val="E8740C"/>
            </a:solidFill>
            <a:prstDash val="solid"/>
          </a:ln>
        </p:spPr>
      </p:sp>
      <p:sp>
        <p:nvSpPr>
          <p:cNvPr id="3" name="Text 1"/>
          <p:cNvSpPr/>
          <p:nvPr/>
        </p:nvSpPr>
        <p:spPr>
          <a:xfrm>
            <a:off x="365760" y="182880"/>
            <a:ext cx="1097280" cy="274320"/>
          </a:xfrm>
          <a:prstGeom prst="rect">
            <a:avLst/>
          </a:prstGeom>
          <a:noFill/>
          <a:ln/>
        </p:spPr>
        <p:txBody>
          <a:bodyPr wrap="square" lIns="0" tIns="0" rIns="0" bIns="0" rtlCol="0" anchor="ctr"/>
          <a:lstStyle/>
          <a:p>
            <a:pPr algn="l" indent="0" marL="0">
              <a:buNone/>
            </a:pPr>
            <a:r>
              <a:rPr lang="en-US" sz="1000" b="1" dirty="0">
                <a:solidFill>
                  <a:srgbClr val="E8740C"/>
                </a:solidFill>
                <a:latin typeface="Yu Gothic" pitchFamily="34" charset="0"/>
                <a:ea typeface="Yu Gothic" pitchFamily="34" charset="-122"/>
                <a:cs typeface="Yu Gothic" pitchFamily="34" charset="-120"/>
              </a:rPr>
              <a:t>05 / 20</a:t>
            </a:r>
            <a:endParaRPr lang="en-US" sz="1000" dirty="0"/>
          </a:p>
        </p:txBody>
      </p:sp>
      <p:sp>
        <p:nvSpPr>
          <p:cNvPr id="4" name="Text 2"/>
          <p:cNvSpPr/>
          <p:nvPr/>
        </p:nvSpPr>
        <p:spPr>
          <a:xfrm>
            <a:off x="1554480" y="182880"/>
            <a:ext cx="7223760" cy="274320"/>
          </a:xfrm>
          <a:prstGeom prst="rect">
            <a:avLst/>
          </a:prstGeom>
          <a:noFill/>
          <a:ln/>
        </p:spPr>
        <p:txBody>
          <a:bodyPr wrap="square" lIns="0" tIns="0" rIns="0" bIns="0" rtlCol="0" anchor="ctr"/>
          <a:lstStyle/>
          <a:p>
            <a:pPr algn="r" indent="0" marL="0">
              <a:buNone/>
            </a:pPr>
            <a:r>
              <a:rPr lang="en-US" sz="1000" dirty="0">
                <a:solidFill>
                  <a:srgbClr val="6B5A47"/>
                </a:solidFill>
                <a:latin typeface="Yu Gothic" pitchFamily="34" charset="0"/>
                <a:ea typeface="Yu Gothic" pitchFamily="34" charset="-122"/>
                <a:cs typeface="Yu Gothic" pitchFamily="34" charset="-120"/>
              </a:rPr>
              <a:t>従来の資料請求が抱える構造的な課題</a:t>
            </a:r>
            <a:endParaRPr lang="en-US" sz="1000" dirty="0"/>
          </a:p>
        </p:txBody>
      </p:sp>
      <p:sp>
        <p:nvSpPr>
          <p:cNvPr id="5" name="Shape 3"/>
          <p:cNvSpPr/>
          <p:nvPr/>
        </p:nvSpPr>
        <p:spPr>
          <a:xfrm>
            <a:off x="457200" y="685800"/>
            <a:ext cx="109728" cy="502920"/>
          </a:xfrm>
          <a:prstGeom prst="rect">
            <a:avLst/>
          </a:prstGeom>
          <a:solidFill>
            <a:srgbClr val="E8740C"/>
          </a:solidFill>
          <a:ln w="12700">
            <a:solidFill>
              <a:srgbClr val="E8740C"/>
            </a:solidFill>
            <a:prstDash val="solid"/>
          </a:ln>
        </p:spPr>
      </p:sp>
      <p:sp>
        <p:nvSpPr>
          <p:cNvPr id="6" name="Text 4"/>
          <p:cNvSpPr/>
          <p:nvPr/>
        </p:nvSpPr>
        <p:spPr>
          <a:xfrm>
            <a:off x="685800" y="640080"/>
            <a:ext cx="8229600" cy="594360"/>
          </a:xfrm>
          <a:prstGeom prst="rect">
            <a:avLst/>
          </a:prstGeom>
          <a:noFill/>
          <a:ln/>
        </p:spPr>
        <p:txBody>
          <a:bodyPr wrap="square" lIns="0" tIns="0" rIns="0" bIns="0" rtlCol="0" anchor="ctr"/>
          <a:lstStyle/>
          <a:p>
            <a:pPr algn="l" indent="0" marL="0">
              <a:buNone/>
            </a:pPr>
            <a:r>
              <a:rPr lang="en-US" sz="2600" b="1" dirty="0">
                <a:solidFill>
                  <a:srgbClr val="2A1700"/>
                </a:solidFill>
                <a:latin typeface="Yu Gothic" pitchFamily="34" charset="0"/>
                <a:ea typeface="Yu Gothic" pitchFamily="34" charset="-122"/>
                <a:cs typeface="Yu Gothic" pitchFamily="34" charset="-120"/>
              </a:rPr>
              <a:t>なぜ「資料請求」はうまくいかないのか</a:t>
            </a:r>
            <a:endParaRPr lang="en-US" sz="2600" dirty="0"/>
          </a:p>
        </p:txBody>
      </p:sp>
      <p:sp>
        <p:nvSpPr>
          <p:cNvPr id="7" name="Text 5"/>
          <p:cNvSpPr/>
          <p:nvPr/>
        </p:nvSpPr>
        <p:spPr>
          <a:xfrm>
            <a:off x="685800" y="1207008"/>
            <a:ext cx="8229600" cy="274320"/>
          </a:xfrm>
          <a:prstGeom prst="rect">
            <a:avLst/>
          </a:prstGeom>
          <a:noFill/>
          <a:ln/>
        </p:spPr>
        <p:txBody>
          <a:bodyPr wrap="square" lIns="0" tIns="0" rIns="0" bIns="0" rtlCol="0" anchor="ctr"/>
          <a:lstStyle/>
          <a:p>
            <a:pPr algn="l" indent="0" marL="0">
              <a:buNone/>
            </a:pPr>
            <a:r>
              <a:rPr lang="en-US" sz="1200" dirty="0">
                <a:solidFill>
                  <a:srgbClr val="6B5A47"/>
                </a:solidFill>
                <a:latin typeface="Yu Gothic" pitchFamily="34" charset="0"/>
                <a:ea typeface="Yu Gothic" pitchFamily="34" charset="-122"/>
                <a:cs typeface="Yu Gothic" pitchFamily="34" charset="-120"/>
              </a:rPr>
              <a:t>業界データが示す、従来型資料請求の限界</a:t>
            </a:r>
            <a:endParaRPr lang="en-US" sz="1200" dirty="0"/>
          </a:p>
        </p:txBody>
      </p:sp>
      <p:sp>
        <p:nvSpPr>
          <p:cNvPr id="8" name="Shape 6"/>
          <p:cNvSpPr/>
          <p:nvPr/>
        </p:nvSpPr>
        <p:spPr>
          <a:xfrm>
            <a:off x="457200" y="1691640"/>
            <a:ext cx="3474720" cy="2880360"/>
          </a:xfrm>
          <a:prstGeom prst="rect">
            <a:avLst/>
          </a:prstGeom>
          <a:solidFill>
            <a:srgbClr val="2A1700"/>
          </a:solidFill>
          <a:ln w="12700">
            <a:solidFill>
              <a:srgbClr val="2A1700"/>
            </a:solidFill>
            <a:prstDash val="solid"/>
          </a:ln>
        </p:spPr>
      </p:sp>
      <p:sp>
        <p:nvSpPr>
          <p:cNvPr id="9" name="Text 7"/>
          <p:cNvSpPr/>
          <p:nvPr/>
        </p:nvSpPr>
        <p:spPr>
          <a:xfrm>
            <a:off x="594360" y="1828800"/>
            <a:ext cx="3200400" cy="292608"/>
          </a:xfrm>
          <a:prstGeom prst="rect">
            <a:avLst/>
          </a:prstGeom>
          <a:noFill/>
          <a:ln/>
        </p:spPr>
        <p:txBody>
          <a:bodyPr wrap="square" lIns="0" tIns="0" rIns="0" bIns="0" rtlCol="0" anchor="ctr"/>
          <a:lstStyle/>
          <a:p>
            <a:pPr algn="l" indent="0" marL="0">
              <a:buNone/>
            </a:pPr>
            <a:r>
              <a:rPr lang="en-US" sz="1000" spc="100" kern="0" dirty="0">
                <a:solidFill>
                  <a:srgbClr val="E8740C"/>
                </a:solidFill>
                <a:latin typeface="Yu Gothic" pitchFamily="34" charset="0"/>
                <a:ea typeface="Yu Gothic" pitchFamily="34" charset="-122"/>
                <a:cs typeface="Yu Gothic" pitchFamily="34" charset="-120"/>
              </a:rPr>
              <a:t>資料請求から契約に至る確率</a:t>
            </a:r>
            <a:endParaRPr lang="en-US" sz="1000" dirty="0"/>
          </a:p>
        </p:txBody>
      </p:sp>
      <p:sp>
        <p:nvSpPr>
          <p:cNvPr id="10" name="Text 8"/>
          <p:cNvSpPr/>
          <p:nvPr/>
        </p:nvSpPr>
        <p:spPr>
          <a:xfrm>
            <a:off x="594360" y="2148840"/>
            <a:ext cx="3200400" cy="1280160"/>
          </a:xfrm>
          <a:prstGeom prst="rect">
            <a:avLst/>
          </a:prstGeom>
          <a:noFill/>
          <a:ln/>
        </p:spPr>
        <p:txBody>
          <a:bodyPr wrap="square" lIns="0" tIns="0" rIns="0" bIns="0" rtlCol="0" anchor="ctr"/>
          <a:lstStyle/>
          <a:p>
            <a:pPr algn="l" indent="0" marL="0">
              <a:buNone/>
            </a:pPr>
            <a:r>
              <a:rPr lang="en-US" sz="8400" b="1" dirty="0">
                <a:solidFill>
                  <a:srgbClr val="E8740C"/>
                </a:solidFill>
                <a:latin typeface="Yu Gothic" pitchFamily="34" charset="0"/>
                <a:ea typeface="Yu Gothic" pitchFamily="34" charset="-122"/>
                <a:cs typeface="Yu Gothic" pitchFamily="34" charset="-120"/>
              </a:rPr>
              <a:t>1.66</a:t>
            </a:r>
            <a:endParaRPr lang="en-US" sz="8400" dirty="0"/>
          </a:p>
        </p:txBody>
      </p:sp>
      <p:sp>
        <p:nvSpPr>
          <p:cNvPr id="11" name="Text 9"/>
          <p:cNvSpPr/>
          <p:nvPr/>
        </p:nvSpPr>
        <p:spPr>
          <a:xfrm>
            <a:off x="2926080" y="2286000"/>
            <a:ext cx="914400" cy="731520"/>
          </a:xfrm>
          <a:prstGeom prst="rect">
            <a:avLst/>
          </a:prstGeom>
          <a:noFill/>
          <a:ln/>
        </p:spPr>
        <p:txBody>
          <a:bodyPr wrap="square" lIns="0" tIns="0" rIns="0" bIns="0" rtlCol="0" anchor="ctr"/>
          <a:lstStyle/>
          <a:p>
            <a:pPr algn="l" indent="0" marL="0">
              <a:buNone/>
            </a:pPr>
            <a:r>
              <a:rPr lang="en-US" sz="3600" b="1" dirty="0">
                <a:solidFill>
                  <a:srgbClr val="E8740C"/>
                </a:solidFill>
                <a:latin typeface="Yu Gothic" pitchFamily="34" charset="0"/>
                <a:ea typeface="Yu Gothic" pitchFamily="34" charset="-122"/>
                <a:cs typeface="Yu Gothic" pitchFamily="34" charset="-120"/>
              </a:rPr>
              <a:t>%</a:t>
            </a:r>
            <a:endParaRPr lang="en-US" sz="3600" dirty="0"/>
          </a:p>
        </p:txBody>
      </p:sp>
      <p:sp>
        <p:nvSpPr>
          <p:cNvPr id="12" name="Shape 10"/>
          <p:cNvSpPr/>
          <p:nvPr/>
        </p:nvSpPr>
        <p:spPr>
          <a:xfrm>
            <a:off x="594360" y="3429000"/>
            <a:ext cx="2286000" cy="0"/>
          </a:xfrm>
          <a:prstGeom prst="line">
            <a:avLst/>
          </a:prstGeom>
          <a:noFill/>
          <a:ln w="25400">
            <a:solidFill>
              <a:srgbClr val="E8740C"/>
            </a:solidFill>
            <a:prstDash val="solid"/>
          </a:ln>
        </p:spPr>
      </p:sp>
      <p:sp>
        <p:nvSpPr>
          <p:cNvPr id="13" name="Text 11"/>
          <p:cNvSpPr/>
          <p:nvPr/>
        </p:nvSpPr>
        <p:spPr>
          <a:xfrm>
            <a:off x="594360" y="3566160"/>
            <a:ext cx="3200400" cy="548640"/>
          </a:xfrm>
          <a:prstGeom prst="rect">
            <a:avLst/>
          </a:prstGeom>
          <a:noFill/>
          <a:ln/>
        </p:spPr>
        <p:txBody>
          <a:bodyPr wrap="square" lIns="0" tIns="0" rIns="0" bIns="0" rtlCol="0" anchor="ctr"/>
          <a:lstStyle/>
          <a:p>
            <a:pPr algn="l" indent="0" marL="0">
              <a:spcAft>
                <a:spcPts val="200"/>
              </a:spcAft>
              <a:buNone/>
            </a:pPr>
            <a:r>
              <a:rPr lang="en-US" sz="1100" dirty="0">
                <a:solidFill>
                  <a:srgbClr val="FFFFFF"/>
                </a:solidFill>
                <a:latin typeface="Yu Gothic" pitchFamily="34" charset="0"/>
                <a:ea typeface="Yu Gothic" pitchFamily="34" charset="-122"/>
                <a:cs typeface="Yu Gothic" pitchFamily="34" charset="-120"/>
              </a:rPr>
              <a:t>年間120件の資料請求 →</a:t>
            </a:r>
            <a:endParaRPr lang="en-US" sz="1100" dirty="0"/>
          </a:p>
          <a:p>
            <a:pPr algn="l" indent="0" marL="0">
              <a:spcAft>
                <a:spcPts val="200"/>
              </a:spcAft>
              <a:buNone/>
            </a:pPr>
            <a:r>
              <a:rPr lang="en-US" sz="1100" b="1" dirty="0">
                <a:solidFill>
                  <a:srgbClr val="E8740C"/>
                </a:solidFill>
                <a:latin typeface="Yu Gothic" pitchFamily="34" charset="0"/>
                <a:ea typeface="Yu Gothic" pitchFamily="34" charset="-122"/>
                <a:cs typeface="Yu Gothic" pitchFamily="34" charset="-120"/>
              </a:rPr>
              <a:t>成約はわずか 2件 のみ</a:t>
            </a:r>
            <a:endParaRPr lang="en-US" sz="1100" dirty="0"/>
          </a:p>
        </p:txBody>
      </p:sp>
      <p:sp>
        <p:nvSpPr>
          <p:cNvPr id="14" name="Text 12"/>
          <p:cNvSpPr/>
          <p:nvPr/>
        </p:nvSpPr>
        <p:spPr>
          <a:xfrm>
            <a:off x="594360" y="4160520"/>
            <a:ext cx="3200400" cy="274320"/>
          </a:xfrm>
          <a:prstGeom prst="rect">
            <a:avLst/>
          </a:prstGeom>
          <a:noFill/>
          <a:ln/>
        </p:spPr>
        <p:txBody>
          <a:bodyPr wrap="square" lIns="0" tIns="0" rIns="0" bIns="0" rtlCol="0" anchor="ctr"/>
          <a:lstStyle/>
          <a:p>
            <a:pPr algn="l" indent="0" marL="0">
              <a:buNone/>
            </a:pPr>
            <a:r>
              <a:rPr lang="en-US" sz="800" i="1" dirty="0">
                <a:solidFill>
                  <a:srgbClr val="6B5A47"/>
                </a:solidFill>
                <a:latin typeface="Yu Gothic" pitchFamily="34" charset="0"/>
                <a:ea typeface="Yu Gothic" pitchFamily="34" charset="-122"/>
                <a:cs typeface="Yu Gothic" pitchFamily="34" charset="-120"/>
              </a:rPr>
              <a:t>※ ジョンソンパートナーズ調査より</a:t>
            </a:r>
            <a:endParaRPr lang="en-US" sz="800" dirty="0"/>
          </a:p>
        </p:txBody>
      </p:sp>
      <p:sp>
        <p:nvSpPr>
          <p:cNvPr id="15" name="Shape 13"/>
          <p:cNvSpPr/>
          <p:nvPr/>
        </p:nvSpPr>
        <p:spPr>
          <a:xfrm>
            <a:off x="4114800" y="1691640"/>
            <a:ext cx="4572000" cy="886968"/>
          </a:xfrm>
          <a:prstGeom prst="rect">
            <a:avLst/>
          </a:prstGeom>
          <a:solidFill>
            <a:srgbClr val="FFF8F0"/>
          </a:solidFill>
          <a:ln w="12700">
            <a:solidFill>
              <a:srgbClr val="EBDFD0"/>
            </a:solidFill>
            <a:prstDash val="solid"/>
          </a:ln>
        </p:spPr>
      </p:sp>
      <p:sp>
        <p:nvSpPr>
          <p:cNvPr id="16" name="Shape 14"/>
          <p:cNvSpPr/>
          <p:nvPr/>
        </p:nvSpPr>
        <p:spPr>
          <a:xfrm>
            <a:off x="4114800" y="1691640"/>
            <a:ext cx="73152" cy="886968"/>
          </a:xfrm>
          <a:prstGeom prst="rect">
            <a:avLst/>
          </a:prstGeom>
          <a:solidFill>
            <a:srgbClr val="E8740C"/>
          </a:solidFill>
          <a:ln w="12700">
            <a:solidFill>
              <a:srgbClr val="E8740C"/>
            </a:solidFill>
            <a:prstDash val="solid"/>
          </a:ln>
        </p:spPr>
      </p:sp>
      <p:sp>
        <p:nvSpPr>
          <p:cNvPr id="17" name="Text 15"/>
          <p:cNvSpPr/>
          <p:nvPr/>
        </p:nvSpPr>
        <p:spPr>
          <a:xfrm>
            <a:off x="4251960" y="1764792"/>
            <a:ext cx="457200" cy="274320"/>
          </a:xfrm>
          <a:prstGeom prst="rect">
            <a:avLst/>
          </a:prstGeom>
          <a:noFill/>
          <a:ln/>
        </p:spPr>
        <p:txBody>
          <a:bodyPr wrap="square" lIns="0" tIns="0" rIns="0" bIns="0" rtlCol="0" anchor="ctr"/>
          <a:lstStyle/>
          <a:p>
            <a:pPr algn="l" indent="0" marL="0">
              <a:buNone/>
            </a:pPr>
            <a:r>
              <a:rPr lang="en-US" sz="1100" b="1" dirty="0">
                <a:solidFill>
                  <a:srgbClr val="E8740C"/>
                </a:solidFill>
                <a:latin typeface="Yu Gothic" pitchFamily="34" charset="0"/>
                <a:ea typeface="Yu Gothic" pitchFamily="34" charset="-122"/>
                <a:cs typeface="Yu Gothic" pitchFamily="34" charset="-120"/>
              </a:rPr>
              <a:t>01</a:t>
            </a:r>
            <a:endParaRPr lang="en-US" sz="1100" dirty="0"/>
          </a:p>
        </p:txBody>
      </p:sp>
      <p:sp>
        <p:nvSpPr>
          <p:cNvPr id="18" name="Text 16"/>
          <p:cNvSpPr/>
          <p:nvPr/>
        </p:nvSpPr>
        <p:spPr>
          <a:xfrm>
            <a:off x="4663440" y="1764792"/>
            <a:ext cx="3977640" cy="292608"/>
          </a:xfrm>
          <a:prstGeom prst="rect">
            <a:avLst/>
          </a:prstGeom>
          <a:noFill/>
          <a:ln/>
        </p:spPr>
        <p:txBody>
          <a:bodyPr wrap="square" lIns="0" tIns="0" rIns="0" bIns="0" rtlCol="0" anchor="ctr"/>
          <a:lstStyle/>
          <a:p>
            <a:pPr algn="l" indent="0" marL="0">
              <a:buNone/>
            </a:pPr>
            <a:r>
              <a:rPr lang="en-US" sz="1300" b="1" dirty="0">
                <a:solidFill>
                  <a:srgbClr val="2A1700"/>
                </a:solidFill>
                <a:latin typeface="Yu Gothic" pitchFamily="34" charset="0"/>
                <a:ea typeface="Yu Gothic" pitchFamily="34" charset="-122"/>
                <a:cs typeface="Yu Gothic" pitchFamily="34" charset="-120"/>
              </a:rPr>
              <a:t>温度感が低いお客様が大半</a:t>
            </a:r>
            <a:endParaRPr lang="en-US" sz="1300" dirty="0"/>
          </a:p>
        </p:txBody>
      </p:sp>
      <p:sp>
        <p:nvSpPr>
          <p:cNvPr id="19" name="Text 17"/>
          <p:cNvSpPr/>
          <p:nvPr/>
        </p:nvSpPr>
        <p:spPr>
          <a:xfrm>
            <a:off x="4297680" y="2075688"/>
            <a:ext cx="4343400" cy="457200"/>
          </a:xfrm>
          <a:prstGeom prst="rect">
            <a:avLst/>
          </a:prstGeom>
          <a:noFill/>
          <a:ln/>
        </p:spPr>
        <p:txBody>
          <a:bodyPr wrap="square" lIns="0" tIns="0" rIns="0" bIns="0" rtlCol="0" anchor="t"/>
          <a:lstStyle/>
          <a:p>
            <a:pPr algn="l" indent="0" marL="0">
              <a:buNone/>
            </a:pPr>
            <a:r>
              <a:rPr lang="en-US" sz="1000" dirty="0">
                <a:solidFill>
                  <a:srgbClr val="3D2200"/>
                </a:solidFill>
                <a:latin typeface="Yu Gothic" pitchFamily="34" charset="0"/>
                <a:ea typeface="Yu Gothic" pitchFamily="34" charset="-122"/>
                <a:cs typeface="Yu Gothic" pitchFamily="34" charset="-120"/>
              </a:rPr>
              <a:t>「情報収集段階」の方が多く、本気度の高い見込み客は一部のみ。営業リソースが分散してしまいます。</a:t>
            </a:r>
            <a:endParaRPr lang="en-US" sz="1000" dirty="0"/>
          </a:p>
        </p:txBody>
      </p:sp>
      <p:sp>
        <p:nvSpPr>
          <p:cNvPr id="20" name="Shape 18"/>
          <p:cNvSpPr/>
          <p:nvPr/>
        </p:nvSpPr>
        <p:spPr>
          <a:xfrm>
            <a:off x="4114800" y="2679192"/>
            <a:ext cx="4572000" cy="886968"/>
          </a:xfrm>
          <a:prstGeom prst="rect">
            <a:avLst/>
          </a:prstGeom>
          <a:solidFill>
            <a:srgbClr val="FFF8F0"/>
          </a:solidFill>
          <a:ln w="12700">
            <a:solidFill>
              <a:srgbClr val="EBDFD0"/>
            </a:solidFill>
            <a:prstDash val="solid"/>
          </a:ln>
        </p:spPr>
      </p:sp>
      <p:sp>
        <p:nvSpPr>
          <p:cNvPr id="21" name="Shape 19"/>
          <p:cNvSpPr/>
          <p:nvPr/>
        </p:nvSpPr>
        <p:spPr>
          <a:xfrm>
            <a:off x="4114800" y="2679192"/>
            <a:ext cx="73152" cy="886968"/>
          </a:xfrm>
          <a:prstGeom prst="rect">
            <a:avLst/>
          </a:prstGeom>
          <a:solidFill>
            <a:srgbClr val="E8740C"/>
          </a:solidFill>
          <a:ln w="12700">
            <a:solidFill>
              <a:srgbClr val="E8740C"/>
            </a:solidFill>
            <a:prstDash val="solid"/>
          </a:ln>
        </p:spPr>
      </p:sp>
      <p:sp>
        <p:nvSpPr>
          <p:cNvPr id="22" name="Text 20"/>
          <p:cNvSpPr/>
          <p:nvPr/>
        </p:nvSpPr>
        <p:spPr>
          <a:xfrm>
            <a:off x="4251960" y="2752344"/>
            <a:ext cx="457200" cy="274320"/>
          </a:xfrm>
          <a:prstGeom prst="rect">
            <a:avLst/>
          </a:prstGeom>
          <a:noFill/>
          <a:ln/>
        </p:spPr>
        <p:txBody>
          <a:bodyPr wrap="square" lIns="0" tIns="0" rIns="0" bIns="0" rtlCol="0" anchor="ctr"/>
          <a:lstStyle/>
          <a:p>
            <a:pPr algn="l" indent="0" marL="0">
              <a:buNone/>
            </a:pPr>
            <a:r>
              <a:rPr lang="en-US" sz="1100" b="1" dirty="0">
                <a:solidFill>
                  <a:srgbClr val="E8740C"/>
                </a:solidFill>
                <a:latin typeface="Yu Gothic" pitchFamily="34" charset="0"/>
                <a:ea typeface="Yu Gothic" pitchFamily="34" charset="-122"/>
                <a:cs typeface="Yu Gothic" pitchFamily="34" charset="-120"/>
              </a:rPr>
              <a:t>02</a:t>
            </a:r>
            <a:endParaRPr lang="en-US" sz="1100" dirty="0"/>
          </a:p>
        </p:txBody>
      </p:sp>
      <p:sp>
        <p:nvSpPr>
          <p:cNvPr id="23" name="Text 21"/>
          <p:cNvSpPr/>
          <p:nvPr/>
        </p:nvSpPr>
        <p:spPr>
          <a:xfrm>
            <a:off x="4663440" y="2752344"/>
            <a:ext cx="3977640" cy="292608"/>
          </a:xfrm>
          <a:prstGeom prst="rect">
            <a:avLst/>
          </a:prstGeom>
          <a:noFill/>
          <a:ln/>
        </p:spPr>
        <p:txBody>
          <a:bodyPr wrap="square" lIns="0" tIns="0" rIns="0" bIns="0" rtlCol="0" anchor="ctr"/>
          <a:lstStyle/>
          <a:p>
            <a:pPr algn="l" indent="0" marL="0">
              <a:buNone/>
            </a:pPr>
            <a:r>
              <a:rPr lang="en-US" sz="1300" b="1" dirty="0">
                <a:solidFill>
                  <a:srgbClr val="2A1700"/>
                </a:solidFill>
                <a:latin typeface="Yu Gothic" pitchFamily="34" charset="0"/>
                <a:ea typeface="Yu Gothic" pitchFamily="34" charset="-122"/>
                <a:cs typeface="Yu Gothic" pitchFamily="34" charset="-120"/>
              </a:rPr>
              <a:t>カタログが届く頃には熱が冷めている</a:t>
            </a:r>
            <a:endParaRPr lang="en-US" sz="1300" dirty="0"/>
          </a:p>
        </p:txBody>
      </p:sp>
      <p:sp>
        <p:nvSpPr>
          <p:cNvPr id="24" name="Text 22"/>
          <p:cNvSpPr/>
          <p:nvPr/>
        </p:nvSpPr>
        <p:spPr>
          <a:xfrm>
            <a:off x="4297680" y="3063240"/>
            <a:ext cx="4343400" cy="457200"/>
          </a:xfrm>
          <a:prstGeom prst="rect">
            <a:avLst/>
          </a:prstGeom>
          <a:noFill/>
          <a:ln/>
        </p:spPr>
        <p:txBody>
          <a:bodyPr wrap="square" lIns="0" tIns="0" rIns="0" bIns="0" rtlCol="0" anchor="t"/>
          <a:lstStyle/>
          <a:p>
            <a:pPr algn="l" indent="0" marL="0">
              <a:buNone/>
            </a:pPr>
            <a:r>
              <a:rPr lang="en-US" sz="1000" dirty="0">
                <a:solidFill>
                  <a:srgbClr val="3D2200"/>
                </a:solidFill>
                <a:latin typeface="Yu Gothic" pitchFamily="34" charset="0"/>
                <a:ea typeface="Yu Gothic" pitchFamily="34" charset="-122"/>
                <a:cs typeface="Yu Gothic" pitchFamily="34" charset="-120"/>
              </a:rPr>
              <a:t>郵送で数日かかる間に、お客様の関心は他社や他の情報源へ移ってしまいます。</a:t>
            </a:r>
            <a:endParaRPr lang="en-US" sz="1000" dirty="0"/>
          </a:p>
        </p:txBody>
      </p:sp>
      <p:sp>
        <p:nvSpPr>
          <p:cNvPr id="25" name="Shape 23"/>
          <p:cNvSpPr/>
          <p:nvPr/>
        </p:nvSpPr>
        <p:spPr>
          <a:xfrm>
            <a:off x="4114800" y="3666744"/>
            <a:ext cx="4572000" cy="886968"/>
          </a:xfrm>
          <a:prstGeom prst="rect">
            <a:avLst/>
          </a:prstGeom>
          <a:solidFill>
            <a:srgbClr val="FFF8F0"/>
          </a:solidFill>
          <a:ln w="12700">
            <a:solidFill>
              <a:srgbClr val="EBDFD0"/>
            </a:solidFill>
            <a:prstDash val="solid"/>
          </a:ln>
        </p:spPr>
      </p:sp>
      <p:sp>
        <p:nvSpPr>
          <p:cNvPr id="26" name="Shape 24"/>
          <p:cNvSpPr/>
          <p:nvPr/>
        </p:nvSpPr>
        <p:spPr>
          <a:xfrm>
            <a:off x="4114800" y="3666744"/>
            <a:ext cx="73152" cy="886968"/>
          </a:xfrm>
          <a:prstGeom prst="rect">
            <a:avLst/>
          </a:prstGeom>
          <a:solidFill>
            <a:srgbClr val="E8740C"/>
          </a:solidFill>
          <a:ln w="12700">
            <a:solidFill>
              <a:srgbClr val="E8740C"/>
            </a:solidFill>
            <a:prstDash val="solid"/>
          </a:ln>
        </p:spPr>
      </p:sp>
      <p:sp>
        <p:nvSpPr>
          <p:cNvPr id="27" name="Text 25"/>
          <p:cNvSpPr/>
          <p:nvPr/>
        </p:nvSpPr>
        <p:spPr>
          <a:xfrm>
            <a:off x="4251960" y="3739896"/>
            <a:ext cx="457200" cy="274320"/>
          </a:xfrm>
          <a:prstGeom prst="rect">
            <a:avLst/>
          </a:prstGeom>
          <a:noFill/>
          <a:ln/>
        </p:spPr>
        <p:txBody>
          <a:bodyPr wrap="square" lIns="0" tIns="0" rIns="0" bIns="0" rtlCol="0" anchor="ctr"/>
          <a:lstStyle/>
          <a:p>
            <a:pPr algn="l" indent="0" marL="0">
              <a:buNone/>
            </a:pPr>
            <a:r>
              <a:rPr lang="en-US" sz="1100" b="1" dirty="0">
                <a:solidFill>
                  <a:srgbClr val="E8740C"/>
                </a:solidFill>
                <a:latin typeface="Yu Gothic" pitchFamily="34" charset="0"/>
                <a:ea typeface="Yu Gothic" pitchFamily="34" charset="-122"/>
                <a:cs typeface="Yu Gothic" pitchFamily="34" charset="-120"/>
              </a:rPr>
              <a:t>03</a:t>
            </a:r>
            <a:endParaRPr lang="en-US" sz="1100" dirty="0"/>
          </a:p>
        </p:txBody>
      </p:sp>
      <p:sp>
        <p:nvSpPr>
          <p:cNvPr id="28" name="Text 26"/>
          <p:cNvSpPr/>
          <p:nvPr/>
        </p:nvSpPr>
        <p:spPr>
          <a:xfrm>
            <a:off x="4663440" y="3739896"/>
            <a:ext cx="3977640" cy="292608"/>
          </a:xfrm>
          <a:prstGeom prst="rect">
            <a:avLst/>
          </a:prstGeom>
          <a:noFill/>
          <a:ln/>
        </p:spPr>
        <p:txBody>
          <a:bodyPr wrap="square" lIns="0" tIns="0" rIns="0" bIns="0" rtlCol="0" anchor="ctr"/>
          <a:lstStyle/>
          <a:p>
            <a:pPr algn="l" indent="0" marL="0">
              <a:buNone/>
            </a:pPr>
            <a:r>
              <a:rPr lang="en-US" sz="1300" b="1" dirty="0">
                <a:solidFill>
                  <a:srgbClr val="2A1700"/>
                </a:solidFill>
                <a:latin typeface="Yu Gothic" pitchFamily="34" charset="0"/>
                <a:ea typeface="Yu Gothic" pitchFamily="34" charset="-122"/>
                <a:cs typeface="Yu Gothic" pitchFamily="34" charset="-120"/>
              </a:rPr>
              <a:t>「しつこい営業」の温床に</a:t>
            </a:r>
            <a:endParaRPr lang="en-US" sz="1300" dirty="0"/>
          </a:p>
        </p:txBody>
      </p:sp>
      <p:sp>
        <p:nvSpPr>
          <p:cNvPr id="29" name="Text 27"/>
          <p:cNvSpPr/>
          <p:nvPr/>
        </p:nvSpPr>
        <p:spPr>
          <a:xfrm>
            <a:off x="4297680" y="4050792"/>
            <a:ext cx="4343400" cy="457200"/>
          </a:xfrm>
          <a:prstGeom prst="rect">
            <a:avLst/>
          </a:prstGeom>
          <a:noFill/>
          <a:ln/>
        </p:spPr>
        <p:txBody>
          <a:bodyPr wrap="square" lIns="0" tIns="0" rIns="0" bIns="0" rtlCol="0" anchor="t"/>
          <a:lstStyle/>
          <a:p>
            <a:pPr algn="l" indent="0" marL="0">
              <a:buNone/>
            </a:pPr>
            <a:r>
              <a:rPr lang="en-US" sz="1000" dirty="0">
                <a:solidFill>
                  <a:srgbClr val="3D2200"/>
                </a:solidFill>
                <a:latin typeface="Yu Gothic" pitchFamily="34" charset="0"/>
                <a:ea typeface="Yu Gothic" pitchFamily="34" charset="-122"/>
                <a:cs typeface="Yu Gothic" pitchFamily="34" charset="-120"/>
              </a:rPr>
              <a:t>ユーザーが申込時に「電話NG」と書くほど、業界全体のイメージが悪化してしまっています。</a:t>
            </a:r>
            <a:endParaRPr lang="en-US" sz="1000" dirty="0"/>
          </a:p>
        </p:txBody>
      </p:sp>
      <p:sp>
        <p:nvSpPr>
          <p:cNvPr id="30" name="Text 28"/>
          <p:cNvSpPr/>
          <p:nvPr/>
        </p:nvSpPr>
        <p:spPr>
          <a:xfrm>
            <a:off x="457200" y="4663440"/>
            <a:ext cx="8229600" cy="274320"/>
          </a:xfrm>
          <a:prstGeom prst="rect">
            <a:avLst/>
          </a:prstGeom>
          <a:noFill/>
          <a:ln/>
        </p:spPr>
        <p:txBody>
          <a:bodyPr wrap="square" lIns="0" tIns="0" rIns="0" bIns="0" rtlCol="0" anchor="ctr"/>
          <a:lstStyle/>
          <a:p>
            <a:pPr algn="ctr" indent="0" marL="0">
              <a:buNone/>
            </a:pPr>
            <a:r>
              <a:rPr lang="en-US" sz="1000" i="1" dirty="0">
                <a:solidFill>
                  <a:srgbClr val="6B5A47"/>
                </a:solidFill>
                <a:latin typeface="Yu Gothic" pitchFamily="34" charset="0"/>
                <a:ea typeface="Yu Gothic" pitchFamily="34" charset="-122"/>
                <a:cs typeface="Yu Gothic" pitchFamily="34" charset="-120"/>
              </a:rPr>
              <a:t>本気で家を建てたい方ほど、「また営業電話がかかってくる」と身構えて資料請求を避ける傾向があります。</a:t>
            </a:r>
            <a:endParaRPr lang="en-US" sz="1000" dirty="0"/>
          </a:p>
        </p:txBody>
      </p:sp>
      <p:sp>
        <p:nvSpPr>
          <p:cNvPr id="31" name="Shape 29"/>
          <p:cNvSpPr/>
          <p:nvPr/>
        </p:nvSpPr>
        <p:spPr>
          <a:xfrm>
            <a:off x="365760" y="4823460"/>
            <a:ext cx="8412480" cy="0"/>
          </a:xfrm>
          <a:prstGeom prst="line">
            <a:avLst/>
          </a:prstGeom>
          <a:noFill/>
          <a:ln w="9525">
            <a:solidFill>
              <a:srgbClr val="EBDFD0"/>
            </a:solidFill>
            <a:prstDash val="solid"/>
          </a:ln>
        </p:spPr>
      </p:sp>
      <p:sp>
        <p:nvSpPr>
          <p:cNvPr id="32" name="Text 30"/>
          <p:cNvSpPr/>
          <p:nvPr/>
        </p:nvSpPr>
        <p:spPr>
          <a:xfrm>
            <a:off x="365760" y="4850892"/>
            <a:ext cx="4572000" cy="274320"/>
          </a:xfrm>
          <a:prstGeom prst="rect">
            <a:avLst/>
          </a:prstGeom>
          <a:noFill/>
          <a:ln/>
        </p:spPr>
        <p:txBody>
          <a:bodyPr wrap="square" lIns="0" tIns="0" rIns="0" bIns="0" rtlCol="0" anchor="ctr"/>
          <a:lstStyle/>
          <a:p>
            <a:pPr algn="l" indent="0" marL="0">
              <a:buNone/>
            </a:pPr>
            <a:r>
              <a:rPr lang="en-US" sz="900" dirty="0">
                <a:solidFill>
                  <a:srgbClr val="6B5A47"/>
                </a:solidFill>
                <a:latin typeface="Yu Gothic" pitchFamily="34" charset="0"/>
                <a:ea typeface="Yu Gothic" pitchFamily="34" charset="-122"/>
                <a:cs typeface="Yu Gothic" pitchFamily="34" charset="-120"/>
              </a:rPr>
              <a:t>ぺいほーむ ポータルサイト</a:t>
            </a:r>
            <a:endParaRPr lang="en-US" sz="900" dirty="0"/>
          </a:p>
        </p:txBody>
      </p:sp>
      <p:sp>
        <p:nvSpPr>
          <p:cNvPr id="33" name="Text 31"/>
          <p:cNvSpPr/>
          <p:nvPr/>
        </p:nvSpPr>
        <p:spPr>
          <a:xfrm>
            <a:off x="4206240" y="4850892"/>
            <a:ext cx="4572000" cy="274320"/>
          </a:xfrm>
          <a:prstGeom prst="rect">
            <a:avLst/>
          </a:prstGeom>
          <a:noFill/>
          <a:ln/>
        </p:spPr>
        <p:txBody>
          <a:bodyPr wrap="square" lIns="0" tIns="0" rIns="0" bIns="0" rtlCol="0" anchor="ctr"/>
          <a:lstStyle/>
          <a:p>
            <a:pPr algn="r" indent="0" marL="0">
              <a:buNone/>
            </a:pPr>
            <a:r>
              <a:rPr lang="en-US" sz="900" i="1" dirty="0">
                <a:solidFill>
                  <a:srgbClr val="6B5A47"/>
                </a:solidFill>
                <a:latin typeface="Yu Gothic" pitchFamily="34" charset="0"/>
                <a:ea typeface="Yu Gothic" pitchFamily="34" charset="-122"/>
                <a:cs typeface="Yu Gothic" pitchFamily="34" charset="-120"/>
              </a:rPr>
              <a:t>本気の出会いを、誠実に。</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8740C"/>
          </a:solidFill>
          <a:ln w="12700">
            <a:solidFill>
              <a:srgbClr val="E8740C"/>
            </a:solidFill>
            <a:prstDash val="solid"/>
          </a:ln>
        </p:spPr>
      </p:sp>
      <p:sp>
        <p:nvSpPr>
          <p:cNvPr id="3" name="Text 1"/>
          <p:cNvSpPr/>
          <p:nvPr/>
        </p:nvSpPr>
        <p:spPr>
          <a:xfrm>
            <a:off x="365760" y="182880"/>
            <a:ext cx="1097280" cy="274320"/>
          </a:xfrm>
          <a:prstGeom prst="rect">
            <a:avLst/>
          </a:prstGeom>
          <a:noFill/>
          <a:ln/>
        </p:spPr>
        <p:txBody>
          <a:bodyPr wrap="square" lIns="0" tIns="0" rIns="0" bIns="0" rtlCol="0" anchor="ctr"/>
          <a:lstStyle/>
          <a:p>
            <a:pPr algn="l" indent="0" marL="0">
              <a:buNone/>
            </a:pPr>
            <a:r>
              <a:rPr lang="en-US" sz="1000" b="1" dirty="0">
                <a:solidFill>
                  <a:srgbClr val="E8740C"/>
                </a:solidFill>
                <a:latin typeface="Yu Gothic" pitchFamily="34" charset="0"/>
                <a:ea typeface="Yu Gothic" pitchFamily="34" charset="-122"/>
                <a:cs typeface="Yu Gothic" pitchFamily="34" charset="-120"/>
              </a:rPr>
              <a:t>06 / 20</a:t>
            </a:r>
            <a:endParaRPr lang="en-US" sz="1000" dirty="0"/>
          </a:p>
        </p:txBody>
      </p:sp>
      <p:sp>
        <p:nvSpPr>
          <p:cNvPr id="4" name="Text 2"/>
          <p:cNvSpPr/>
          <p:nvPr/>
        </p:nvSpPr>
        <p:spPr>
          <a:xfrm>
            <a:off x="1554480" y="182880"/>
            <a:ext cx="7223760" cy="274320"/>
          </a:xfrm>
          <a:prstGeom prst="rect">
            <a:avLst/>
          </a:prstGeom>
          <a:noFill/>
          <a:ln/>
        </p:spPr>
        <p:txBody>
          <a:bodyPr wrap="square" lIns="0" tIns="0" rIns="0" bIns="0" rtlCol="0" anchor="ctr"/>
          <a:lstStyle/>
          <a:p>
            <a:pPr algn="r" indent="0" marL="0">
              <a:buNone/>
            </a:pPr>
            <a:r>
              <a:rPr lang="en-US" sz="1000" dirty="0">
                <a:solidFill>
                  <a:srgbClr val="6B5A47"/>
                </a:solidFill>
                <a:latin typeface="Yu Gothic" pitchFamily="34" charset="0"/>
                <a:ea typeface="Yu Gothic" pitchFamily="34" charset="-122"/>
                <a:cs typeface="Yu Gothic" pitchFamily="34" charset="-120"/>
              </a:rPr>
              <a:t>ぺいほーむとは</a:t>
            </a:r>
            <a:endParaRPr lang="en-US" sz="1000" dirty="0"/>
          </a:p>
        </p:txBody>
      </p:sp>
      <p:sp>
        <p:nvSpPr>
          <p:cNvPr id="5" name="Shape 3"/>
          <p:cNvSpPr/>
          <p:nvPr/>
        </p:nvSpPr>
        <p:spPr>
          <a:xfrm>
            <a:off x="457200" y="685800"/>
            <a:ext cx="109728" cy="502920"/>
          </a:xfrm>
          <a:prstGeom prst="rect">
            <a:avLst/>
          </a:prstGeom>
          <a:solidFill>
            <a:srgbClr val="E8740C"/>
          </a:solidFill>
          <a:ln w="12700">
            <a:solidFill>
              <a:srgbClr val="E8740C"/>
            </a:solidFill>
            <a:prstDash val="solid"/>
          </a:ln>
        </p:spPr>
      </p:sp>
      <p:sp>
        <p:nvSpPr>
          <p:cNvPr id="6" name="Text 4"/>
          <p:cNvSpPr/>
          <p:nvPr/>
        </p:nvSpPr>
        <p:spPr>
          <a:xfrm>
            <a:off x="685800" y="640080"/>
            <a:ext cx="8229600" cy="594360"/>
          </a:xfrm>
          <a:prstGeom prst="rect">
            <a:avLst/>
          </a:prstGeom>
          <a:noFill/>
          <a:ln/>
        </p:spPr>
        <p:txBody>
          <a:bodyPr wrap="square" lIns="0" tIns="0" rIns="0" bIns="0" rtlCol="0" anchor="ctr"/>
          <a:lstStyle/>
          <a:p>
            <a:pPr algn="l" indent="0" marL="0">
              <a:buNone/>
            </a:pPr>
            <a:r>
              <a:rPr lang="en-US" sz="2600" b="1" dirty="0">
                <a:solidFill>
                  <a:srgbClr val="2A1700"/>
                </a:solidFill>
                <a:latin typeface="Yu Gothic" pitchFamily="34" charset="0"/>
                <a:ea typeface="Yu Gothic" pitchFamily="34" charset="-122"/>
                <a:cs typeface="Yu Gothic" pitchFamily="34" charset="-120"/>
              </a:rPr>
              <a:t>「リードを売る」のではなく</a:t>
            </a:r>
            <a:endParaRPr lang="en-US" sz="2600" dirty="0"/>
          </a:p>
        </p:txBody>
      </p:sp>
      <p:sp>
        <p:nvSpPr>
          <p:cNvPr id="7" name="Text 5"/>
          <p:cNvSpPr/>
          <p:nvPr/>
        </p:nvSpPr>
        <p:spPr>
          <a:xfrm>
            <a:off x="685800" y="1207008"/>
            <a:ext cx="8229600" cy="274320"/>
          </a:xfrm>
          <a:prstGeom prst="rect">
            <a:avLst/>
          </a:prstGeom>
          <a:noFill/>
          <a:ln/>
        </p:spPr>
        <p:txBody>
          <a:bodyPr wrap="square" lIns="0" tIns="0" rIns="0" bIns="0" rtlCol="0" anchor="ctr"/>
          <a:lstStyle/>
          <a:p>
            <a:pPr algn="l" indent="0" marL="0">
              <a:buNone/>
            </a:pPr>
            <a:r>
              <a:rPr lang="en-US" sz="1200" dirty="0">
                <a:solidFill>
                  <a:srgbClr val="6B5A47"/>
                </a:solidFill>
                <a:latin typeface="Yu Gothic" pitchFamily="34" charset="0"/>
                <a:ea typeface="Yu Gothic" pitchFamily="34" charset="-122"/>
                <a:cs typeface="Yu Gothic" pitchFamily="34" charset="-120"/>
              </a:rPr>
              <a:t>「家づくりを伴走する」メディアです</a:t>
            </a:r>
            <a:endParaRPr lang="en-US" sz="1200" dirty="0"/>
          </a:p>
        </p:txBody>
      </p:sp>
      <p:sp>
        <p:nvSpPr>
          <p:cNvPr id="8" name="Shape 6"/>
          <p:cNvSpPr/>
          <p:nvPr/>
        </p:nvSpPr>
        <p:spPr>
          <a:xfrm>
            <a:off x="685800" y="1737360"/>
            <a:ext cx="7772400" cy="1188720"/>
          </a:xfrm>
          <a:prstGeom prst="rect">
            <a:avLst/>
          </a:prstGeom>
          <a:solidFill>
            <a:srgbClr val="FFF8F0"/>
          </a:solidFill>
          <a:ln w="12700">
            <a:solidFill>
              <a:srgbClr val="E8740C"/>
            </a:solidFill>
            <a:prstDash val="solid"/>
          </a:ln>
        </p:spPr>
      </p:sp>
      <p:sp>
        <p:nvSpPr>
          <p:cNvPr id="9" name="Shape 7"/>
          <p:cNvSpPr/>
          <p:nvPr/>
        </p:nvSpPr>
        <p:spPr>
          <a:xfrm>
            <a:off x="685800" y="1737360"/>
            <a:ext cx="109728" cy="1188720"/>
          </a:xfrm>
          <a:prstGeom prst="rect">
            <a:avLst/>
          </a:prstGeom>
          <a:solidFill>
            <a:srgbClr val="E8740C"/>
          </a:solidFill>
          <a:ln w="12700">
            <a:solidFill>
              <a:srgbClr val="E8740C"/>
            </a:solidFill>
            <a:prstDash val="solid"/>
          </a:ln>
        </p:spPr>
      </p:sp>
      <p:sp>
        <p:nvSpPr>
          <p:cNvPr id="10" name="Text 8"/>
          <p:cNvSpPr/>
          <p:nvPr/>
        </p:nvSpPr>
        <p:spPr>
          <a:xfrm>
            <a:off x="914400" y="1828800"/>
            <a:ext cx="7406640" cy="1005840"/>
          </a:xfrm>
          <a:prstGeom prst="rect">
            <a:avLst/>
          </a:prstGeom>
          <a:noFill/>
          <a:ln/>
        </p:spPr>
        <p:txBody>
          <a:bodyPr wrap="square" lIns="0" tIns="0" rIns="0" bIns="0" rtlCol="0" anchor="ctr"/>
          <a:lstStyle/>
          <a:p>
            <a:pPr algn="ctr" indent="0" marL="0">
              <a:spcAft>
                <a:spcPts val="600"/>
              </a:spcAft>
              <a:buNone/>
            </a:pPr>
            <a:r>
              <a:rPr lang="en-US" sz="2000" dirty="0">
                <a:solidFill>
                  <a:srgbClr val="2A1700"/>
                </a:solidFill>
                <a:latin typeface="Yu Gothic" pitchFamily="34" charset="0"/>
                <a:ea typeface="Yu Gothic" pitchFamily="34" charset="-122"/>
                <a:cs typeface="Yu Gothic" pitchFamily="34" charset="-120"/>
              </a:rPr>
              <a:t>家づくりを考えはじめた方と、</a:t>
            </a:r>
            <a:endParaRPr lang="en-US" sz="2000" dirty="0"/>
          </a:p>
          <a:p>
            <a:pPr algn="ctr" indent="0" marL="0">
              <a:spcAft>
                <a:spcPts val="600"/>
              </a:spcAft>
              <a:buNone/>
            </a:pPr>
            <a:r>
              <a:rPr lang="en-US" sz="2000" b="1" dirty="0">
                <a:solidFill>
                  <a:srgbClr val="2A1700"/>
                </a:solidFill>
                <a:latin typeface="Yu Gothic" pitchFamily="34" charset="0"/>
                <a:ea typeface="Yu Gothic" pitchFamily="34" charset="-122"/>
                <a:cs typeface="Yu Gothic" pitchFamily="34" charset="-120"/>
              </a:rPr>
              <a:t>想いの合う工務店様を、誠実につなぐメディア</a:t>
            </a:r>
            <a:endParaRPr lang="en-US" sz="2000" dirty="0"/>
          </a:p>
        </p:txBody>
      </p:sp>
      <p:sp>
        <p:nvSpPr>
          <p:cNvPr id="11" name="Shape 9"/>
          <p:cNvSpPr/>
          <p:nvPr/>
        </p:nvSpPr>
        <p:spPr>
          <a:xfrm>
            <a:off x="685800" y="3154680"/>
            <a:ext cx="3794760" cy="1417320"/>
          </a:xfrm>
          <a:prstGeom prst="rect">
            <a:avLst/>
          </a:prstGeom>
          <a:solidFill>
            <a:srgbClr val="FFFFFF"/>
          </a:solidFill>
          <a:ln w="12700">
            <a:solidFill>
              <a:srgbClr val="EBDFD0"/>
            </a:solidFill>
            <a:prstDash val="solid"/>
          </a:ln>
        </p:spPr>
      </p:sp>
      <p:sp>
        <p:nvSpPr>
          <p:cNvPr id="12" name="Text 10"/>
          <p:cNvSpPr/>
          <p:nvPr/>
        </p:nvSpPr>
        <p:spPr>
          <a:xfrm>
            <a:off x="822960" y="3246120"/>
            <a:ext cx="3657600" cy="274320"/>
          </a:xfrm>
          <a:prstGeom prst="rect">
            <a:avLst/>
          </a:prstGeom>
          <a:noFill/>
          <a:ln/>
        </p:spPr>
        <p:txBody>
          <a:bodyPr wrap="square" lIns="0" tIns="0" rIns="0" bIns="0" rtlCol="0" anchor="ctr"/>
          <a:lstStyle/>
          <a:p>
            <a:pPr algn="l" indent="0" marL="0">
              <a:buNone/>
            </a:pPr>
            <a:r>
              <a:rPr lang="en-US" sz="1000" dirty="0">
                <a:solidFill>
                  <a:srgbClr val="6B5A47"/>
                </a:solidFill>
                <a:latin typeface="Yu Gothic" pitchFamily="34" charset="0"/>
                <a:ea typeface="Yu Gothic" pitchFamily="34" charset="-122"/>
                <a:cs typeface="Yu Gothic" pitchFamily="34" charset="-120"/>
              </a:rPr>
              <a:t>従来のポータルサイトは</a:t>
            </a:r>
            <a:endParaRPr lang="en-US" sz="1000" dirty="0"/>
          </a:p>
        </p:txBody>
      </p:sp>
      <p:sp>
        <p:nvSpPr>
          <p:cNvPr id="13" name="Text 11"/>
          <p:cNvSpPr/>
          <p:nvPr/>
        </p:nvSpPr>
        <p:spPr>
          <a:xfrm>
            <a:off x="822960" y="3520440"/>
            <a:ext cx="3657600" cy="411480"/>
          </a:xfrm>
          <a:prstGeom prst="rect">
            <a:avLst/>
          </a:prstGeom>
          <a:noFill/>
          <a:ln/>
        </p:spPr>
        <p:txBody>
          <a:bodyPr wrap="square" lIns="0" tIns="0" rIns="0" bIns="0" rtlCol="0" anchor="ctr"/>
          <a:lstStyle/>
          <a:p>
            <a:pPr algn="l" indent="0" marL="0">
              <a:buNone/>
            </a:pPr>
            <a:r>
              <a:rPr lang="en-US" sz="1700" b="1" dirty="0">
                <a:solidFill>
                  <a:srgbClr val="6B5A47"/>
                </a:solidFill>
                <a:latin typeface="Yu Gothic" pitchFamily="34" charset="0"/>
                <a:ea typeface="Yu Gothic" pitchFamily="34" charset="-122"/>
                <a:cs typeface="Yu Gothic" pitchFamily="34" charset="-120"/>
              </a:rPr>
              <a:t>資料請求の仲介業</a:t>
            </a:r>
            <a:endParaRPr lang="en-US" sz="1700" dirty="0"/>
          </a:p>
        </p:txBody>
      </p:sp>
      <p:sp>
        <p:nvSpPr>
          <p:cNvPr id="14" name="Text 12"/>
          <p:cNvSpPr/>
          <p:nvPr/>
        </p:nvSpPr>
        <p:spPr>
          <a:xfrm>
            <a:off x="822960" y="3977640"/>
            <a:ext cx="3520440" cy="502920"/>
          </a:xfrm>
          <a:prstGeom prst="rect">
            <a:avLst/>
          </a:prstGeom>
          <a:noFill/>
          <a:ln/>
        </p:spPr>
        <p:txBody>
          <a:bodyPr wrap="square" lIns="0" tIns="0" rIns="0" bIns="0" rtlCol="0" anchor="t"/>
          <a:lstStyle/>
          <a:p>
            <a:pPr algn="l" indent="0" marL="0">
              <a:buNone/>
            </a:pPr>
            <a:r>
              <a:rPr lang="en-US" sz="1000" dirty="0">
                <a:solidFill>
                  <a:srgbClr val="3D2200"/>
                </a:solidFill>
                <a:latin typeface="Yu Gothic" pitchFamily="34" charset="0"/>
                <a:ea typeface="Yu Gothic" pitchFamily="34" charset="-122"/>
                <a:cs typeface="Yu Gothic" pitchFamily="34" charset="-120"/>
              </a:rPr>
              <a:t>広告枠を売り、ユーザー情報を渡したら業務完了。その先は工務店様任せ。</a:t>
            </a:r>
            <a:endParaRPr lang="en-US" sz="1000" dirty="0"/>
          </a:p>
        </p:txBody>
      </p:sp>
      <p:sp>
        <p:nvSpPr>
          <p:cNvPr id="15" name="Shape 13"/>
          <p:cNvSpPr/>
          <p:nvPr/>
        </p:nvSpPr>
        <p:spPr>
          <a:xfrm>
            <a:off x="4663440" y="3154680"/>
            <a:ext cx="3794760" cy="1417320"/>
          </a:xfrm>
          <a:prstGeom prst="rect">
            <a:avLst/>
          </a:prstGeom>
          <a:solidFill>
            <a:srgbClr val="E8740C"/>
          </a:solidFill>
          <a:ln w="12700">
            <a:solidFill>
              <a:srgbClr val="E8740C"/>
            </a:solidFill>
            <a:prstDash val="solid"/>
          </a:ln>
        </p:spPr>
      </p:sp>
      <p:sp>
        <p:nvSpPr>
          <p:cNvPr id="16" name="Text 14"/>
          <p:cNvSpPr/>
          <p:nvPr/>
        </p:nvSpPr>
        <p:spPr>
          <a:xfrm>
            <a:off x="4800600" y="3246120"/>
            <a:ext cx="3657600" cy="274320"/>
          </a:xfrm>
          <a:prstGeom prst="rect">
            <a:avLst/>
          </a:prstGeom>
          <a:noFill/>
          <a:ln/>
        </p:spPr>
        <p:txBody>
          <a:bodyPr wrap="square" lIns="0" tIns="0" rIns="0" bIns="0" rtlCol="0" anchor="ctr"/>
          <a:lstStyle/>
          <a:p>
            <a:pPr algn="l" indent="0" marL="0">
              <a:buNone/>
            </a:pPr>
            <a:r>
              <a:rPr lang="en-US" sz="1000" dirty="0">
                <a:solidFill>
                  <a:srgbClr val="FFFFFF"/>
                </a:solidFill>
                <a:latin typeface="Yu Gothic" pitchFamily="34" charset="0"/>
                <a:ea typeface="Yu Gothic" pitchFamily="34" charset="-122"/>
                <a:cs typeface="Yu Gothic" pitchFamily="34" charset="-120"/>
              </a:rPr>
              <a:t>ぺいほーむは</a:t>
            </a:r>
            <a:endParaRPr lang="en-US" sz="1000" dirty="0"/>
          </a:p>
        </p:txBody>
      </p:sp>
      <p:sp>
        <p:nvSpPr>
          <p:cNvPr id="17" name="Text 15"/>
          <p:cNvSpPr/>
          <p:nvPr/>
        </p:nvSpPr>
        <p:spPr>
          <a:xfrm>
            <a:off x="4800600" y="3520440"/>
            <a:ext cx="3657600" cy="411480"/>
          </a:xfrm>
          <a:prstGeom prst="rect">
            <a:avLst/>
          </a:prstGeom>
          <a:noFill/>
          <a:ln/>
        </p:spPr>
        <p:txBody>
          <a:bodyPr wrap="square" lIns="0" tIns="0" rIns="0" bIns="0" rtlCol="0" anchor="ctr"/>
          <a:lstStyle/>
          <a:p>
            <a:pPr algn="l" indent="0" marL="0">
              <a:buNone/>
            </a:pPr>
            <a:r>
              <a:rPr lang="en-US" sz="1700" b="1" dirty="0">
                <a:solidFill>
                  <a:srgbClr val="FFFFFF"/>
                </a:solidFill>
                <a:latin typeface="Yu Gothic" pitchFamily="34" charset="0"/>
                <a:ea typeface="Yu Gothic" pitchFamily="34" charset="-122"/>
                <a:cs typeface="Yu Gothic" pitchFamily="34" charset="-120"/>
              </a:rPr>
              <a:t>家づくりの伴走役</a:t>
            </a:r>
            <a:endParaRPr lang="en-US" sz="1700" dirty="0"/>
          </a:p>
        </p:txBody>
      </p:sp>
      <p:sp>
        <p:nvSpPr>
          <p:cNvPr id="18" name="Text 16"/>
          <p:cNvSpPr/>
          <p:nvPr/>
        </p:nvSpPr>
        <p:spPr>
          <a:xfrm>
            <a:off x="4800600" y="3977640"/>
            <a:ext cx="3520440" cy="502920"/>
          </a:xfrm>
          <a:prstGeom prst="rect">
            <a:avLst/>
          </a:prstGeom>
          <a:noFill/>
          <a:ln/>
        </p:spPr>
        <p:txBody>
          <a:bodyPr wrap="square" lIns="0" tIns="0" rIns="0" bIns="0" rtlCol="0" anchor="t"/>
          <a:lstStyle/>
          <a:p>
            <a:pPr algn="l" indent="0" marL="0">
              <a:buNone/>
            </a:pPr>
            <a:r>
              <a:rPr lang="en-US" sz="1000" dirty="0">
                <a:solidFill>
                  <a:srgbClr val="FFFFFF"/>
                </a:solidFill>
                <a:latin typeface="Yu Gothic" pitchFamily="34" charset="0"/>
                <a:ea typeface="Yu Gothic" pitchFamily="34" charset="-122"/>
                <a:cs typeface="Yu Gothic" pitchFamily="34" charset="-120"/>
              </a:rPr>
              <a:t>情報収集から見学会予約まで、お客様の不安に寄り添ってご案内する案内役。</a:t>
            </a:r>
            <a:endParaRPr lang="en-US" sz="1000" dirty="0"/>
          </a:p>
        </p:txBody>
      </p:sp>
      <p:sp>
        <p:nvSpPr>
          <p:cNvPr id="19" name="Shape 17"/>
          <p:cNvSpPr/>
          <p:nvPr/>
        </p:nvSpPr>
        <p:spPr>
          <a:xfrm>
            <a:off x="365760" y="4823460"/>
            <a:ext cx="8412480" cy="0"/>
          </a:xfrm>
          <a:prstGeom prst="line">
            <a:avLst/>
          </a:prstGeom>
          <a:noFill/>
          <a:ln w="9525">
            <a:solidFill>
              <a:srgbClr val="EBDFD0"/>
            </a:solidFill>
            <a:prstDash val="solid"/>
          </a:ln>
        </p:spPr>
      </p:sp>
      <p:sp>
        <p:nvSpPr>
          <p:cNvPr id="20" name="Text 18"/>
          <p:cNvSpPr/>
          <p:nvPr/>
        </p:nvSpPr>
        <p:spPr>
          <a:xfrm>
            <a:off x="365760" y="4850892"/>
            <a:ext cx="4572000" cy="274320"/>
          </a:xfrm>
          <a:prstGeom prst="rect">
            <a:avLst/>
          </a:prstGeom>
          <a:noFill/>
          <a:ln/>
        </p:spPr>
        <p:txBody>
          <a:bodyPr wrap="square" lIns="0" tIns="0" rIns="0" bIns="0" rtlCol="0" anchor="ctr"/>
          <a:lstStyle/>
          <a:p>
            <a:pPr algn="l" indent="0" marL="0">
              <a:buNone/>
            </a:pPr>
            <a:r>
              <a:rPr lang="en-US" sz="900" dirty="0">
                <a:solidFill>
                  <a:srgbClr val="6B5A47"/>
                </a:solidFill>
                <a:latin typeface="Yu Gothic" pitchFamily="34" charset="0"/>
                <a:ea typeface="Yu Gothic" pitchFamily="34" charset="-122"/>
                <a:cs typeface="Yu Gothic" pitchFamily="34" charset="-120"/>
              </a:rPr>
              <a:t>ぺいほーむ ポータルサイト</a:t>
            </a:r>
            <a:endParaRPr lang="en-US" sz="900" dirty="0"/>
          </a:p>
        </p:txBody>
      </p:sp>
      <p:sp>
        <p:nvSpPr>
          <p:cNvPr id="21" name="Text 19"/>
          <p:cNvSpPr/>
          <p:nvPr/>
        </p:nvSpPr>
        <p:spPr>
          <a:xfrm>
            <a:off x="4206240" y="4850892"/>
            <a:ext cx="4572000" cy="274320"/>
          </a:xfrm>
          <a:prstGeom prst="rect">
            <a:avLst/>
          </a:prstGeom>
          <a:noFill/>
          <a:ln/>
        </p:spPr>
        <p:txBody>
          <a:bodyPr wrap="square" lIns="0" tIns="0" rIns="0" bIns="0" rtlCol="0" anchor="ctr"/>
          <a:lstStyle/>
          <a:p>
            <a:pPr algn="r" indent="0" marL="0">
              <a:buNone/>
            </a:pPr>
            <a:r>
              <a:rPr lang="en-US" sz="900" i="1" dirty="0">
                <a:solidFill>
                  <a:srgbClr val="6B5A47"/>
                </a:solidFill>
                <a:latin typeface="Yu Gothic" pitchFamily="34" charset="0"/>
                <a:ea typeface="Yu Gothic" pitchFamily="34" charset="-122"/>
                <a:cs typeface="Yu Gothic" pitchFamily="34" charset="-120"/>
              </a:rPr>
              <a:t>本気の出会いを、誠実に。</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8740C"/>
          </a:solidFill>
          <a:ln w="12700">
            <a:solidFill>
              <a:srgbClr val="E8740C"/>
            </a:solidFill>
            <a:prstDash val="solid"/>
          </a:ln>
        </p:spPr>
      </p:sp>
      <p:sp>
        <p:nvSpPr>
          <p:cNvPr id="3" name="Text 1"/>
          <p:cNvSpPr/>
          <p:nvPr/>
        </p:nvSpPr>
        <p:spPr>
          <a:xfrm>
            <a:off x="365760" y="182880"/>
            <a:ext cx="1097280" cy="274320"/>
          </a:xfrm>
          <a:prstGeom prst="rect">
            <a:avLst/>
          </a:prstGeom>
          <a:noFill/>
          <a:ln/>
        </p:spPr>
        <p:txBody>
          <a:bodyPr wrap="square" lIns="0" tIns="0" rIns="0" bIns="0" rtlCol="0" anchor="ctr"/>
          <a:lstStyle/>
          <a:p>
            <a:pPr algn="l" indent="0" marL="0">
              <a:buNone/>
            </a:pPr>
            <a:r>
              <a:rPr lang="en-US" sz="1000" b="1" dirty="0">
                <a:solidFill>
                  <a:srgbClr val="E8740C"/>
                </a:solidFill>
                <a:latin typeface="Yu Gothic" pitchFamily="34" charset="0"/>
                <a:ea typeface="Yu Gothic" pitchFamily="34" charset="-122"/>
                <a:cs typeface="Yu Gothic" pitchFamily="34" charset="-120"/>
              </a:rPr>
              <a:t>07 / 20</a:t>
            </a:r>
            <a:endParaRPr lang="en-US" sz="1000" dirty="0"/>
          </a:p>
        </p:txBody>
      </p:sp>
      <p:sp>
        <p:nvSpPr>
          <p:cNvPr id="4" name="Text 2"/>
          <p:cNvSpPr/>
          <p:nvPr/>
        </p:nvSpPr>
        <p:spPr>
          <a:xfrm>
            <a:off x="1554480" y="182880"/>
            <a:ext cx="7223760" cy="274320"/>
          </a:xfrm>
          <a:prstGeom prst="rect">
            <a:avLst/>
          </a:prstGeom>
          <a:noFill/>
          <a:ln/>
        </p:spPr>
        <p:txBody>
          <a:bodyPr wrap="square" lIns="0" tIns="0" rIns="0" bIns="0" rtlCol="0" anchor="ctr"/>
          <a:lstStyle/>
          <a:p>
            <a:pPr algn="r" indent="0" marL="0">
              <a:buNone/>
            </a:pPr>
            <a:r>
              <a:rPr lang="en-US" sz="1000" dirty="0">
                <a:solidFill>
                  <a:srgbClr val="6B5A47"/>
                </a:solidFill>
                <a:latin typeface="Yu Gothic" pitchFamily="34" charset="0"/>
                <a:ea typeface="Yu Gothic" pitchFamily="34" charset="-122"/>
                <a:cs typeface="Yu Gothic" pitchFamily="34" charset="-120"/>
              </a:rPr>
              <a:t>従来の住宅ポータルとの違い</a:t>
            </a:r>
            <a:endParaRPr lang="en-US" sz="1000" dirty="0"/>
          </a:p>
        </p:txBody>
      </p:sp>
      <p:sp>
        <p:nvSpPr>
          <p:cNvPr id="5" name="Shape 3"/>
          <p:cNvSpPr/>
          <p:nvPr/>
        </p:nvSpPr>
        <p:spPr>
          <a:xfrm>
            <a:off x="457200" y="685800"/>
            <a:ext cx="109728" cy="502920"/>
          </a:xfrm>
          <a:prstGeom prst="rect">
            <a:avLst/>
          </a:prstGeom>
          <a:solidFill>
            <a:srgbClr val="E8740C"/>
          </a:solidFill>
          <a:ln w="12700">
            <a:solidFill>
              <a:srgbClr val="E8740C"/>
            </a:solidFill>
            <a:prstDash val="solid"/>
          </a:ln>
        </p:spPr>
      </p:sp>
      <p:sp>
        <p:nvSpPr>
          <p:cNvPr id="6" name="Text 4"/>
          <p:cNvSpPr/>
          <p:nvPr/>
        </p:nvSpPr>
        <p:spPr>
          <a:xfrm>
            <a:off x="685800" y="640080"/>
            <a:ext cx="8229600" cy="594360"/>
          </a:xfrm>
          <a:prstGeom prst="rect">
            <a:avLst/>
          </a:prstGeom>
          <a:noFill/>
          <a:ln/>
        </p:spPr>
        <p:txBody>
          <a:bodyPr wrap="square" lIns="0" tIns="0" rIns="0" bIns="0" rtlCol="0" anchor="ctr"/>
          <a:lstStyle/>
          <a:p>
            <a:pPr algn="l" indent="0" marL="0">
              <a:buNone/>
            </a:pPr>
            <a:r>
              <a:rPr lang="en-US" sz="2600" b="1" dirty="0">
                <a:solidFill>
                  <a:srgbClr val="2A1700"/>
                </a:solidFill>
                <a:latin typeface="Yu Gothic" pitchFamily="34" charset="0"/>
                <a:ea typeface="Yu Gothic" pitchFamily="34" charset="-122"/>
                <a:cs typeface="Yu Gothic" pitchFamily="34" charset="-120"/>
              </a:rPr>
              <a:t>構造そのものが違います</a:t>
            </a:r>
            <a:endParaRPr lang="en-US" sz="2600" dirty="0"/>
          </a:p>
        </p:txBody>
      </p:sp>
      <p:sp>
        <p:nvSpPr>
          <p:cNvPr id="7" name="Text 5"/>
          <p:cNvSpPr/>
          <p:nvPr/>
        </p:nvSpPr>
        <p:spPr>
          <a:xfrm>
            <a:off x="685800" y="1207008"/>
            <a:ext cx="8229600" cy="274320"/>
          </a:xfrm>
          <a:prstGeom prst="rect">
            <a:avLst/>
          </a:prstGeom>
          <a:noFill/>
          <a:ln/>
        </p:spPr>
        <p:txBody>
          <a:bodyPr wrap="square" lIns="0" tIns="0" rIns="0" bIns="0" rtlCol="0" anchor="ctr"/>
          <a:lstStyle/>
          <a:p>
            <a:pPr algn="l" indent="0" marL="0">
              <a:buNone/>
            </a:pPr>
            <a:r>
              <a:rPr lang="en-US" sz="1200" dirty="0">
                <a:solidFill>
                  <a:srgbClr val="6B5A47"/>
                </a:solidFill>
                <a:latin typeface="Yu Gothic" pitchFamily="34" charset="0"/>
                <a:ea typeface="Yu Gothic" pitchFamily="34" charset="-122"/>
                <a:cs typeface="Yu Gothic" pitchFamily="34" charset="-120"/>
              </a:rPr>
              <a:t>広告枠販売型 vs コンテンツ共創型</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8229600" cy="2880360"/>
        </p:xfrm>
        <a:graphic>
          <a:graphicData uri="http://schemas.openxmlformats.org/drawingml/2006/table">
            <a:tbl>
              <a:tblPr/>
              <a:tblGrid>
                <a:gridCol w="1737360"/>
                <a:gridCol w="3246120"/>
                <a:gridCol w="3246120"/>
              </a:tblGrid>
              <a:tr h="411480">
                <a:tc>
                  <a:txBody>
                    <a:bodyPr/>
                    <a:lstStyle/>
                    <a:p>
                      <a:pPr algn="ctr" indent="0" marL="0">
                        <a:buNone/>
                      </a:pPr>
                      <a:r>
                        <a:rPr lang="en-US" sz="1100" b="1" dirty="0">
                          <a:solidFill>
                            <a:srgbClr val="FFFFFF"/>
                          </a:solidFill>
                          <a:latin typeface="Yu Gothic" pitchFamily="34" charset="0"/>
                          <a:ea typeface="Yu Gothic" pitchFamily="34" charset="-122"/>
                          <a:cs typeface="Yu Gothic" pitchFamily="34" charset="-120"/>
                        </a:rPr>
                        <a:t>観点</a:t>
                      </a:r>
                      <a:endParaRPr lang="en-US" sz="1100" dirty="0">
                        <a:latin typeface="Yu Gothic" charset="0"/>
                        <a:ea typeface="Yu Gothic" charset="0"/>
                        <a:cs typeface="Yu Gothic" charset="0"/>
                      </a:endParaRPr>
                    </a:p>
                  </a:txBody>
                  <a:tcPr marL="91440" marR="91440" marT="91440" marB="91440" anchor="ctr">
                    <a:lnL w="6350" cap="flat" cmpd="sng" algn="ctr">
                      <a:solidFill>
                        <a:srgbClr val="EBDFD0"/>
                      </a:solidFill>
                      <a:prstDash val="solid"/>
                      <a:round/>
                      <a:headEnd type="none" w="med" len="med"/>
                      <a:tailEnd type="none" w="med" len="med"/>
                    </a:lnL>
                    <a:lnR w="6350" cap="flat" cmpd="sng" algn="ctr">
                      <a:solidFill>
                        <a:srgbClr val="EBDFD0"/>
                      </a:solidFill>
                      <a:prstDash val="solid"/>
                      <a:round/>
                      <a:headEnd type="none" w="med" len="med"/>
                      <a:tailEnd type="none" w="med" len="med"/>
                    </a:lnR>
                    <a:lnT w="6350" cap="flat" cmpd="sng" algn="ctr">
                      <a:solidFill>
                        <a:srgbClr val="EBDFD0"/>
                      </a:solidFill>
                      <a:prstDash val="solid"/>
                      <a:round/>
                      <a:headEnd type="none" w="med" len="med"/>
                      <a:tailEnd type="none" w="med" len="med"/>
                    </a:lnT>
                    <a:lnB w="6350" cap="flat" cmpd="sng" algn="ctr">
                      <a:solidFill>
                        <a:srgbClr val="EBDFD0"/>
                      </a:solidFill>
                      <a:prstDash val="solid"/>
                      <a:round/>
                      <a:headEnd type="none" w="med" len="med"/>
                      <a:tailEnd type="none" w="med" len="med"/>
                    </a:lnB>
                    <a:solidFill>
                      <a:srgbClr val="2A1700"/>
                    </a:solidFill>
                  </a:tcPr>
                </a:tc>
                <a:tc>
                  <a:txBody>
                    <a:bodyPr/>
                    <a:lstStyle/>
                    <a:p>
                      <a:pPr algn="ctr" indent="0" marL="0">
                        <a:buNone/>
                      </a:pPr>
                      <a:r>
                        <a:rPr lang="en-US" sz="1100" b="1" dirty="0">
                          <a:solidFill>
                            <a:srgbClr val="6B5A47"/>
                          </a:solidFill>
                          <a:latin typeface="Yu Gothic" pitchFamily="34" charset="0"/>
                          <a:ea typeface="Yu Gothic" pitchFamily="34" charset="-122"/>
                          <a:cs typeface="Yu Gothic" pitchFamily="34" charset="-120"/>
                        </a:rPr>
                        <a:t>従来のポータルサイト</a:t>
                      </a:r>
                      <a:endParaRPr lang="en-US" sz="1100" dirty="0">
                        <a:latin typeface="Yu Gothic" charset="0"/>
                        <a:ea typeface="Yu Gothic" charset="0"/>
                        <a:cs typeface="Yu Gothic" charset="0"/>
                      </a:endParaRPr>
                    </a:p>
                  </a:txBody>
                  <a:tcPr marL="91440" marR="91440" marT="91440" marB="91440" anchor="ctr">
                    <a:lnL w="6350" cap="flat" cmpd="sng" algn="ctr">
                      <a:solidFill>
                        <a:srgbClr val="EBDFD0"/>
                      </a:solidFill>
                      <a:prstDash val="solid"/>
                      <a:round/>
                      <a:headEnd type="none" w="med" len="med"/>
                      <a:tailEnd type="none" w="med" len="med"/>
                    </a:lnL>
                    <a:lnR w="6350" cap="flat" cmpd="sng" algn="ctr">
                      <a:solidFill>
                        <a:srgbClr val="EBDFD0"/>
                      </a:solidFill>
                      <a:prstDash val="solid"/>
                      <a:round/>
                      <a:headEnd type="none" w="med" len="med"/>
                      <a:tailEnd type="none" w="med" len="med"/>
                    </a:lnR>
                    <a:lnT w="6350" cap="flat" cmpd="sng" algn="ctr">
                      <a:solidFill>
                        <a:srgbClr val="EBDFD0"/>
                      </a:solidFill>
                      <a:prstDash val="solid"/>
                      <a:round/>
                      <a:headEnd type="none" w="med" len="med"/>
                      <a:tailEnd type="none" w="med" len="med"/>
                    </a:lnT>
                    <a:lnB w="6350" cap="flat" cmpd="sng" algn="ctr">
                      <a:solidFill>
                        <a:srgbClr val="EBDFD0"/>
                      </a:solidFill>
                      <a:prstDash val="solid"/>
                      <a:round/>
                      <a:headEnd type="none" w="med" len="med"/>
                      <a:tailEnd type="none" w="med" len="med"/>
                    </a:lnB>
                    <a:solidFill>
                      <a:srgbClr val="FFF8F0"/>
                    </a:solidFill>
                  </a:tcPr>
                </a:tc>
                <a:tc>
                  <a:txBody>
                    <a:bodyPr/>
                    <a:lstStyle/>
                    <a:p>
                      <a:pPr algn="ctr" indent="0" marL="0">
                        <a:buNone/>
                      </a:pPr>
                      <a:r>
                        <a:rPr lang="en-US" sz="1100" b="1" dirty="0">
                          <a:solidFill>
                            <a:srgbClr val="FFFFFF"/>
                          </a:solidFill>
                          <a:latin typeface="Yu Gothic" pitchFamily="34" charset="0"/>
                          <a:ea typeface="Yu Gothic" pitchFamily="34" charset="-122"/>
                          <a:cs typeface="Yu Gothic" pitchFamily="34" charset="-120"/>
                        </a:rPr>
                        <a:t>ぺいほーむ</a:t>
                      </a:r>
                      <a:endParaRPr lang="en-US" sz="1100" dirty="0">
                        <a:latin typeface="Yu Gothic" charset="0"/>
                        <a:ea typeface="Yu Gothic" charset="0"/>
                        <a:cs typeface="Yu Gothic" charset="0"/>
                      </a:endParaRPr>
                    </a:p>
                  </a:txBody>
                  <a:tcPr marL="91440" marR="91440" marT="91440" marB="91440" anchor="ctr">
                    <a:lnL w="6350" cap="flat" cmpd="sng" algn="ctr">
                      <a:solidFill>
                        <a:srgbClr val="EBDFD0"/>
                      </a:solidFill>
                      <a:prstDash val="solid"/>
                      <a:round/>
                      <a:headEnd type="none" w="med" len="med"/>
                      <a:tailEnd type="none" w="med" len="med"/>
                    </a:lnL>
                    <a:lnR w="6350" cap="flat" cmpd="sng" algn="ctr">
                      <a:solidFill>
                        <a:srgbClr val="EBDFD0"/>
                      </a:solidFill>
                      <a:prstDash val="solid"/>
                      <a:round/>
                      <a:headEnd type="none" w="med" len="med"/>
                      <a:tailEnd type="none" w="med" len="med"/>
                    </a:lnR>
                    <a:lnT w="6350" cap="flat" cmpd="sng" algn="ctr">
                      <a:solidFill>
                        <a:srgbClr val="EBDFD0"/>
                      </a:solidFill>
                      <a:prstDash val="solid"/>
                      <a:round/>
                      <a:headEnd type="none" w="med" len="med"/>
                      <a:tailEnd type="none" w="med" len="med"/>
                    </a:lnT>
                    <a:lnB w="6350" cap="flat" cmpd="sng" algn="ctr">
                      <a:solidFill>
                        <a:srgbClr val="EBDFD0"/>
                      </a:solidFill>
                      <a:prstDash val="solid"/>
                      <a:round/>
                      <a:headEnd type="none" w="med" len="med"/>
                      <a:tailEnd type="none" w="med" len="med"/>
                    </a:lnB>
                    <a:solidFill>
                      <a:srgbClr val="E8740C"/>
                    </a:solidFill>
                  </a:tcPr>
                </a:tc>
              </a:tr>
              <a:tr h="411480">
                <a:tc>
                  <a:txBody>
                    <a:bodyPr/>
                    <a:lstStyle/>
                    <a:p>
                      <a:pPr indent="0" marL="0">
                        <a:buNone/>
                      </a:pPr>
                      <a:r>
                        <a:rPr lang="en-US" sz="1000" b="1" dirty="0">
                          <a:solidFill>
                            <a:srgbClr val="2A1700"/>
                          </a:solidFill>
                          <a:latin typeface="Yu Gothic" pitchFamily="34" charset="0"/>
                          <a:ea typeface="Yu Gothic" pitchFamily="34" charset="-122"/>
                          <a:cs typeface="Yu Gothic" pitchFamily="34" charset="-120"/>
                        </a:rPr>
                        <a:t>集客方法</a:t>
                      </a:r>
                      <a:endParaRPr lang="en-US" sz="1000" dirty="0">
                        <a:latin typeface="Yu Gothic" charset="0"/>
                        <a:ea typeface="Yu Gothic" charset="0"/>
                        <a:cs typeface="Yu Gothic" charset="0"/>
                      </a:endParaRPr>
                    </a:p>
                  </a:txBody>
                  <a:tcPr marL="91440" marR="91440" marT="91440" marB="91440" anchor="ctr">
                    <a:lnL w="6350" cap="flat" cmpd="sng" algn="ctr">
                      <a:solidFill>
                        <a:srgbClr val="EBDFD0"/>
                      </a:solidFill>
                      <a:prstDash val="solid"/>
                      <a:round/>
                      <a:headEnd type="none" w="med" len="med"/>
                      <a:tailEnd type="none" w="med" len="med"/>
                    </a:lnL>
                    <a:lnR w="6350" cap="flat" cmpd="sng" algn="ctr">
                      <a:solidFill>
                        <a:srgbClr val="EBDFD0"/>
                      </a:solidFill>
                      <a:prstDash val="solid"/>
                      <a:round/>
                      <a:headEnd type="none" w="med" len="med"/>
                      <a:tailEnd type="none" w="med" len="med"/>
                    </a:lnR>
                    <a:lnT w="6350" cap="flat" cmpd="sng" algn="ctr">
                      <a:solidFill>
                        <a:srgbClr val="EBDFD0"/>
                      </a:solidFill>
                      <a:prstDash val="solid"/>
                      <a:round/>
                      <a:headEnd type="none" w="med" len="med"/>
                      <a:tailEnd type="none" w="med" len="med"/>
                    </a:lnT>
                    <a:lnB w="6350" cap="flat" cmpd="sng" algn="ctr">
                      <a:solidFill>
                        <a:srgbClr val="EBDFD0"/>
                      </a:solidFill>
                      <a:prstDash val="solid"/>
                      <a:round/>
                      <a:headEnd type="none" w="med" len="med"/>
                      <a:tailEnd type="none" w="med" len="med"/>
                    </a:lnB>
                    <a:solidFill>
                      <a:srgbClr val="FFF8F0"/>
                    </a:solidFill>
                  </a:tcPr>
                </a:tc>
                <a:tc>
                  <a:txBody>
                    <a:bodyPr/>
                    <a:lstStyle/>
                    <a:p>
                      <a:pPr indent="0" marL="0">
                        <a:buNone/>
                      </a:pPr>
                      <a:r>
                        <a:rPr lang="en-US" sz="1000" dirty="0">
                          <a:solidFill>
                            <a:srgbClr val="6B5A47"/>
                          </a:solidFill>
                          <a:latin typeface="Yu Gothic" pitchFamily="34" charset="0"/>
                          <a:ea typeface="Yu Gothic" pitchFamily="34" charset="-122"/>
                          <a:cs typeface="Yu Gothic" pitchFamily="34" charset="-120"/>
                        </a:rPr>
                        <a:t>広告費を払って検索広告を出す</a:t>
                      </a:r>
                      <a:endParaRPr lang="en-US" sz="1000" dirty="0">
                        <a:latin typeface="Yu Gothic" charset="0"/>
                        <a:ea typeface="Yu Gothic" charset="0"/>
                        <a:cs typeface="Yu Gothic" charset="0"/>
                      </a:endParaRPr>
                    </a:p>
                  </a:txBody>
                  <a:tcPr marL="91440" marR="91440" marT="91440" marB="91440" anchor="ctr">
                    <a:lnL w="6350" cap="flat" cmpd="sng" algn="ctr">
                      <a:solidFill>
                        <a:srgbClr val="EBDFD0"/>
                      </a:solidFill>
                      <a:prstDash val="solid"/>
                      <a:round/>
                      <a:headEnd type="none" w="med" len="med"/>
                      <a:tailEnd type="none" w="med" len="med"/>
                    </a:lnL>
                    <a:lnR w="6350" cap="flat" cmpd="sng" algn="ctr">
                      <a:solidFill>
                        <a:srgbClr val="EBDFD0"/>
                      </a:solidFill>
                      <a:prstDash val="solid"/>
                      <a:round/>
                      <a:headEnd type="none" w="med" len="med"/>
                      <a:tailEnd type="none" w="med" len="med"/>
                    </a:lnR>
                    <a:lnT w="6350" cap="flat" cmpd="sng" algn="ctr">
                      <a:solidFill>
                        <a:srgbClr val="EBDFD0"/>
                      </a:solidFill>
                      <a:prstDash val="solid"/>
                      <a:round/>
                      <a:headEnd type="none" w="med" len="med"/>
                      <a:tailEnd type="none" w="med" len="med"/>
                    </a:lnT>
                    <a:lnB w="6350" cap="flat" cmpd="sng" algn="ctr">
                      <a:solidFill>
                        <a:srgbClr val="EBDFD0"/>
                      </a:solidFill>
                      <a:prstDash val="solid"/>
                      <a:round/>
                      <a:headEnd type="none" w="med" len="med"/>
                      <a:tailEnd type="none" w="med" len="med"/>
                    </a:lnB>
                  </a:tcPr>
                </a:tc>
                <a:tc>
                  <a:txBody>
                    <a:bodyPr/>
                    <a:lstStyle/>
                    <a:p>
                      <a:pPr indent="0" marL="0">
                        <a:buNone/>
                      </a:pPr>
                      <a:r>
                        <a:rPr lang="en-US" sz="1000" dirty="0">
                          <a:solidFill>
                            <a:srgbClr val="3D2200"/>
                          </a:solidFill>
                          <a:latin typeface="Yu Gothic" pitchFamily="34" charset="0"/>
                          <a:ea typeface="Yu Gothic" pitchFamily="34" charset="-122"/>
                          <a:cs typeface="Yu Gothic" pitchFamily="34" charset="-120"/>
                        </a:rPr>
                        <a:t>YouTube動画がお客様を連れてくる</a:t>
                      </a:r>
                      <a:endParaRPr lang="en-US" sz="1000" dirty="0">
                        <a:latin typeface="Yu Gothic" charset="0"/>
                        <a:ea typeface="Yu Gothic" charset="0"/>
                        <a:cs typeface="Yu Gothic" charset="0"/>
                      </a:endParaRPr>
                    </a:p>
                  </a:txBody>
                  <a:tcPr marL="91440" marR="91440" marT="91440" marB="91440" anchor="ctr">
                    <a:lnL w="6350" cap="flat" cmpd="sng" algn="ctr">
                      <a:solidFill>
                        <a:srgbClr val="EBDFD0"/>
                      </a:solidFill>
                      <a:prstDash val="solid"/>
                      <a:round/>
                      <a:headEnd type="none" w="med" len="med"/>
                      <a:tailEnd type="none" w="med" len="med"/>
                    </a:lnL>
                    <a:lnR w="6350" cap="flat" cmpd="sng" algn="ctr">
                      <a:solidFill>
                        <a:srgbClr val="EBDFD0"/>
                      </a:solidFill>
                      <a:prstDash val="solid"/>
                      <a:round/>
                      <a:headEnd type="none" w="med" len="med"/>
                      <a:tailEnd type="none" w="med" len="med"/>
                    </a:lnR>
                    <a:lnT w="6350" cap="flat" cmpd="sng" algn="ctr">
                      <a:solidFill>
                        <a:srgbClr val="EBDFD0"/>
                      </a:solidFill>
                      <a:prstDash val="solid"/>
                      <a:round/>
                      <a:headEnd type="none" w="med" len="med"/>
                      <a:tailEnd type="none" w="med" len="med"/>
                    </a:lnT>
                    <a:lnB w="6350" cap="flat" cmpd="sng" algn="ctr">
                      <a:solidFill>
                        <a:srgbClr val="EBDFD0"/>
                      </a:solidFill>
                      <a:prstDash val="solid"/>
                      <a:round/>
                      <a:headEnd type="none" w="med" len="med"/>
                      <a:tailEnd type="none" w="med" len="med"/>
                    </a:lnB>
                  </a:tcPr>
                </a:tc>
              </a:tr>
              <a:tr h="411480">
                <a:tc>
                  <a:txBody>
                    <a:bodyPr/>
                    <a:lstStyle/>
                    <a:p>
                      <a:pPr indent="0" marL="0">
                        <a:buNone/>
                      </a:pPr>
                      <a:r>
                        <a:rPr lang="en-US" sz="1000" b="1" dirty="0">
                          <a:solidFill>
                            <a:srgbClr val="2A1700"/>
                          </a:solidFill>
                          <a:latin typeface="Yu Gothic" pitchFamily="34" charset="0"/>
                          <a:ea typeface="Yu Gothic" pitchFamily="34" charset="-122"/>
                          <a:cs typeface="Yu Gothic" pitchFamily="34" charset="-120"/>
                        </a:rPr>
                        <a:t>工務店様の扱い</a:t>
                      </a:r>
                      <a:endParaRPr lang="en-US" sz="1000" dirty="0">
                        <a:latin typeface="Yu Gothic" charset="0"/>
                        <a:ea typeface="Yu Gothic" charset="0"/>
                        <a:cs typeface="Yu Gothic" charset="0"/>
                      </a:endParaRPr>
                    </a:p>
                  </a:txBody>
                  <a:tcPr marL="91440" marR="91440" marT="91440" marB="91440" anchor="ctr">
                    <a:lnL w="6350" cap="flat" cmpd="sng" algn="ctr">
                      <a:solidFill>
                        <a:srgbClr val="EBDFD0"/>
                      </a:solidFill>
                      <a:prstDash val="solid"/>
                      <a:round/>
                      <a:headEnd type="none" w="med" len="med"/>
                      <a:tailEnd type="none" w="med" len="med"/>
                    </a:lnL>
                    <a:lnR w="6350" cap="flat" cmpd="sng" algn="ctr">
                      <a:solidFill>
                        <a:srgbClr val="EBDFD0"/>
                      </a:solidFill>
                      <a:prstDash val="solid"/>
                      <a:round/>
                      <a:headEnd type="none" w="med" len="med"/>
                      <a:tailEnd type="none" w="med" len="med"/>
                    </a:lnR>
                    <a:lnT w="6350" cap="flat" cmpd="sng" algn="ctr">
                      <a:solidFill>
                        <a:srgbClr val="EBDFD0"/>
                      </a:solidFill>
                      <a:prstDash val="solid"/>
                      <a:round/>
                      <a:headEnd type="none" w="med" len="med"/>
                      <a:tailEnd type="none" w="med" len="med"/>
                    </a:lnT>
                    <a:lnB w="6350" cap="flat" cmpd="sng" algn="ctr">
                      <a:solidFill>
                        <a:srgbClr val="EBDFD0"/>
                      </a:solidFill>
                      <a:prstDash val="solid"/>
                      <a:round/>
                      <a:headEnd type="none" w="med" len="med"/>
                      <a:tailEnd type="none" w="med" len="med"/>
                    </a:lnB>
                    <a:solidFill>
                      <a:srgbClr val="FFF8F0"/>
                    </a:solidFill>
                  </a:tcPr>
                </a:tc>
                <a:tc>
                  <a:txBody>
                    <a:bodyPr/>
                    <a:lstStyle/>
                    <a:p>
                      <a:pPr indent="0" marL="0">
                        <a:buNone/>
                      </a:pPr>
                      <a:r>
                        <a:rPr lang="en-US" sz="1000" dirty="0">
                          <a:solidFill>
                            <a:srgbClr val="6B5A47"/>
                          </a:solidFill>
                          <a:latin typeface="Yu Gothic" pitchFamily="34" charset="0"/>
                          <a:ea typeface="Yu Gothic" pitchFamily="34" charset="-122"/>
                          <a:cs typeface="Yu Gothic" pitchFamily="34" charset="-120"/>
                        </a:rPr>
                        <a:t>広告枠の販売先</a:t>
                      </a:r>
                      <a:endParaRPr lang="en-US" sz="1000" dirty="0">
                        <a:latin typeface="Yu Gothic" charset="0"/>
                        <a:ea typeface="Yu Gothic" charset="0"/>
                        <a:cs typeface="Yu Gothic" charset="0"/>
                      </a:endParaRPr>
                    </a:p>
                  </a:txBody>
                  <a:tcPr marL="91440" marR="91440" marT="91440" marB="91440" anchor="ctr">
                    <a:lnL w="6350" cap="flat" cmpd="sng" algn="ctr">
                      <a:solidFill>
                        <a:srgbClr val="EBDFD0"/>
                      </a:solidFill>
                      <a:prstDash val="solid"/>
                      <a:round/>
                      <a:headEnd type="none" w="med" len="med"/>
                      <a:tailEnd type="none" w="med" len="med"/>
                    </a:lnL>
                    <a:lnR w="6350" cap="flat" cmpd="sng" algn="ctr">
                      <a:solidFill>
                        <a:srgbClr val="EBDFD0"/>
                      </a:solidFill>
                      <a:prstDash val="solid"/>
                      <a:round/>
                      <a:headEnd type="none" w="med" len="med"/>
                      <a:tailEnd type="none" w="med" len="med"/>
                    </a:lnR>
                    <a:lnT w="6350" cap="flat" cmpd="sng" algn="ctr">
                      <a:solidFill>
                        <a:srgbClr val="EBDFD0"/>
                      </a:solidFill>
                      <a:prstDash val="solid"/>
                      <a:round/>
                      <a:headEnd type="none" w="med" len="med"/>
                      <a:tailEnd type="none" w="med" len="med"/>
                    </a:lnT>
                    <a:lnB w="6350" cap="flat" cmpd="sng" algn="ctr">
                      <a:solidFill>
                        <a:srgbClr val="EBDFD0"/>
                      </a:solidFill>
                      <a:prstDash val="solid"/>
                      <a:round/>
                      <a:headEnd type="none" w="med" len="med"/>
                      <a:tailEnd type="none" w="med" len="med"/>
                    </a:lnB>
                  </a:tcPr>
                </a:tc>
                <a:tc>
                  <a:txBody>
                    <a:bodyPr/>
                    <a:lstStyle/>
                    <a:p>
                      <a:pPr indent="0" marL="0">
                        <a:buNone/>
                      </a:pPr>
                      <a:r>
                        <a:rPr lang="en-US" sz="1000" dirty="0">
                          <a:solidFill>
                            <a:srgbClr val="3D2200"/>
                          </a:solidFill>
                          <a:latin typeface="Yu Gothic" pitchFamily="34" charset="0"/>
                          <a:ea typeface="Yu Gothic" pitchFamily="34" charset="-122"/>
                          <a:cs typeface="Yu Gothic" pitchFamily="34" charset="-120"/>
                        </a:rPr>
                        <a:t>共にメディアを育てるパートナー</a:t>
                      </a:r>
                      <a:endParaRPr lang="en-US" sz="1000" dirty="0">
                        <a:latin typeface="Yu Gothic" charset="0"/>
                        <a:ea typeface="Yu Gothic" charset="0"/>
                        <a:cs typeface="Yu Gothic" charset="0"/>
                      </a:endParaRPr>
                    </a:p>
                  </a:txBody>
                  <a:tcPr marL="91440" marR="91440" marT="91440" marB="91440" anchor="ctr">
                    <a:lnL w="6350" cap="flat" cmpd="sng" algn="ctr">
                      <a:solidFill>
                        <a:srgbClr val="EBDFD0"/>
                      </a:solidFill>
                      <a:prstDash val="solid"/>
                      <a:round/>
                      <a:headEnd type="none" w="med" len="med"/>
                      <a:tailEnd type="none" w="med" len="med"/>
                    </a:lnL>
                    <a:lnR w="6350" cap="flat" cmpd="sng" algn="ctr">
                      <a:solidFill>
                        <a:srgbClr val="EBDFD0"/>
                      </a:solidFill>
                      <a:prstDash val="solid"/>
                      <a:round/>
                      <a:headEnd type="none" w="med" len="med"/>
                      <a:tailEnd type="none" w="med" len="med"/>
                    </a:lnR>
                    <a:lnT w="6350" cap="flat" cmpd="sng" algn="ctr">
                      <a:solidFill>
                        <a:srgbClr val="EBDFD0"/>
                      </a:solidFill>
                      <a:prstDash val="solid"/>
                      <a:round/>
                      <a:headEnd type="none" w="med" len="med"/>
                      <a:tailEnd type="none" w="med" len="med"/>
                    </a:lnT>
                    <a:lnB w="6350" cap="flat" cmpd="sng" algn="ctr">
                      <a:solidFill>
                        <a:srgbClr val="EBDFD0"/>
                      </a:solidFill>
                      <a:prstDash val="solid"/>
                      <a:round/>
                      <a:headEnd type="none" w="med" len="med"/>
                      <a:tailEnd type="none" w="med" len="med"/>
                    </a:lnB>
                  </a:tcPr>
                </a:tc>
              </a:tr>
              <a:tr h="411480">
                <a:tc>
                  <a:txBody>
                    <a:bodyPr/>
                    <a:lstStyle/>
                    <a:p>
                      <a:pPr indent="0" marL="0">
                        <a:buNone/>
                      </a:pPr>
                      <a:r>
                        <a:rPr lang="en-US" sz="1000" b="1" dirty="0">
                          <a:solidFill>
                            <a:srgbClr val="2A1700"/>
                          </a:solidFill>
                          <a:latin typeface="Yu Gothic" pitchFamily="34" charset="0"/>
                          <a:ea typeface="Yu Gothic" pitchFamily="34" charset="-122"/>
                          <a:cs typeface="Yu Gothic" pitchFamily="34" charset="-120"/>
                        </a:rPr>
                        <a:t>選ばれ方</a:t>
                      </a:r>
                      <a:endParaRPr lang="en-US" sz="1000" dirty="0">
                        <a:latin typeface="Yu Gothic" charset="0"/>
                        <a:ea typeface="Yu Gothic" charset="0"/>
                        <a:cs typeface="Yu Gothic" charset="0"/>
                      </a:endParaRPr>
                    </a:p>
                  </a:txBody>
                  <a:tcPr marL="91440" marR="91440" marT="91440" marB="91440" anchor="ctr">
                    <a:lnL w="6350" cap="flat" cmpd="sng" algn="ctr">
                      <a:solidFill>
                        <a:srgbClr val="EBDFD0"/>
                      </a:solidFill>
                      <a:prstDash val="solid"/>
                      <a:round/>
                      <a:headEnd type="none" w="med" len="med"/>
                      <a:tailEnd type="none" w="med" len="med"/>
                    </a:lnL>
                    <a:lnR w="6350" cap="flat" cmpd="sng" algn="ctr">
                      <a:solidFill>
                        <a:srgbClr val="EBDFD0"/>
                      </a:solidFill>
                      <a:prstDash val="solid"/>
                      <a:round/>
                      <a:headEnd type="none" w="med" len="med"/>
                      <a:tailEnd type="none" w="med" len="med"/>
                    </a:lnR>
                    <a:lnT w="6350" cap="flat" cmpd="sng" algn="ctr">
                      <a:solidFill>
                        <a:srgbClr val="EBDFD0"/>
                      </a:solidFill>
                      <a:prstDash val="solid"/>
                      <a:round/>
                      <a:headEnd type="none" w="med" len="med"/>
                      <a:tailEnd type="none" w="med" len="med"/>
                    </a:lnT>
                    <a:lnB w="6350" cap="flat" cmpd="sng" algn="ctr">
                      <a:solidFill>
                        <a:srgbClr val="EBDFD0"/>
                      </a:solidFill>
                      <a:prstDash val="solid"/>
                      <a:round/>
                      <a:headEnd type="none" w="med" len="med"/>
                      <a:tailEnd type="none" w="med" len="med"/>
                    </a:lnB>
                    <a:solidFill>
                      <a:srgbClr val="FFF8F0"/>
                    </a:solidFill>
                  </a:tcPr>
                </a:tc>
                <a:tc>
                  <a:txBody>
                    <a:bodyPr/>
                    <a:lstStyle/>
                    <a:p>
                      <a:pPr indent="0" marL="0">
                        <a:buNone/>
                      </a:pPr>
                      <a:r>
                        <a:rPr lang="en-US" sz="1000" dirty="0">
                          <a:solidFill>
                            <a:srgbClr val="6B5A47"/>
                          </a:solidFill>
                          <a:latin typeface="Yu Gothic" pitchFamily="34" charset="0"/>
                          <a:ea typeface="Yu Gothic" pitchFamily="34" charset="-122"/>
                          <a:cs typeface="Yu Gothic" pitchFamily="34" charset="-120"/>
                        </a:rPr>
                        <a:t>スペック一覧の比較</a:t>
                      </a:r>
                      <a:endParaRPr lang="en-US" sz="1000" dirty="0">
                        <a:latin typeface="Yu Gothic" charset="0"/>
                        <a:ea typeface="Yu Gothic" charset="0"/>
                        <a:cs typeface="Yu Gothic" charset="0"/>
                      </a:endParaRPr>
                    </a:p>
                  </a:txBody>
                  <a:tcPr marL="91440" marR="91440" marT="91440" marB="91440" anchor="ctr">
                    <a:lnL w="6350" cap="flat" cmpd="sng" algn="ctr">
                      <a:solidFill>
                        <a:srgbClr val="EBDFD0"/>
                      </a:solidFill>
                      <a:prstDash val="solid"/>
                      <a:round/>
                      <a:headEnd type="none" w="med" len="med"/>
                      <a:tailEnd type="none" w="med" len="med"/>
                    </a:lnL>
                    <a:lnR w="6350" cap="flat" cmpd="sng" algn="ctr">
                      <a:solidFill>
                        <a:srgbClr val="EBDFD0"/>
                      </a:solidFill>
                      <a:prstDash val="solid"/>
                      <a:round/>
                      <a:headEnd type="none" w="med" len="med"/>
                      <a:tailEnd type="none" w="med" len="med"/>
                    </a:lnR>
                    <a:lnT w="6350" cap="flat" cmpd="sng" algn="ctr">
                      <a:solidFill>
                        <a:srgbClr val="EBDFD0"/>
                      </a:solidFill>
                      <a:prstDash val="solid"/>
                      <a:round/>
                      <a:headEnd type="none" w="med" len="med"/>
                      <a:tailEnd type="none" w="med" len="med"/>
                    </a:lnT>
                    <a:lnB w="6350" cap="flat" cmpd="sng" algn="ctr">
                      <a:solidFill>
                        <a:srgbClr val="EBDFD0"/>
                      </a:solidFill>
                      <a:prstDash val="solid"/>
                      <a:round/>
                      <a:headEnd type="none" w="med" len="med"/>
                      <a:tailEnd type="none" w="med" len="med"/>
                    </a:lnB>
                  </a:tcPr>
                </a:tc>
                <a:tc>
                  <a:txBody>
                    <a:bodyPr/>
                    <a:lstStyle/>
                    <a:p>
                      <a:pPr indent="0" marL="0">
                        <a:buNone/>
                      </a:pPr>
                      <a:r>
                        <a:rPr lang="en-US" sz="1000" dirty="0">
                          <a:solidFill>
                            <a:srgbClr val="3D2200"/>
                          </a:solidFill>
                          <a:latin typeface="Yu Gothic" pitchFamily="34" charset="0"/>
                          <a:ea typeface="Yu Gothic" pitchFamily="34" charset="-122"/>
                          <a:cs typeface="Yu Gothic" pitchFamily="34" charset="-120"/>
                        </a:rPr>
                        <a:t>雰囲気と人柄を動画で感じて選ぶ</a:t>
                      </a:r>
                      <a:endParaRPr lang="en-US" sz="1000" dirty="0">
                        <a:latin typeface="Yu Gothic" charset="0"/>
                        <a:ea typeface="Yu Gothic" charset="0"/>
                        <a:cs typeface="Yu Gothic" charset="0"/>
                      </a:endParaRPr>
                    </a:p>
                  </a:txBody>
                  <a:tcPr marL="91440" marR="91440" marT="91440" marB="91440" anchor="ctr">
                    <a:lnL w="6350" cap="flat" cmpd="sng" algn="ctr">
                      <a:solidFill>
                        <a:srgbClr val="EBDFD0"/>
                      </a:solidFill>
                      <a:prstDash val="solid"/>
                      <a:round/>
                      <a:headEnd type="none" w="med" len="med"/>
                      <a:tailEnd type="none" w="med" len="med"/>
                    </a:lnL>
                    <a:lnR w="6350" cap="flat" cmpd="sng" algn="ctr">
                      <a:solidFill>
                        <a:srgbClr val="EBDFD0"/>
                      </a:solidFill>
                      <a:prstDash val="solid"/>
                      <a:round/>
                      <a:headEnd type="none" w="med" len="med"/>
                      <a:tailEnd type="none" w="med" len="med"/>
                    </a:lnR>
                    <a:lnT w="6350" cap="flat" cmpd="sng" algn="ctr">
                      <a:solidFill>
                        <a:srgbClr val="EBDFD0"/>
                      </a:solidFill>
                      <a:prstDash val="solid"/>
                      <a:round/>
                      <a:headEnd type="none" w="med" len="med"/>
                      <a:tailEnd type="none" w="med" len="med"/>
                    </a:lnT>
                    <a:lnB w="6350" cap="flat" cmpd="sng" algn="ctr">
                      <a:solidFill>
                        <a:srgbClr val="EBDFD0"/>
                      </a:solidFill>
                      <a:prstDash val="solid"/>
                      <a:round/>
                      <a:headEnd type="none" w="med" len="med"/>
                      <a:tailEnd type="none" w="med" len="med"/>
                    </a:lnB>
                  </a:tcPr>
                </a:tc>
              </a:tr>
              <a:tr h="411480">
                <a:tc>
                  <a:txBody>
                    <a:bodyPr/>
                    <a:lstStyle/>
                    <a:p>
                      <a:pPr indent="0" marL="0">
                        <a:buNone/>
                      </a:pPr>
                      <a:r>
                        <a:rPr lang="en-US" sz="1000" b="1" dirty="0">
                          <a:solidFill>
                            <a:srgbClr val="2A1700"/>
                          </a:solidFill>
                          <a:latin typeface="Yu Gothic" pitchFamily="34" charset="0"/>
                          <a:ea typeface="Yu Gothic" pitchFamily="34" charset="-122"/>
                          <a:cs typeface="Yu Gothic" pitchFamily="34" charset="-120"/>
                        </a:rPr>
                        <a:t>営業スタイル</a:t>
                      </a:r>
                      <a:endParaRPr lang="en-US" sz="1000" dirty="0">
                        <a:latin typeface="Yu Gothic" charset="0"/>
                        <a:ea typeface="Yu Gothic" charset="0"/>
                        <a:cs typeface="Yu Gothic" charset="0"/>
                      </a:endParaRPr>
                    </a:p>
                  </a:txBody>
                  <a:tcPr marL="91440" marR="91440" marT="91440" marB="91440" anchor="ctr">
                    <a:lnL w="6350" cap="flat" cmpd="sng" algn="ctr">
                      <a:solidFill>
                        <a:srgbClr val="EBDFD0"/>
                      </a:solidFill>
                      <a:prstDash val="solid"/>
                      <a:round/>
                      <a:headEnd type="none" w="med" len="med"/>
                      <a:tailEnd type="none" w="med" len="med"/>
                    </a:lnL>
                    <a:lnR w="6350" cap="flat" cmpd="sng" algn="ctr">
                      <a:solidFill>
                        <a:srgbClr val="EBDFD0"/>
                      </a:solidFill>
                      <a:prstDash val="solid"/>
                      <a:round/>
                      <a:headEnd type="none" w="med" len="med"/>
                      <a:tailEnd type="none" w="med" len="med"/>
                    </a:lnR>
                    <a:lnT w="6350" cap="flat" cmpd="sng" algn="ctr">
                      <a:solidFill>
                        <a:srgbClr val="EBDFD0"/>
                      </a:solidFill>
                      <a:prstDash val="solid"/>
                      <a:round/>
                      <a:headEnd type="none" w="med" len="med"/>
                      <a:tailEnd type="none" w="med" len="med"/>
                    </a:lnT>
                    <a:lnB w="6350" cap="flat" cmpd="sng" algn="ctr">
                      <a:solidFill>
                        <a:srgbClr val="EBDFD0"/>
                      </a:solidFill>
                      <a:prstDash val="solid"/>
                      <a:round/>
                      <a:headEnd type="none" w="med" len="med"/>
                      <a:tailEnd type="none" w="med" len="med"/>
                    </a:lnB>
                    <a:solidFill>
                      <a:srgbClr val="FFF8F0"/>
                    </a:solidFill>
                  </a:tcPr>
                </a:tc>
                <a:tc>
                  <a:txBody>
                    <a:bodyPr/>
                    <a:lstStyle/>
                    <a:p>
                      <a:pPr indent="0" marL="0">
                        <a:buNone/>
                      </a:pPr>
                      <a:r>
                        <a:rPr lang="en-US" sz="1000" dirty="0">
                          <a:solidFill>
                            <a:srgbClr val="6B5A47"/>
                          </a:solidFill>
                          <a:latin typeface="Yu Gothic" pitchFamily="34" charset="0"/>
                          <a:ea typeface="Yu Gothic" pitchFamily="34" charset="-122"/>
                          <a:cs typeface="Yu Gothic" pitchFamily="34" charset="-120"/>
                        </a:rPr>
                        <a:t>数を稼ぐ</a:t>
                      </a:r>
                      <a:endParaRPr lang="en-US" sz="1000" dirty="0">
                        <a:latin typeface="Yu Gothic" charset="0"/>
                        <a:ea typeface="Yu Gothic" charset="0"/>
                        <a:cs typeface="Yu Gothic" charset="0"/>
                      </a:endParaRPr>
                    </a:p>
                  </a:txBody>
                  <a:tcPr marL="91440" marR="91440" marT="91440" marB="91440" anchor="ctr">
                    <a:lnL w="6350" cap="flat" cmpd="sng" algn="ctr">
                      <a:solidFill>
                        <a:srgbClr val="EBDFD0"/>
                      </a:solidFill>
                      <a:prstDash val="solid"/>
                      <a:round/>
                      <a:headEnd type="none" w="med" len="med"/>
                      <a:tailEnd type="none" w="med" len="med"/>
                    </a:lnL>
                    <a:lnR w="6350" cap="flat" cmpd="sng" algn="ctr">
                      <a:solidFill>
                        <a:srgbClr val="EBDFD0"/>
                      </a:solidFill>
                      <a:prstDash val="solid"/>
                      <a:round/>
                      <a:headEnd type="none" w="med" len="med"/>
                      <a:tailEnd type="none" w="med" len="med"/>
                    </a:lnR>
                    <a:lnT w="6350" cap="flat" cmpd="sng" algn="ctr">
                      <a:solidFill>
                        <a:srgbClr val="EBDFD0"/>
                      </a:solidFill>
                      <a:prstDash val="solid"/>
                      <a:round/>
                      <a:headEnd type="none" w="med" len="med"/>
                      <a:tailEnd type="none" w="med" len="med"/>
                    </a:lnT>
                    <a:lnB w="6350" cap="flat" cmpd="sng" algn="ctr">
                      <a:solidFill>
                        <a:srgbClr val="EBDFD0"/>
                      </a:solidFill>
                      <a:prstDash val="solid"/>
                      <a:round/>
                      <a:headEnd type="none" w="med" len="med"/>
                      <a:tailEnd type="none" w="med" len="med"/>
                    </a:lnB>
                  </a:tcPr>
                </a:tc>
                <a:tc>
                  <a:txBody>
                    <a:bodyPr/>
                    <a:lstStyle/>
                    <a:p>
                      <a:pPr indent="0" marL="0">
                        <a:buNone/>
                      </a:pPr>
                      <a:r>
                        <a:rPr lang="en-US" sz="1000" dirty="0">
                          <a:solidFill>
                            <a:srgbClr val="3D2200"/>
                          </a:solidFill>
                          <a:latin typeface="Yu Gothic" pitchFamily="34" charset="0"/>
                          <a:ea typeface="Yu Gothic" pitchFamily="34" charset="-122"/>
                          <a:cs typeface="Yu Gothic" pitchFamily="34" charset="-120"/>
                        </a:rPr>
                        <a:t>本気の方だけに、丁寧に</a:t>
                      </a:r>
                      <a:endParaRPr lang="en-US" sz="1000" dirty="0">
                        <a:latin typeface="Yu Gothic" charset="0"/>
                        <a:ea typeface="Yu Gothic" charset="0"/>
                        <a:cs typeface="Yu Gothic" charset="0"/>
                      </a:endParaRPr>
                    </a:p>
                  </a:txBody>
                  <a:tcPr marL="91440" marR="91440" marT="91440" marB="91440" anchor="ctr">
                    <a:lnL w="6350" cap="flat" cmpd="sng" algn="ctr">
                      <a:solidFill>
                        <a:srgbClr val="EBDFD0"/>
                      </a:solidFill>
                      <a:prstDash val="solid"/>
                      <a:round/>
                      <a:headEnd type="none" w="med" len="med"/>
                      <a:tailEnd type="none" w="med" len="med"/>
                    </a:lnL>
                    <a:lnR w="6350" cap="flat" cmpd="sng" algn="ctr">
                      <a:solidFill>
                        <a:srgbClr val="EBDFD0"/>
                      </a:solidFill>
                      <a:prstDash val="solid"/>
                      <a:round/>
                      <a:headEnd type="none" w="med" len="med"/>
                      <a:tailEnd type="none" w="med" len="med"/>
                    </a:lnR>
                    <a:lnT w="6350" cap="flat" cmpd="sng" algn="ctr">
                      <a:solidFill>
                        <a:srgbClr val="EBDFD0"/>
                      </a:solidFill>
                      <a:prstDash val="solid"/>
                      <a:round/>
                      <a:headEnd type="none" w="med" len="med"/>
                      <a:tailEnd type="none" w="med" len="med"/>
                    </a:lnT>
                    <a:lnB w="6350" cap="flat" cmpd="sng" algn="ctr">
                      <a:solidFill>
                        <a:srgbClr val="EBDFD0"/>
                      </a:solidFill>
                      <a:prstDash val="solid"/>
                      <a:round/>
                      <a:headEnd type="none" w="med" len="med"/>
                      <a:tailEnd type="none" w="med" len="med"/>
                    </a:lnB>
                  </a:tcPr>
                </a:tc>
              </a:tr>
              <a:tr h="411480">
                <a:tc>
                  <a:txBody>
                    <a:bodyPr/>
                    <a:lstStyle/>
                    <a:p>
                      <a:pPr indent="0" marL="0">
                        <a:buNone/>
                      </a:pPr>
                      <a:r>
                        <a:rPr lang="en-US" sz="1000" b="1" dirty="0">
                          <a:solidFill>
                            <a:srgbClr val="2A1700"/>
                          </a:solidFill>
                          <a:latin typeface="Yu Gothic" pitchFamily="34" charset="0"/>
                          <a:ea typeface="Yu Gothic" pitchFamily="34" charset="-122"/>
                          <a:cs typeface="Yu Gothic" pitchFamily="34" charset="-120"/>
                        </a:rPr>
                        <a:t>費用の仕組み</a:t>
                      </a:r>
                      <a:endParaRPr lang="en-US" sz="1000" dirty="0">
                        <a:latin typeface="Yu Gothic" charset="0"/>
                        <a:ea typeface="Yu Gothic" charset="0"/>
                        <a:cs typeface="Yu Gothic" charset="0"/>
                      </a:endParaRPr>
                    </a:p>
                  </a:txBody>
                  <a:tcPr marL="91440" marR="91440" marT="91440" marB="91440" anchor="ctr">
                    <a:lnL w="6350" cap="flat" cmpd="sng" algn="ctr">
                      <a:solidFill>
                        <a:srgbClr val="EBDFD0"/>
                      </a:solidFill>
                      <a:prstDash val="solid"/>
                      <a:round/>
                      <a:headEnd type="none" w="med" len="med"/>
                      <a:tailEnd type="none" w="med" len="med"/>
                    </a:lnL>
                    <a:lnR w="6350" cap="flat" cmpd="sng" algn="ctr">
                      <a:solidFill>
                        <a:srgbClr val="EBDFD0"/>
                      </a:solidFill>
                      <a:prstDash val="solid"/>
                      <a:round/>
                      <a:headEnd type="none" w="med" len="med"/>
                      <a:tailEnd type="none" w="med" len="med"/>
                    </a:lnR>
                    <a:lnT w="6350" cap="flat" cmpd="sng" algn="ctr">
                      <a:solidFill>
                        <a:srgbClr val="EBDFD0"/>
                      </a:solidFill>
                      <a:prstDash val="solid"/>
                      <a:round/>
                      <a:headEnd type="none" w="med" len="med"/>
                      <a:tailEnd type="none" w="med" len="med"/>
                    </a:lnT>
                    <a:lnB w="6350" cap="flat" cmpd="sng" algn="ctr">
                      <a:solidFill>
                        <a:srgbClr val="EBDFD0"/>
                      </a:solidFill>
                      <a:prstDash val="solid"/>
                      <a:round/>
                      <a:headEnd type="none" w="med" len="med"/>
                      <a:tailEnd type="none" w="med" len="med"/>
                    </a:lnB>
                    <a:solidFill>
                      <a:srgbClr val="FFF8F0"/>
                    </a:solidFill>
                  </a:tcPr>
                </a:tc>
                <a:tc>
                  <a:txBody>
                    <a:bodyPr/>
                    <a:lstStyle/>
                    <a:p>
                      <a:pPr indent="0" marL="0">
                        <a:buNone/>
                      </a:pPr>
                      <a:r>
                        <a:rPr lang="en-US" sz="1000" dirty="0">
                          <a:solidFill>
                            <a:srgbClr val="6B5A47"/>
                          </a:solidFill>
                          <a:latin typeface="Yu Gothic" pitchFamily="34" charset="0"/>
                          <a:ea typeface="Yu Gothic" pitchFamily="34" charset="-122"/>
                          <a:cs typeface="Yu Gothic" pitchFamily="34" charset="-120"/>
                        </a:rPr>
                        <a:t>掲載料 + 反響課金 + 成約報酬</a:t>
                      </a:r>
                      <a:endParaRPr lang="en-US" sz="1000" dirty="0">
                        <a:latin typeface="Yu Gothic" charset="0"/>
                        <a:ea typeface="Yu Gothic" charset="0"/>
                        <a:cs typeface="Yu Gothic" charset="0"/>
                      </a:endParaRPr>
                    </a:p>
                  </a:txBody>
                  <a:tcPr marL="91440" marR="91440" marT="91440" marB="91440" anchor="ctr">
                    <a:lnL w="6350" cap="flat" cmpd="sng" algn="ctr">
                      <a:solidFill>
                        <a:srgbClr val="EBDFD0"/>
                      </a:solidFill>
                      <a:prstDash val="solid"/>
                      <a:round/>
                      <a:headEnd type="none" w="med" len="med"/>
                      <a:tailEnd type="none" w="med" len="med"/>
                    </a:lnL>
                    <a:lnR w="6350" cap="flat" cmpd="sng" algn="ctr">
                      <a:solidFill>
                        <a:srgbClr val="EBDFD0"/>
                      </a:solidFill>
                      <a:prstDash val="solid"/>
                      <a:round/>
                      <a:headEnd type="none" w="med" len="med"/>
                      <a:tailEnd type="none" w="med" len="med"/>
                    </a:lnR>
                    <a:lnT w="6350" cap="flat" cmpd="sng" algn="ctr">
                      <a:solidFill>
                        <a:srgbClr val="EBDFD0"/>
                      </a:solidFill>
                      <a:prstDash val="solid"/>
                      <a:round/>
                      <a:headEnd type="none" w="med" len="med"/>
                      <a:tailEnd type="none" w="med" len="med"/>
                    </a:lnT>
                    <a:lnB w="6350" cap="flat" cmpd="sng" algn="ctr">
                      <a:solidFill>
                        <a:srgbClr val="EBDFD0"/>
                      </a:solidFill>
                      <a:prstDash val="solid"/>
                      <a:round/>
                      <a:headEnd type="none" w="med" len="med"/>
                      <a:tailEnd type="none" w="med" len="med"/>
                    </a:lnB>
                  </a:tcPr>
                </a:tc>
                <a:tc>
                  <a:txBody>
                    <a:bodyPr/>
                    <a:lstStyle/>
                    <a:p>
                      <a:pPr indent="0" marL="0">
                        <a:buNone/>
                      </a:pPr>
                      <a:r>
                        <a:rPr lang="en-US" sz="1000" b="1" dirty="0">
                          <a:solidFill>
                            <a:srgbClr val="E8740C"/>
                          </a:solidFill>
                          <a:latin typeface="Yu Gothic" pitchFamily="34" charset="0"/>
                          <a:ea typeface="Yu Gothic" pitchFamily="34" charset="-122"/>
                          <a:cs typeface="Yu Gothic" pitchFamily="34" charset="-120"/>
                        </a:rPr>
                        <a:t>完全成果報酬</a:t>
                      </a:r>
                      <a:endParaRPr lang="en-US" sz="1000" dirty="0">
                        <a:latin typeface="Yu Gothic" charset="0"/>
                        <a:ea typeface="Yu Gothic" charset="0"/>
                        <a:cs typeface="Yu Gothic" charset="0"/>
                      </a:endParaRPr>
                    </a:p>
                  </a:txBody>
                  <a:tcPr marL="91440" marR="91440" marT="91440" marB="91440" anchor="ctr">
                    <a:lnL w="6350" cap="flat" cmpd="sng" algn="ctr">
                      <a:solidFill>
                        <a:srgbClr val="EBDFD0"/>
                      </a:solidFill>
                      <a:prstDash val="solid"/>
                      <a:round/>
                      <a:headEnd type="none" w="med" len="med"/>
                      <a:tailEnd type="none" w="med" len="med"/>
                    </a:lnL>
                    <a:lnR w="6350" cap="flat" cmpd="sng" algn="ctr">
                      <a:solidFill>
                        <a:srgbClr val="EBDFD0"/>
                      </a:solidFill>
                      <a:prstDash val="solid"/>
                      <a:round/>
                      <a:headEnd type="none" w="med" len="med"/>
                      <a:tailEnd type="none" w="med" len="med"/>
                    </a:lnR>
                    <a:lnT w="6350" cap="flat" cmpd="sng" algn="ctr">
                      <a:solidFill>
                        <a:srgbClr val="EBDFD0"/>
                      </a:solidFill>
                      <a:prstDash val="solid"/>
                      <a:round/>
                      <a:headEnd type="none" w="med" len="med"/>
                      <a:tailEnd type="none" w="med" len="med"/>
                    </a:lnT>
                    <a:lnB w="6350" cap="flat" cmpd="sng" algn="ctr">
                      <a:solidFill>
                        <a:srgbClr val="EBDFD0"/>
                      </a:solidFill>
                      <a:prstDash val="solid"/>
                      <a:round/>
                      <a:headEnd type="none" w="med" len="med"/>
                      <a:tailEnd type="none" w="med" len="med"/>
                    </a:lnB>
                  </a:tcPr>
                </a:tc>
              </a:tr>
              <a:tr h="411480">
                <a:tc>
                  <a:txBody>
                    <a:bodyPr/>
                    <a:lstStyle/>
                    <a:p>
                      <a:pPr indent="0" marL="0">
                        <a:buNone/>
                      </a:pPr>
                      <a:r>
                        <a:rPr lang="en-US" sz="1000" b="1" dirty="0">
                          <a:solidFill>
                            <a:srgbClr val="2A1700"/>
                          </a:solidFill>
                          <a:latin typeface="Yu Gothic" pitchFamily="34" charset="0"/>
                          <a:ea typeface="Yu Gothic" pitchFamily="34" charset="-122"/>
                          <a:cs typeface="Yu Gothic" pitchFamily="34" charset="-120"/>
                        </a:rPr>
                        <a:t>残るもの</a:t>
                      </a:r>
                      <a:endParaRPr lang="en-US" sz="1000" dirty="0">
                        <a:latin typeface="Yu Gothic" charset="0"/>
                        <a:ea typeface="Yu Gothic" charset="0"/>
                        <a:cs typeface="Yu Gothic" charset="0"/>
                      </a:endParaRPr>
                    </a:p>
                  </a:txBody>
                  <a:tcPr marL="91440" marR="91440" marT="91440" marB="91440" anchor="ctr">
                    <a:lnL w="6350" cap="flat" cmpd="sng" algn="ctr">
                      <a:solidFill>
                        <a:srgbClr val="EBDFD0"/>
                      </a:solidFill>
                      <a:prstDash val="solid"/>
                      <a:round/>
                      <a:headEnd type="none" w="med" len="med"/>
                      <a:tailEnd type="none" w="med" len="med"/>
                    </a:lnL>
                    <a:lnR w="6350" cap="flat" cmpd="sng" algn="ctr">
                      <a:solidFill>
                        <a:srgbClr val="EBDFD0"/>
                      </a:solidFill>
                      <a:prstDash val="solid"/>
                      <a:round/>
                      <a:headEnd type="none" w="med" len="med"/>
                      <a:tailEnd type="none" w="med" len="med"/>
                    </a:lnR>
                    <a:lnT w="6350" cap="flat" cmpd="sng" algn="ctr">
                      <a:solidFill>
                        <a:srgbClr val="EBDFD0"/>
                      </a:solidFill>
                      <a:prstDash val="solid"/>
                      <a:round/>
                      <a:headEnd type="none" w="med" len="med"/>
                      <a:tailEnd type="none" w="med" len="med"/>
                    </a:lnT>
                    <a:lnB w="6350" cap="flat" cmpd="sng" algn="ctr">
                      <a:solidFill>
                        <a:srgbClr val="EBDFD0"/>
                      </a:solidFill>
                      <a:prstDash val="solid"/>
                      <a:round/>
                      <a:headEnd type="none" w="med" len="med"/>
                      <a:tailEnd type="none" w="med" len="med"/>
                    </a:lnB>
                    <a:solidFill>
                      <a:srgbClr val="FFF8F0"/>
                    </a:solidFill>
                  </a:tcPr>
                </a:tc>
                <a:tc>
                  <a:txBody>
                    <a:bodyPr/>
                    <a:lstStyle/>
                    <a:p>
                      <a:pPr indent="0" marL="0">
                        <a:buNone/>
                      </a:pPr>
                      <a:r>
                        <a:rPr lang="en-US" sz="1000" dirty="0">
                          <a:solidFill>
                            <a:srgbClr val="6B5A47"/>
                          </a:solidFill>
                          <a:latin typeface="Yu Gothic" pitchFamily="34" charset="0"/>
                          <a:ea typeface="Yu Gothic" pitchFamily="34" charset="-122"/>
                          <a:cs typeface="Yu Gothic" pitchFamily="34" charset="-120"/>
                        </a:rPr>
                        <a:t>広告費（消えていく）</a:t>
                      </a:r>
                      <a:endParaRPr lang="en-US" sz="1000" dirty="0">
                        <a:latin typeface="Yu Gothic" charset="0"/>
                        <a:ea typeface="Yu Gothic" charset="0"/>
                        <a:cs typeface="Yu Gothic" charset="0"/>
                      </a:endParaRPr>
                    </a:p>
                  </a:txBody>
                  <a:tcPr marL="91440" marR="91440" marT="91440" marB="91440" anchor="ctr">
                    <a:lnL w="6350" cap="flat" cmpd="sng" algn="ctr">
                      <a:solidFill>
                        <a:srgbClr val="EBDFD0"/>
                      </a:solidFill>
                      <a:prstDash val="solid"/>
                      <a:round/>
                      <a:headEnd type="none" w="med" len="med"/>
                      <a:tailEnd type="none" w="med" len="med"/>
                    </a:lnL>
                    <a:lnR w="6350" cap="flat" cmpd="sng" algn="ctr">
                      <a:solidFill>
                        <a:srgbClr val="EBDFD0"/>
                      </a:solidFill>
                      <a:prstDash val="solid"/>
                      <a:round/>
                      <a:headEnd type="none" w="med" len="med"/>
                      <a:tailEnd type="none" w="med" len="med"/>
                    </a:lnR>
                    <a:lnT w="6350" cap="flat" cmpd="sng" algn="ctr">
                      <a:solidFill>
                        <a:srgbClr val="EBDFD0"/>
                      </a:solidFill>
                      <a:prstDash val="solid"/>
                      <a:round/>
                      <a:headEnd type="none" w="med" len="med"/>
                      <a:tailEnd type="none" w="med" len="med"/>
                    </a:lnT>
                    <a:lnB w="6350" cap="flat" cmpd="sng" algn="ctr">
                      <a:solidFill>
                        <a:srgbClr val="EBDFD0"/>
                      </a:solidFill>
                      <a:prstDash val="solid"/>
                      <a:round/>
                      <a:headEnd type="none" w="med" len="med"/>
                      <a:tailEnd type="none" w="med" len="med"/>
                    </a:lnB>
                  </a:tcPr>
                </a:tc>
                <a:tc>
                  <a:txBody>
                    <a:bodyPr/>
                    <a:lstStyle/>
                    <a:p>
                      <a:pPr indent="0" marL="0">
                        <a:buNone/>
                      </a:pPr>
                      <a:r>
                        <a:rPr lang="en-US" sz="1000" b="1" dirty="0">
                          <a:solidFill>
                            <a:srgbClr val="E8740C"/>
                          </a:solidFill>
                          <a:latin typeface="Yu Gothic" pitchFamily="34" charset="0"/>
                          <a:ea typeface="Yu Gothic" pitchFamily="34" charset="-122"/>
                          <a:cs typeface="Yu Gothic" pitchFamily="34" charset="-120"/>
                        </a:rPr>
                        <a:t>動画や記事が資産として残り続ける</a:t>
                      </a:r>
                      <a:endParaRPr lang="en-US" sz="1000" dirty="0">
                        <a:latin typeface="Yu Gothic" charset="0"/>
                        <a:ea typeface="Yu Gothic" charset="0"/>
                        <a:cs typeface="Yu Gothic" charset="0"/>
                      </a:endParaRPr>
                    </a:p>
                  </a:txBody>
                  <a:tcPr marL="91440" marR="91440" marT="91440" marB="91440" anchor="ctr">
                    <a:lnL w="6350" cap="flat" cmpd="sng" algn="ctr">
                      <a:solidFill>
                        <a:srgbClr val="EBDFD0"/>
                      </a:solidFill>
                      <a:prstDash val="solid"/>
                      <a:round/>
                      <a:headEnd type="none" w="med" len="med"/>
                      <a:tailEnd type="none" w="med" len="med"/>
                    </a:lnL>
                    <a:lnR w="6350" cap="flat" cmpd="sng" algn="ctr">
                      <a:solidFill>
                        <a:srgbClr val="EBDFD0"/>
                      </a:solidFill>
                      <a:prstDash val="solid"/>
                      <a:round/>
                      <a:headEnd type="none" w="med" len="med"/>
                      <a:tailEnd type="none" w="med" len="med"/>
                    </a:lnR>
                    <a:lnT w="6350" cap="flat" cmpd="sng" algn="ctr">
                      <a:solidFill>
                        <a:srgbClr val="EBDFD0"/>
                      </a:solidFill>
                      <a:prstDash val="solid"/>
                      <a:round/>
                      <a:headEnd type="none" w="med" len="med"/>
                      <a:tailEnd type="none" w="med" len="med"/>
                    </a:lnT>
                    <a:lnB w="6350" cap="flat" cmpd="sng" algn="ctr">
                      <a:solidFill>
                        <a:srgbClr val="EBDFD0"/>
                      </a:solidFill>
                      <a:prstDash val="solid"/>
                      <a:round/>
                      <a:headEnd type="none" w="med" len="med"/>
                      <a:tailEnd type="none" w="med" len="med"/>
                    </a:lnB>
                  </a:tcPr>
                </a:tc>
              </a:tr>
            </a:tbl>
          </a:graphicData>
        </a:graphic>
      </p:graphicFrame>
      <p:sp>
        <p:nvSpPr>
          <p:cNvPr id="9" name="Shape 6"/>
          <p:cNvSpPr/>
          <p:nvPr/>
        </p:nvSpPr>
        <p:spPr>
          <a:xfrm>
            <a:off x="365760" y="4823460"/>
            <a:ext cx="8412480" cy="0"/>
          </a:xfrm>
          <a:prstGeom prst="line">
            <a:avLst/>
          </a:prstGeom>
          <a:noFill/>
          <a:ln w="9525">
            <a:solidFill>
              <a:srgbClr val="EBDFD0"/>
            </a:solidFill>
            <a:prstDash val="solid"/>
          </a:ln>
        </p:spPr>
      </p:sp>
      <p:sp>
        <p:nvSpPr>
          <p:cNvPr id="10" name="Text 7"/>
          <p:cNvSpPr/>
          <p:nvPr/>
        </p:nvSpPr>
        <p:spPr>
          <a:xfrm>
            <a:off x="365760" y="4850892"/>
            <a:ext cx="4572000" cy="274320"/>
          </a:xfrm>
          <a:prstGeom prst="rect">
            <a:avLst/>
          </a:prstGeom>
          <a:noFill/>
          <a:ln/>
        </p:spPr>
        <p:txBody>
          <a:bodyPr wrap="square" lIns="0" tIns="0" rIns="0" bIns="0" rtlCol="0" anchor="ctr"/>
          <a:lstStyle/>
          <a:p>
            <a:pPr algn="l" indent="0" marL="0">
              <a:buNone/>
            </a:pPr>
            <a:r>
              <a:rPr lang="en-US" sz="900" dirty="0">
                <a:solidFill>
                  <a:srgbClr val="6B5A47"/>
                </a:solidFill>
                <a:latin typeface="Yu Gothic" pitchFamily="34" charset="0"/>
                <a:ea typeface="Yu Gothic" pitchFamily="34" charset="-122"/>
                <a:cs typeface="Yu Gothic" pitchFamily="34" charset="-120"/>
              </a:rPr>
              <a:t>ぺいほーむ ポータルサイト</a:t>
            </a:r>
            <a:endParaRPr lang="en-US" sz="900" dirty="0"/>
          </a:p>
        </p:txBody>
      </p:sp>
      <p:sp>
        <p:nvSpPr>
          <p:cNvPr id="11" name="Text 8"/>
          <p:cNvSpPr/>
          <p:nvPr/>
        </p:nvSpPr>
        <p:spPr>
          <a:xfrm>
            <a:off x="4206240" y="4850892"/>
            <a:ext cx="4572000" cy="274320"/>
          </a:xfrm>
          <a:prstGeom prst="rect">
            <a:avLst/>
          </a:prstGeom>
          <a:noFill/>
          <a:ln/>
        </p:spPr>
        <p:txBody>
          <a:bodyPr wrap="square" lIns="0" tIns="0" rIns="0" bIns="0" rtlCol="0" anchor="ctr"/>
          <a:lstStyle/>
          <a:p>
            <a:pPr algn="r" indent="0" marL="0">
              <a:buNone/>
            </a:pPr>
            <a:r>
              <a:rPr lang="en-US" sz="900" i="1" dirty="0">
                <a:solidFill>
                  <a:srgbClr val="6B5A47"/>
                </a:solidFill>
                <a:latin typeface="Yu Gothic" pitchFamily="34" charset="0"/>
                <a:ea typeface="Yu Gothic" pitchFamily="34" charset="-122"/>
                <a:cs typeface="Yu Gothic" pitchFamily="34" charset="-120"/>
              </a:rPr>
              <a:t>本気の出会いを、誠実に。</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8740C"/>
          </a:solidFill>
          <a:ln w="12700">
            <a:solidFill>
              <a:srgbClr val="E8740C"/>
            </a:solidFill>
            <a:prstDash val="solid"/>
          </a:ln>
        </p:spPr>
      </p:sp>
      <p:sp>
        <p:nvSpPr>
          <p:cNvPr id="3" name="Text 1"/>
          <p:cNvSpPr/>
          <p:nvPr/>
        </p:nvSpPr>
        <p:spPr>
          <a:xfrm>
            <a:off x="365760" y="182880"/>
            <a:ext cx="1097280" cy="274320"/>
          </a:xfrm>
          <a:prstGeom prst="rect">
            <a:avLst/>
          </a:prstGeom>
          <a:noFill/>
          <a:ln/>
        </p:spPr>
        <p:txBody>
          <a:bodyPr wrap="square" lIns="0" tIns="0" rIns="0" bIns="0" rtlCol="0" anchor="ctr"/>
          <a:lstStyle/>
          <a:p>
            <a:pPr algn="l" indent="0" marL="0">
              <a:buNone/>
            </a:pPr>
            <a:r>
              <a:rPr lang="en-US" sz="1000" b="1" dirty="0">
                <a:solidFill>
                  <a:srgbClr val="E8740C"/>
                </a:solidFill>
                <a:latin typeface="Yu Gothic" pitchFamily="34" charset="0"/>
                <a:ea typeface="Yu Gothic" pitchFamily="34" charset="-122"/>
                <a:cs typeface="Yu Gothic" pitchFamily="34" charset="-120"/>
              </a:rPr>
              <a:t>08 / 20</a:t>
            </a:r>
            <a:endParaRPr lang="en-US" sz="1000" dirty="0"/>
          </a:p>
        </p:txBody>
      </p:sp>
      <p:sp>
        <p:nvSpPr>
          <p:cNvPr id="4" name="Text 2"/>
          <p:cNvSpPr/>
          <p:nvPr/>
        </p:nvSpPr>
        <p:spPr>
          <a:xfrm>
            <a:off x="1554480" y="182880"/>
            <a:ext cx="7223760" cy="274320"/>
          </a:xfrm>
          <a:prstGeom prst="rect">
            <a:avLst/>
          </a:prstGeom>
          <a:noFill/>
          <a:ln/>
        </p:spPr>
        <p:txBody>
          <a:bodyPr wrap="square" lIns="0" tIns="0" rIns="0" bIns="0" rtlCol="0" anchor="ctr"/>
          <a:lstStyle/>
          <a:p>
            <a:pPr algn="r" indent="0" marL="0">
              <a:buNone/>
            </a:pPr>
            <a:r>
              <a:rPr lang="en-US" sz="1000" dirty="0">
                <a:solidFill>
                  <a:srgbClr val="6B5A47"/>
                </a:solidFill>
                <a:latin typeface="Yu Gothic" pitchFamily="34" charset="0"/>
                <a:ea typeface="Yu Gothic" pitchFamily="34" charset="-122"/>
                <a:cs typeface="Yu Gothic" pitchFamily="34" charset="-120"/>
              </a:rPr>
              <a:t>資料請求を進化させた3つの仕組み</a:t>
            </a:r>
            <a:endParaRPr lang="en-US" sz="1000" dirty="0"/>
          </a:p>
        </p:txBody>
      </p:sp>
      <p:sp>
        <p:nvSpPr>
          <p:cNvPr id="5" name="Shape 3"/>
          <p:cNvSpPr/>
          <p:nvPr/>
        </p:nvSpPr>
        <p:spPr>
          <a:xfrm>
            <a:off x="457200" y="685800"/>
            <a:ext cx="109728" cy="502920"/>
          </a:xfrm>
          <a:prstGeom prst="rect">
            <a:avLst/>
          </a:prstGeom>
          <a:solidFill>
            <a:srgbClr val="E8740C"/>
          </a:solidFill>
          <a:ln w="12700">
            <a:solidFill>
              <a:srgbClr val="E8740C"/>
            </a:solidFill>
            <a:prstDash val="solid"/>
          </a:ln>
        </p:spPr>
      </p:sp>
      <p:sp>
        <p:nvSpPr>
          <p:cNvPr id="6" name="Text 4"/>
          <p:cNvSpPr/>
          <p:nvPr/>
        </p:nvSpPr>
        <p:spPr>
          <a:xfrm>
            <a:off x="685800" y="640080"/>
            <a:ext cx="8229600" cy="594360"/>
          </a:xfrm>
          <a:prstGeom prst="rect">
            <a:avLst/>
          </a:prstGeom>
          <a:noFill/>
          <a:ln/>
        </p:spPr>
        <p:txBody>
          <a:bodyPr wrap="square" lIns="0" tIns="0" rIns="0" bIns="0" rtlCol="0" anchor="ctr"/>
          <a:lstStyle/>
          <a:p>
            <a:pPr algn="l" indent="0" marL="0">
              <a:buNone/>
            </a:pPr>
            <a:r>
              <a:rPr lang="en-US" sz="2600" b="1" dirty="0">
                <a:solidFill>
                  <a:srgbClr val="2A1700"/>
                </a:solidFill>
                <a:latin typeface="Yu Gothic" pitchFamily="34" charset="0"/>
                <a:ea typeface="Yu Gothic" pitchFamily="34" charset="-122"/>
                <a:cs typeface="Yu Gothic" pitchFamily="34" charset="-120"/>
              </a:rPr>
              <a:t>「資料請求」を、もっと価値のある体験へ</a:t>
            </a:r>
            <a:endParaRPr lang="en-US" sz="2600" dirty="0"/>
          </a:p>
        </p:txBody>
      </p:sp>
      <p:sp>
        <p:nvSpPr>
          <p:cNvPr id="7" name="Text 5"/>
          <p:cNvSpPr/>
          <p:nvPr/>
        </p:nvSpPr>
        <p:spPr>
          <a:xfrm>
            <a:off x="685800" y="1207008"/>
            <a:ext cx="8229600" cy="274320"/>
          </a:xfrm>
          <a:prstGeom prst="rect">
            <a:avLst/>
          </a:prstGeom>
          <a:noFill/>
          <a:ln/>
        </p:spPr>
        <p:txBody>
          <a:bodyPr wrap="square" lIns="0" tIns="0" rIns="0" bIns="0" rtlCol="0" anchor="ctr"/>
          <a:lstStyle/>
          <a:p>
            <a:pPr algn="l" indent="0" marL="0">
              <a:buNone/>
            </a:pPr>
            <a:r>
              <a:rPr lang="en-US" sz="1200" dirty="0">
                <a:solidFill>
                  <a:srgbClr val="6B5A47"/>
                </a:solidFill>
                <a:latin typeface="Yu Gothic" pitchFamily="34" charset="0"/>
                <a:ea typeface="Yu Gothic" pitchFamily="34" charset="-122"/>
                <a:cs typeface="Yu Gothic" pitchFamily="34" charset="-120"/>
              </a:rPr>
              <a:t>ぺいほーむは従来の資料請求を、3つの仕組みに再設計しました</a:t>
            </a:r>
            <a:endParaRPr lang="en-US" sz="1200" dirty="0"/>
          </a:p>
        </p:txBody>
      </p:sp>
      <p:sp>
        <p:nvSpPr>
          <p:cNvPr id="8" name="Shape 6"/>
          <p:cNvSpPr/>
          <p:nvPr/>
        </p:nvSpPr>
        <p:spPr>
          <a:xfrm>
            <a:off x="457200" y="1691640"/>
            <a:ext cx="2679192" cy="2834640"/>
          </a:xfrm>
          <a:prstGeom prst="rect">
            <a:avLst/>
          </a:prstGeom>
          <a:solidFill>
            <a:srgbClr val="FFFFFF"/>
          </a:solidFill>
          <a:ln w="12700">
            <a:solidFill>
              <a:srgbClr val="EBDFD0"/>
            </a:solidFill>
            <a:prstDash val="solid"/>
          </a:ln>
          <a:effectLst>
            <a:outerShdw sx="100000" sy="100000" kx="0" ky="0" algn="bl" rotWithShape="0" blurRad="101600" dist="25400" dir="5400000">
              <a:srgbClr val="000000">
                <a:alpha val="8000"/>
              </a:srgbClr>
            </a:outerShdw>
          </a:effectLst>
        </p:spPr>
      </p:sp>
      <p:sp>
        <p:nvSpPr>
          <p:cNvPr id="9" name="Shape 7"/>
          <p:cNvSpPr/>
          <p:nvPr/>
        </p:nvSpPr>
        <p:spPr>
          <a:xfrm>
            <a:off x="457200" y="1691640"/>
            <a:ext cx="2679192" cy="73152"/>
          </a:xfrm>
          <a:prstGeom prst="rect">
            <a:avLst/>
          </a:prstGeom>
          <a:solidFill>
            <a:srgbClr val="E8740C"/>
          </a:solidFill>
          <a:ln w="12700">
            <a:solidFill>
              <a:srgbClr val="E8740C"/>
            </a:solidFill>
            <a:prstDash val="solid"/>
          </a:ln>
        </p:spPr>
      </p:sp>
      <p:sp>
        <p:nvSpPr>
          <p:cNvPr id="10" name="Text 8"/>
          <p:cNvSpPr/>
          <p:nvPr/>
        </p:nvSpPr>
        <p:spPr>
          <a:xfrm>
            <a:off x="640080" y="1874520"/>
            <a:ext cx="1371600" cy="411480"/>
          </a:xfrm>
          <a:prstGeom prst="rect">
            <a:avLst/>
          </a:prstGeom>
          <a:noFill/>
          <a:ln/>
        </p:spPr>
        <p:txBody>
          <a:bodyPr wrap="square" lIns="0" tIns="0" rIns="0" bIns="0" rtlCol="0" anchor="ctr"/>
          <a:lstStyle/>
          <a:p>
            <a:pPr algn="l" indent="0" marL="0">
              <a:buNone/>
            </a:pPr>
            <a:r>
              <a:rPr lang="en-US" sz="2800" b="1" dirty="0">
                <a:solidFill>
                  <a:srgbClr val="E8740C"/>
                </a:solidFill>
                <a:latin typeface="Yu Gothic" pitchFamily="34" charset="0"/>
                <a:ea typeface="Yu Gothic" pitchFamily="34" charset="-122"/>
                <a:cs typeface="Yu Gothic" pitchFamily="34" charset="-120"/>
              </a:rPr>
              <a:t>01</a:t>
            </a:r>
            <a:endParaRPr lang="en-US" sz="2800" dirty="0"/>
          </a:p>
        </p:txBody>
      </p:sp>
      <p:sp>
        <p:nvSpPr>
          <p:cNvPr id="11" name="Text 9"/>
          <p:cNvSpPr/>
          <p:nvPr/>
        </p:nvSpPr>
        <p:spPr>
          <a:xfrm>
            <a:off x="640080" y="2350008"/>
            <a:ext cx="2313432" cy="365760"/>
          </a:xfrm>
          <a:prstGeom prst="rect">
            <a:avLst/>
          </a:prstGeom>
          <a:noFill/>
          <a:ln/>
        </p:spPr>
        <p:txBody>
          <a:bodyPr wrap="square" lIns="0" tIns="0" rIns="0" bIns="0" rtlCol="0" anchor="ctr"/>
          <a:lstStyle/>
          <a:p>
            <a:pPr algn="l" indent="0" marL="0">
              <a:buNone/>
            </a:pPr>
            <a:r>
              <a:rPr lang="en-US" sz="1500" b="1" dirty="0">
                <a:solidFill>
                  <a:srgbClr val="2A1700"/>
                </a:solidFill>
                <a:latin typeface="Yu Gothic" pitchFamily="34" charset="0"/>
                <a:ea typeface="Yu Gothic" pitchFamily="34" charset="-122"/>
                <a:cs typeface="Yu Gothic" pitchFamily="34" charset="-120"/>
              </a:rPr>
              <a:t>即時デジタル配布</a:t>
            </a:r>
            <a:endParaRPr lang="en-US" sz="1500" dirty="0"/>
          </a:p>
        </p:txBody>
      </p:sp>
      <p:sp>
        <p:nvSpPr>
          <p:cNvPr id="12" name="Text 10"/>
          <p:cNvSpPr/>
          <p:nvPr/>
        </p:nvSpPr>
        <p:spPr>
          <a:xfrm>
            <a:off x="640080" y="2715768"/>
            <a:ext cx="2313432" cy="274320"/>
          </a:xfrm>
          <a:prstGeom prst="rect">
            <a:avLst/>
          </a:prstGeom>
          <a:noFill/>
          <a:ln/>
        </p:spPr>
        <p:txBody>
          <a:bodyPr wrap="square" lIns="0" tIns="0" rIns="0" bIns="0" rtlCol="0" anchor="ctr"/>
          <a:lstStyle/>
          <a:p>
            <a:pPr algn="l" indent="0" marL="0">
              <a:buNone/>
            </a:pPr>
            <a:r>
              <a:rPr lang="en-US" sz="1000" dirty="0">
                <a:solidFill>
                  <a:srgbClr val="6B5A47"/>
                </a:solidFill>
                <a:latin typeface="Yu Gothic" pitchFamily="34" charset="0"/>
                <a:ea typeface="Yu Gothic" pitchFamily="34" charset="-122"/>
                <a:cs typeface="Yu Gothic" pitchFamily="34" charset="-120"/>
              </a:rPr>
              <a:t>カタログは、待たずに受け取れる時代へ</a:t>
            </a:r>
            <a:endParaRPr lang="en-US" sz="1000" dirty="0"/>
          </a:p>
        </p:txBody>
      </p:sp>
      <p:sp>
        <p:nvSpPr>
          <p:cNvPr id="13" name="Shape 11"/>
          <p:cNvSpPr/>
          <p:nvPr/>
        </p:nvSpPr>
        <p:spPr>
          <a:xfrm>
            <a:off x="640080" y="3063240"/>
            <a:ext cx="548640" cy="0"/>
          </a:xfrm>
          <a:prstGeom prst="line">
            <a:avLst/>
          </a:prstGeom>
          <a:noFill/>
          <a:ln w="25400">
            <a:solidFill>
              <a:srgbClr val="E8740C"/>
            </a:solidFill>
            <a:prstDash val="solid"/>
          </a:ln>
        </p:spPr>
      </p:sp>
      <p:sp>
        <p:nvSpPr>
          <p:cNvPr id="14" name="Text 12"/>
          <p:cNvSpPr/>
          <p:nvPr/>
        </p:nvSpPr>
        <p:spPr>
          <a:xfrm>
            <a:off x="640080" y="3200400"/>
            <a:ext cx="2313432" cy="1234440"/>
          </a:xfrm>
          <a:prstGeom prst="rect">
            <a:avLst/>
          </a:prstGeom>
          <a:noFill/>
          <a:ln/>
        </p:spPr>
        <p:txBody>
          <a:bodyPr wrap="square" lIns="0" tIns="0" rIns="0" bIns="0" rtlCol="0" anchor="t"/>
          <a:lstStyle/>
          <a:p>
            <a:pPr algn="l" marL="342900" indent="-342900">
              <a:spcAft>
                <a:spcPts val="600"/>
              </a:spcAft>
              <a:buSzPct val="100000"/>
              <a:buChar char="●"/>
            </a:pPr>
            <a:r>
              <a:rPr lang="en-US" sz="1100" dirty="0">
                <a:solidFill>
                  <a:srgbClr val="3D2200"/>
                </a:solidFill>
                <a:latin typeface="Yu Gothic" pitchFamily="34" charset="0"/>
                <a:ea typeface="Yu Gothic" pitchFamily="34" charset="-122"/>
                <a:cs typeface="Yu Gothic" pitchFamily="34" charset="-120"/>
              </a:rPr>
              <a:t>会員登録の直後にダウンロード可能</a:t>
            </a:r>
            <a:endParaRPr lang="en-US" sz="1100" dirty="0"/>
          </a:p>
          <a:p>
            <a:pPr algn="l" marL="342900" indent="-342900">
              <a:spcAft>
                <a:spcPts val="600"/>
              </a:spcAft>
              <a:buSzPct val="100000"/>
              <a:buChar char="●"/>
            </a:pPr>
            <a:r>
              <a:rPr lang="en-US" sz="1100" dirty="0">
                <a:solidFill>
                  <a:srgbClr val="3D2200"/>
                </a:solidFill>
                <a:latin typeface="Yu Gothic" pitchFamily="34" charset="0"/>
                <a:ea typeface="Yu Gothic" pitchFamily="34" charset="-122"/>
                <a:cs typeface="Yu Gothic" pitchFamily="34" charset="-120"/>
              </a:rPr>
              <a:t>施工事例30邸＋間取り図30プランを配信</a:t>
            </a:r>
            <a:endParaRPr lang="en-US" sz="1100" dirty="0"/>
          </a:p>
          <a:p>
            <a:pPr algn="l" marL="342900" indent="-342900">
              <a:spcAft>
                <a:spcPts val="600"/>
              </a:spcAft>
              <a:buSzPct val="100000"/>
              <a:buChar char="●"/>
            </a:pPr>
            <a:r>
              <a:rPr lang="en-US" sz="1100" dirty="0">
                <a:solidFill>
                  <a:srgbClr val="3D2200"/>
                </a:solidFill>
                <a:latin typeface="Yu Gothic" pitchFamily="34" charset="0"/>
                <a:ea typeface="Yu Gothic" pitchFamily="34" charset="-122"/>
                <a:cs typeface="Yu Gothic" pitchFamily="34" charset="-120"/>
              </a:rPr>
              <a:t>工務店の印刷・発送コストはゼロ</a:t>
            </a:r>
            <a:endParaRPr lang="en-US" sz="1100" dirty="0"/>
          </a:p>
        </p:txBody>
      </p:sp>
      <p:sp>
        <p:nvSpPr>
          <p:cNvPr id="15" name="Shape 13"/>
          <p:cNvSpPr/>
          <p:nvPr/>
        </p:nvSpPr>
        <p:spPr>
          <a:xfrm>
            <a:off x="3209544" y="1691640"/>
            <a:ext cx="2679192" cy="2834640"/>
          </a:xfrm>
          <a:prstGeom prst="rect">
            <a:avLst/>
          </a:prstGeom>
          <a:solidFill>
            <a:srgbClr val="FFFFFF"/>
          </a:solidFill>
          <a:ln w="12700">
            <a:solidFill>
              <a:srgbClr val="EBDFD0"/>
            </a:solidFill>
            <a:prstDash val="solid"/>
          </a:ln>
          <a:effectLst>
            <a:outerShdw sx="100000" sy="100000" kx="0" ky="0" algn="bl" rotWithShape="0" blurRad="101600" dist="25400" dir="5400000">
              <a:srgbClr val="000000">
                <a:alpha val="8000"/>
              </a:srgbClr>
            </a:outerShdw>
          </a:effectLst>
        </p:spPr>
      </p:sp>
      <p:sp>
        <p:nvSpPr>
          <p:cNvPr id="16" name="Shape 14"/>
          <p:cNvSpPr/>
          <p:nvPr/>
        </p:nvSpPr>
        <p:spPr>
          <a:xfrm>
            <a:off x="3209544" y="1691640"/>
            <a:ext cx="2679192" cy="73152"/>
          </a:xfrm>
          <a:prstGeom prst="rect">
            <a:avLst/>
          </a:prstGeom>
          <a:solidFill>
            <a:srgbClr val="E8740C"/>
          </a:solidFill>
          <a:ln w="12700">
            <a:solidFill>
              <a:srgbClr val="E8740C"/>
            </a:solidFill>
            <a:prstDash val="solid"/>
          </a:ln>
        </p:spPr>
      </p:sp>
      <p:sp>
        <p:nvSpPr>
          <p:cNvPr id="17" name="Text 15"/>
          <p:cNvSpPr/>
          <p:nvPr/>
        </p:nvSpPr>
        <p:spPr>
          <a:xfrm>
            <a:off x="3392424" y="1874520"/>
            <a:ext cx="1371600" cy="411480"/>
          </a:xfrm>
          <a:prstGeom prst="rect">
            <a:avLst/>
          </a:prstGeom>
          <a:noFill/>
          <a:ln/>
        </p:spPr>
        <p:txBody>
          <a:bodyPr wrap="square" lIns="0" tIns="0" rIns="0" bIns="0" rtlCol="0" anchor="ctr"/>
          <a:lstStyle/>
          <a:p>
            <a:pPr algn="l" indent="0" marL="0">
              <a:buNone/>
            </a:pPr>
            <a:r>
              <a:rPr lang="en-US" sz="2800" b="1" dirty="0">
                <a:solidFill>
                  <a:srgbClr val="E8740C"/>
                </a:solidFill>
                <a:latin typeface="Yu Gothic" pitchFamily="34" charset="0"/>
                <a:ea typeface="Yu Gothic" pitchFamily="34" charset="-122"/>
                <a:cs typeface="Yu Gothic" pitchFamily="34" charset="-120"/>
              </a:rPr>
              <a:t>02</a:t>
            </a:r>
            <a:endParaRPr lang="en-US" sz="2800" dirty="0"/>
          </a:p>
        </p:txBody>
      </p:sp>
      <p:sp>
        <p:nvSpPr>
          <p:cNvPr id="18" name="Text 16"/>
          <p:cNvSpPr/>
          <p:nvPr/>
        </p:nvSpPr>
        <p:spPr>
          <a:xfrm>
            <a:off x="3392424" y="2350008"/>
            <a:ext cx="2313432" cy="365760"/>
          </a:xfrm>
          <a:prstGeom prst="rect">
            <a:avLst/>
          </a:prstGeom>
          <a:noFill/>
          <a:ln/>
        </p:spPr>
        <p:txBody>
          <a:bodyPr wrap="square" lIns="0" tIns="0" rIns="0" bIns="0" rtlCol="0" anchor="ctr"/>
          <a:lstStyle/>
          <a:p>
            <a:pPr algn="l" indent="0" marL="0">
              <a:buNone/>
            </a:pPr>
            <a:r>
              <a:rPr lang="en-US" sz="1500" b="1" dirty="0">
                <a:solidFill>
                  <a:srgbClr val="2A1700"/>
                </a:solidFill>
                <a:latin typeface="Yu Gothic" pitchFamily="34" charset="0"/>
                <a:ea typeface="Yu Gothic" pitchFamily="34" charset="-122"/>
                <a:cs typeface="Yu Gothic" pitchFamily="34" charset="-120"/>
              </a:rPr>
              <a:t>AI家づくり診断</a:t>
            </a:r>
            <a:endParaRPr lang="en-US" sz="1500" dirty="0"/>
          </a:p>
        </p:txBody>
      </p:sp>
      <p:sp>
        <p:nvSpPr>
          <p:cNvPr id="19" name="Text 17"/>
          <p:cNvSpPr/>
          <p:nvPr/>
        </p:nvSpPr>
        <p:spPr>
          <a:xfrm>
            <a:off x="3392424" y="2715768"/>
            <a:ext cx="2313432" cy="274320"/>
          </a:xfrm>
          <a:prstGeom prst="rect">
            <a:avLst/>
          </a:prstGeom>
          <a:noFill/>
          <a:ln/>
        </p:spPr>
        <p:txBody>
          <a:bodyPr wrap="square" lIns="0" tIns="0" rIns="0" bIns="0" rtlCol="0" anchor="ctr"/>
          <a:lstStyle/>
          <a:p>
            <a:pPr algn="l" indent="0" marL="0">
              <a:buNone/>
            </a:pPr>
            <a:r>
              <a:rPr lang="en-US" sz="1000" dirty="0">
                <a:solidFill>
                  <a:srgbClr val="6B5A47"/>
                </a:solidFill>
                <a:latin typeface="Yu Gothic" pitchFamily="34" charset="0"/>
                <a:ea typeface="Yu Gothic" pitchFamily="34" charset="-122"/>
                <a:cs typeface="Yu Gothic" pitchFamily="34" charset="-120"/>
              </a:rPr>
              <a:t>配る前に、お客様を知る仕組み</a:t>
            </a:r>
            <a:endParaRPr lang="en-US" sz="1000" dirty="0"/>
          </a:p>
        </p:txBody>
      </p:sp>
      <p:sp>
        <p:nvSpPr>
          <p:cNvPr id="20" name="Shape 18"/>
          <p:cNvSpPr/>
          <p:nvPr/>
        </p:nvSpPr>
        <p:spPr>
          <a:xfrm>
            <a:off x="3392424" y="3063240"/>
            <a:ext cx="548640" cy="0"/>
          </a:xfrm>
          <a:prstGeom prst="line">
            <a:avLst/>
          </a:prstGeom>
          <a:noFill/>
          <a:ln w="25400">
            <a:solidFill>
              <a:srgbClr val="E8740C"/>
            </a:solidFill>
            <a:prstDash val="solid"/>
          </a:ln>
        </p:spPr>
      </p:sp>
      <p:sp>
        <p:nvSpPr>
          <p:cNvPr id="21" name="Text 19"/>
          <p:cNvSpPr/>
          <p:nvPr/>
        </p:nvSpPr>
        <p:spPr>
          <a:xfrm>
            <a:off x="3392424" y="3200400"/>
            <a:ext cx="2313432" cy="1234440"/>
          </a:xfrm>
          <a:prstGeom prst="rect">
            <a:avLst/>
          </a:prstGeom>
          <a:noFill/>
          <a:ln/>
        </p:spPr>
        <p:txBody>
          <a:bodyPr wrap="square" lIns="0" tIns="0" rIns="0" bIns="0" rtlCol="0" anchor="t"/>
          <a:lstStyle/>
          <a:p>
            <a:pPr algn="l" marL="342900" indent="-342900">
              <a:spcAft>
                <a:spcPts val="600"/>
              </a:spcAft>
              <a:buSzPct val="100000"/>
              <a:buChar char="●"/>
            </a:pPr>
            <a:r>
              <a:rPr lang="en-US" sz="1100" dirty="0">
                <a:solidFill>
                  <a:srgbClr val="3D2200"/>
                </a:solidFill>
                <a:latin typeface="Yu Gothic" pitchFamily="34" charset="0"/>
                <a:ea typeface="Yu Gothic" pitchFamily="34" charset="-122"/>
                <a:cs typeface="Yu Gothic" pitchFamily="34" charset="-120"/>
              </a:rPr>
              <a:t>10問の質問で希望・予算・家族構成を把握</a:t>
            </a:r>
            <a:endParaRPr lang="en-US" sz="1100" dirty="0"/>
          </a:p>
          <a:p>
            <a:pPr algn="l" marL="342900" indent="-342900">
              <a:spcAft>
                <a:spcPts val="600"/>
              </a:spcAft>
              <a:buSzPct val="100000"/>
              <a:buChar char="●"/>
            </a:pPr>
            <a:r>
              <a:rPr lang="en-US" sz="1100" dirty="0">
                <a:solidFill>
                  <a:srgbClr val="3D2200"/>
                </a:solidFill>
                <a:latin typeface="Yu Gothic" pitchFamily="34" charset="0"/>
                <a:ea typeface="Yu Gothic" pitchFamily="34" charset="-122"/>
                <a:cs typeface="Yu Gothic" pitchFamily="34" charset="-120"/>
              </a:rPr>
              <a:t>本気度の高いお客様を自動で抽出</a:t>
            </a:r>
            <a:endParaRPr lang="en-US" sz="1100" dirty="0"/>
          </a:p>
          <a:p>
            <a:pPr algn="l" marL="342900" indent="-342900">
              <a:spcAft>
                <a:spcPts val="600"/>
              </a:spcAft>
              <a:buSzPct val="100000"/>
              <a:buChar char="●"/>
            </a:pPr>
            <a:r>
              <a:rPr lang="en-US" sz="1100" dirty="0">
                <a:solidFill>
                  <a:srgbClr val="3D2200"/>
                </a:solidFill>
                <a:latin typeface="Yu Gothic" pitchFamily="34" charset="0"/>
                <a:ea typeface="Yu Gothic" pitchFamily="34" charset="-122"/>
                <a:cs typeface="Yu Gothic" pitchFamily="34" charset="-120"/>
              </a:rPr>
              <a:t>工務店には『何を求めている方か』が届く</a:t>
            </a:r>
            <a:endParaRPr lang="en-US" sz="1100" dirty="0"/>
          </a:p>
        </p:txBody>
      </p:sp>
      <p:sp>
        <p:nvSpPr>
          <p:cNvPr id="22" name="Shape 20"/>
          <p:cNvSpPr/>
          <p:nvPr/>
        </p:nvSpPr>
        <p:spPr>
          <a:xfrm>
            <a:off x="5961888" y="1691640"/>
            <a:ext cx="2679192" cy="2834640"/>
          </a:xfrm>
          <a:prstGeom prst="rect">
            <a:avLst/>
          </a:prstGeom>
          <a:solidFill>
            <a:srgbClr val="FFFFFF"/>
          </a:solidFill>
          <a:ln w="12700">
            <a:solidFill>
              <a:srgbClr val="EBDFD0"/>
            </a:solidFill>
            <a:prstDash val="solid"/>
          </a:ln>
          <a:effectLst>
            <a:outerShdw sx="100000" sy="100000" kx="0" ky="0" algn="bl" rotWithShape="0" blurRad="101600" dist="25400" dir="5400000">
              <a:srgbClr val="000000">
                <a:alpha val="8000"/>
              </a:srgbClr>
            </a:outerShdw>
          </a:effectLst>
        </p:spPr>
      </p:sp>
      <p:sp>
        <p:nvSpPr>
          <p:cNvPr id="23" name="Shape 21"/>
          <p:cNvSpPr/>
          <p:nvPr/>
        </p:nvSpPr>
        <p:spPr>
          <a:xfrm>
            <a:off x="5961888" y="1691640"/>
            <a:ext cx="2679192" cy="73152"/>
          </a:xfrm>
          <a:prstGeom prst="rect">
            <a:avLst/>
          </a:prstGeom>
          <a:solidFill>
            <a:srgbClr val="E8740C"/>
          </a:solidFill>
          <a:ln w="12700">
            <a:solidFill>
              <a:srgbClr val="E8740C"/>
            </a:solidFill>
            <a:prstDash val="solid"/>
          </a:ln>
        </p:spPr>
      </p:sp>
      <p:sp>
        <p:nvSpPr>
          <p:cNvPr id="24" name="Text 22"/>
          <p:cNvSpPr/>
          <p:nvPr/>
        </p:nvSpPr>
        <p:spPr>
          <a:xfrm>
            <a:off x="6144768" y="1874520"/>
            <a:ext cx="1371600" cy="411480"/>
          </a:xfrm>
          <a:prstGeom prst="rect">
            <a:avLst/>
          </a:prstGeom>
          <a:noFill/>
          <a:ln/>
        </p:spPr>
        <p:txBody>
          <a:bodyPr wrap="square" lIns="0" tIns="0" rIns="0" bIns="0" rtlCol="0" anchor="ctr"/>
          <a:lstStyle/>
          <a:p>
            <a:pPr algn="l" indent="0" marL="0">
              <a:buNone/>
            </a:pPr>
            <a:r>
              <a:rPr lang="en-US" sz="2800" b="1" dirty="0">
                <a:solidFill>
                  <a:srgbClr val="E8740C"/>
                </a:solidFill>
                <a:latin typeface="Yu Gothic" pitchFamily="34" charset="0"/>
                <a:ea typeface="Yu Gothic" pitchFamily="34" charset="-122"/>
                <a:cs typeface="Yu Gothic" pitchFamily="34" charset="-120"/>
              </a:rPr>
              <a:t>03</a:t>
            </a:r>
            <a:endParaRPr lang="en-US" sz="2800" dirty="0"/>
          </a:p>
        </p:txBody>
      </p:sp>
      <p:sp>
        <p:nvSpPr>
          <p:cNvPr id="25" name="Text 23"/>
          <p:cNvSpPr/>
          <p:nvPr/>
        </p:nvSpPr>
        <p:spPr>
          <a:xfrm>
            <a:off x="6144768" y="2350008"/>
            <a:ext cx="2313432" cy="365760"/>
          </a:xfrm>
          <a:prstGeom prst="rect">
            <a:avLst/>
          </a:prstGeom>
          <a:noFill/>
          <a:ln/>
        </p:spPr>
        <p:txBody>
          <a:bodyPr wrap="square" lIns="0" tIns="0" rIns="0" bIns="0" rtlCol="0" anchor="ctr"/>
          <a:lstStyle/>
          <a:p>
            <a:pPr algn="l" indent="0" marL="0">
              <a:buNone/>
            </a:pPr>
            <a:r>
              <a:rPr lang="en-US" sz="1500" b="1" dirty="0">
                <a:solidFill>
                  <a:srgbClr val="2A1700"/>
                </a:solidFill>
                <a:latin typeface="Yu Gothic" pitchFamily="34" charset="0"/>
                <a:ea typeface="Yu Gothic" pitchFamily="34" charset="-122"/>
                <a:cs typeface="Yu Gothic" pitchFamily="34" charset="-120"/>
              </a:rPr>
              <a:t>連絡希望の事前設定</a:t>
            </a:r>
            <a:endParaRPr lang="en-US" sz="1500" dirty="0"/>
          </a:p>
        </p:txBody>
      </p:sp>
      <p:sp>
        <p:nvSpPr>
          <p:cNvPr id="26" name="Text 24"/>
          <p:cNvSpPr/>
          <p:nvPr/>
        </p:nvSpPr>
        <p:spPr>
          <a:xfrm>
            <a:off x="6144768" y="2715768"/>
            <a:ext cx="2313432" cy="274320"/>
          </a:xfrm>
          <a:prstGeom prst="rect">
            <a:avLst/>
          </a:prstGeom>
          <a:noFill/>
          <a:ln/>
        </p:spPr>
        <p:txBody>
          <a:bodyPr wrap="square" lIns="0" tIns="0" rIns="0" bIns="0" rtlCol="0" anchor="ctr"/>
          <a:lstStyle/>
          <a:p>
            <a:pPr algn="l" indent="0" marL="0">
              <a:buNone/>
            </a:pPr>
            <a:r>
              <a:rPr lang="en-US" sz="1000" dirty="0">
                <a:solidFill>
                  <a:srgbClr val="6B5A47"/>
                </a:solidFill>
                <a:latin typeface="Yu Gothic" pitchFamily="34" charset="0"/>
                <a:ea typeface="Yu Gothic" pitchFamily="34" charset="-122"/>
                <a:cs typeface="Yu Gothic" pitchFamily="34" charset="-120"/>
              </a:rPr>
              <a:t>「しつこい営業」の構造的な解消</a:t>
            </a:r>
            <a:endParaRPr lang="en-US" sz="1000" dirty="0"/>
          </a:p>
        </p:txBody>
      </p:sp>
      <p:sp>
        <p:nvSpPr>
          <p:cNvPr id="27" name="Shape 25"/>
          <p:cNvSpPr/>
          <p:nvPr/>
        </p:nvSpPr>
        <p:spPr>
          <a:xfrm>
            <a:off x="6144768" y="3063240"/>
            <a:ext cx="548640" cy="0"/>
          </a:xfrm>
          <a:prstGeom prst="line">
            <a:avLst/>
          </a:prstGeom>
          <a:noFill/>
          <a:ln w="25400">
            <a:solidFill>
              <a:srgbClr val="E8740C"/>
            </a:solidFill>
            <a:prstDash val="solid"/>
          </a:ln>
        </p:spPr>
      </p:sp>
      <p:sp>
        <p:nvSpPr>
          <p:cNvPr id="28" name="Text 26"/>
          <p:cNvSpPr/>
          <p:nvPr/>
        </p:nvSpPr>
        <p:spPr>
          <a:xfrm>
            <a:off x="6144768" y="3200400"/>
            <a:ext cx="2313432" cy="1234440"/>
          </a:xfrm>
          <a:prstGeom prst="rect">
            <a:avLst/>
          </a:prstGeom>
          <a:noFill/>
          <a:ln/>
        </p:spPr>
        <p:txBody>
          <a:bodyPr wrap="square" lIns="0" tIns="0" rIns="0" bIns="0" rtlCol="0" anchor="t"/>
          <a:lstStyle/>
          <a:p>
            <a:pPr algn="l" marL="342900" indent="-342900">
              <a:spcAft>
                <a:spcPts val="600"/>
              </a:spcAft>
              <a:buSzPct val="100000"/>
              <a:buChar char="●"/>
            </a:pPr>
            <a:r>
              <a:rPr lang="en-US" sz="1100" dirty="0">
                <a:solidFill>
                  <a:srgbClr val="3D2200"/>
                </a:solidFill>
                <a:latin typeface="Yu Gothic" pitchFamily="34" charset="0"/>
                <a:ea typeface="Yu Gothic" pitchFamily="34" charset="-122"/>
                <a:cs typeface="Yu Gothic" pitchFamily="34" charset="-120"/>
              </a:rPr>
              <a:t>連絡時間・頻度・手段をお客様が選択</a:t>
            </a:r>
            <a:endParaRPr lang="en-US" sz="1100" dirty="0"/>
          </a:p>
          <a:p>
            <a:pPr algn="l" marL="342900" indent="-342900">
              <a:spcAft>
                <a:spcPts val="600"/>
              </a:spcAft>
              <a:buSzPct val="100000"/>
              <a:buChar char="●"/>
            </a:pPr>
            <a:r>
              <a:rPr lang="en-US" sz="1100" dirty="0">
                <a:solidFill>
                  <a:srgbClr val="3D2200"/>
                </a:solidFill>
                <a:latin typeface="Yu Gothic" pitchFamily="34" charset="0"/>
                <a:ea typeface="Yu Gothic" pitchFamily="34" charset="-122"/>
                <a:cs typeface="Yu Gothic" pitchFamily="34" charset="-120"/>
              </a:rPr>
              <a:t>工務店はお客様のペースで対応するだけ</a:t>
            </a:r>
            <a:endParaRPr lang="en-US" sz="1100" dirty="0"/>
          </a:p>
          <a:p>
            <a:pPr algn="l" marL="342900" indent="-342900">
              <a:spcAft>
                <a:spcPts val="600"/>
              </a:spcAft>
              <a:buSzPct val="100000"/>
              <a:buChar char="●"/>
            </a:pPr>
            <a:r>
              <a:rPr lang="en-US" sz="1100" dirty="0">
                <a:solidFill>
                  <a:srgbClr val="3D2200"/>
                </a:solidFill>
                <a:latin typeface="Yu Gothic" pitchFamily="34" charset="0"/>
                <a:ea typeface="Yu Gothic" pitchFamily="34" charset="-122"/>
                <a:cs typeface="Yu Gothic" pitchFamily="34" charset="-120"/>
              </a:rPr>
              <a:t>初対面のストレスが大幅に減少</a:t>
            </a:r>
            <a:endParaRPr lang="en-US" sz="1100" dirty="0"/>
          </a:p>
        </p:txBody>
      </p:sp>
      <p:sp>
        <p:nvSpPr>
          <p:cNvPr id="29" name="Text 27"/>
          <p:cNvSpPr/>
          <p:nvPr/>
        </p:nvSpPr>
        <p:spPr>
          <a:xfrm>
            <a:off x="457200" y="4617720"/>
            <a:ext cx="8229600" cy="274320"/>
          </a:xfrm>
          <a:prstGeom prst="rect">
            <a:avLst/>
          </a:prstGeom>
          <a:noFill/>
          <a:ln/>
        </p:spPr>
        <p:txBody>
          <a:bodyPr wrap="square" lIns="0" tIns="0" rIns="0" bIns="0" rtlCol="0" anchor="ctr"/>
          <a:lstStyle/>
          <a:p>
            <a:pPr algn="ctr" indent="0" marL="0">
              <a:buNone/>
            </a:pPr>
            <a:r>
              <a:rPr lang="en-US" sz="1000" i="1" dirty="0">
                <a:solidFill>
                  <a:srgbClr val="6B5A47"/>
                </a:solidFill>
                <a:latin typeface="Yu Gothic" pitchFamily="34" charset="0"/>
                <a:ea typeface="Yu Gothic" pitchFamily="34" charset="-122"/>
                <a:cs typeface="Yu Gothic" pitchFamily="34" charset="-120"/>
              </a:rPr>
              <a:t>資料請求をやめたわけではありません。『情報を届ける』という本来の役割を、もっと価値ある形に再設計しました。</a:t>
            </a:r>
            <a:endParaRPr lang="en-US" sz="1000" dirty="0"/>
          </a:p>
        </p:txBody>
      </p:sp>
      <p:sp>
        <p:nvSpPr>
          <p:cNvPr id="30" name="Shape 28"/>
          <p:cNvSpPr/>
          <p:nvPr/>
        </p:nvSpPr>
        <p:spPr>
          <a:xfrm>
            <a:off x="365760" y="4823460"/>
            <a:ext cx="8412480" cy="0"/>
          </a:xfrm>
          <a:prstGeom prst="line">
            <a:avLst/>
          </a:prstGeom>
          <a:noFill/>
          <a:ln w="9525">
            <a:solidFill>
              <a:srgbClr val="EBDFD0"/>
            </a:solidFill>
            <a:prstDash val="solid"/>
          </a:ln>
        </p:spPr>
      </p:sp>
      <p:sp>
        <p:nvSpPr>
          <p:cNvPr id="31" name="Text 29"/>
          <p:cNvSpPr/>
          <p:nvPr/>
        </p:nvSpPr>
        <p:spPr>
          <a:xfrm>
            <a:off x="365760" y="4850892"/>
            <a:ext cx="4572000" cy="274320"/>
          </a:xfrm>
          <a:prstGeom prst="rect">
            <a:avLst/>
          </a:prstGeom>
          <a:noFill/>
          <a:ln/>
        </p:spPr>
        <p:txBody>
          <a:bodyPr wrap="square" lIns="0" tIns="0" rIns="0" bIns="0" rtlCol="0" anchor="ctr"/>
          <a:lstStyle/>
          <a:p>
            <a:pPr algn="l" indent="0" marL="0">
              <a:buNone/>
            </a:pPr>
            <a:r>
              <a:rPr lang="en-US" sz="900" dirty="0">
                <a:solidFill>
                  <a:srgbClr val="6B5A47"/>
                </a:solidFill>
                <a:latin typeface="Yu Gothic" pitchFamily="34" charset="0"/>
                <a:ea typeface="Yu Gothic" pitchFamily="34" charset="-122"/>
                <a:cs typeface="Yu Gothic" pitchFamily="34" charset="-120"/>
              </a:rPr>
              <a:t>ぺいほーむ ポータルサイト</a:t>
            </a:r>
            <a:endParaRPr lang="en-US" sz="900" dirty="0"/>
          </a:p>
        </p:txBody>
      </p:sp>
      <p:sp>
        <p:nvSpPr>
          <p:cNvPr id="32" name="Text 30"/>
          <p:cNvSpPr/>
          <p:nvPr/>
        </p:nvSpPr>
        <p:spPr>
          <a:xfrm>
            <a:off x="4206240" y="4850892"/>
            <a:ext cx="4572000" cy="274320"/>
          </a:xfrm>
          <a:prstGeom prst="rect">
            <a:avLst/>
          </a:prstGeom>
          <a:noFill/>
          <a:ln/>
        </p:spPr>
        <p:txBody>
          <a:bodyPr wrap="square" lIns="0" tIns="0" rIns="0" bIns="0" rtlCol="0" anchor="ctr"/>
          <a:lstStyle/>
          <a:p>
            <a:pPr algn="r" indent="0" marL="0">
              <a:buNone/>
            </a:pPr>
            <a:r>
              <a:rPr lang="en-US" sz="900" i="1" dirty="0">
                <a:solidFill>
                  <a:srgbClr val="6B5A47"/>
                </a:solidFill>
                <a:latin typeface="Yu Gothic" pitchFamily="34" charset="0"/>
                <a:ea typeface="Yu Gothic" pitchFamily="34" charset="-122"/>
                <a:cs typeface="Yu Gothic" pitchFamily="34" charset="-120"/>
              </a:rPr>
              <a:t>本気の出会いを、誠実に。</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8740C"/>
          </a:solidFill>
          <a:ln w="12700">
            <a:solidFill>
              <a:srgbClr val="E8740C"/>
            </a:solidFill>
            <a:prstDash val="solid"/>
          </a:ln>
        </p:spPr>
      </p:sp>
      <p:sp>
        <p:nvSpPr>
          <p:cNvPr id="3" name="Text 1"/>
          <p:cNvSpPr/>
          <p:nvPr/>
        </p:nvSpPr>
        <p:spPr>
          <a:xfrm>
            <a:off x="365760" y="182880"/>
            <a:ext cx="1097280" cy="274320"/>
          </a:xfrm>
          <a:prstGeom prst="rect">
            <a:avLst/>
          </a:prstGeom>
          <a:noFill/>
          <a:ln/>
        </p:spPr>
        <p:txBody>
          <a:bodyPr wrap="square" lIns="0" tIns="0" rIns="0" bIns="0" rtlCol="0" anchor="ctr"/>
          <a:lstStyle/>
          <a:p>
            <a:pPr algn="l" indent="0" marL="0">
              <a:buNone/>
            </a:pPr>
            <a:r>
              <a:rPr lang="en-US" sz="1000" b="1" dirty="0">
                <a:solidFill>
                  <a:srgbClr val="E8740C"/>
                </a:solidFill>
                <a:latin typeface="Yu Gothic" pitchFamily="34" charset="0"/>
                <a:ea typeface="Yu Gothic" pitchFamily="34" charset="-122"/>
                <a:cs typeface="Yu Gothic" pitchFamily="34" charset="-120"/>
              </a:rPr>
              <a:t>09 / 20</a:t>
            </a:r>
            <a:endParaRPr lang="en-US" sz="1000" dirty="0"/>
          </a:p>
        </p:txBody>
      </p:sp>
      <p:sp>
        <p:nvSpPr>
          <p:cNvPr id="4" name="Text 2"/>
          <p:cNvSpPr/>
          <p:nvPr/>
        </p:nvSpPr>
        <p:spPr>
          <a:xfrm>
            <a:off x="1554480" y="182880"/>
            <a:ext cx="7223760" cy="274320"/>
          </a:xfrm>
          <a:prstGeom prst="rect">
            <a:avLst/>
          </a:prstGeom>
          <a:noFill/>
          <a:ln/>
        </p:spPr>
        <p:txBody>
          <a:bodyPr wrap="square" lIns="0" tIns="0" rIns="0" bIns="0" rtlCol="0" anchor="ctr"/>
          <a:lstStyle/>
          <a:p>
            <a:pPr algn="r" indent="0" marL="0">
              <a:buNone/>
            </a:pPr>
            <a:r>
              <a:rPr lang="en-US" sz="1000" dirty="0">
                <a:solidFill>
                  <a:srgbClr val="6B5A47"/>
                </a:solidFill>
                <a:latin typeface="Yu Gothic" pitchFamily="34" charset="0"/>
                <a:ea typeface="Yu Gothic" pitchFamily="34" charset="-122"/>
                <a:cs typeface="Yu Gothic" pitchFamily="34" charset="-120"/>
              </a:rPr>
              <a:t>役割転換 ─ 資料請求はこう変わります</a:t>
            </a:r>
            <a:endParaRPr lang="en-US" sz="1000" dirty="0"/>
          </a:p>
        </p:txBody>
      </p:sp>
      <p:sp>
        <p:nvSpPr>
          <p:cNvPr id="5" name="Shape 3"/>
          <p:cNvSpPr/>
          <p:nvPr/>
        </p:nvSpPr>
        <p:spPr>
          <a:xfrm>
            <a:off x="457200" y="685800"/>
            <a:ext cx="109728" cy="502920"/>
          </a:xfrm>
          <a:prstGeom prst="rect">
            <a:avLst/>
          </a:prstGeom>
          <a:solidFill>
            <a:srgbClr val="E8740C"/>
          </a:solidFill>
          <a:ln w="12700">
            <a:solidFill>
              <a:srgbClr val="E8740C"/>
            </a:solidFill>
            <a:prstDash val="solid"/>
          </a:ln>
        </p:spPr>
      </p:sp>
      <p:sp>
        <p:nvSpPr>
          <p:cNvPr id="6" name="Text 4"/>
          <p:cNvSpPr/>
          <p:nvPr/>
        </p:nvSpPr>
        <p:spPr>
          <a:xfrm>
            <a:off x="685800" y="640080"/>
            <a:ext cx="8229600" cy="594360"/>
          </a:xfrm>
          <a:prstGeom prst="rect">
            <a:avLst/>
          </a:prstGeom>
          <a:noFill/>
          <a:ln/>
        </p:spPr>
        <p:txBody>
          <a:bodyPr wrap="square" lIns="0" tIns="0" rIns="0" bIns="0" rtlCol="0" anchor="ctr"/>
          <a:lstStyle/>
          <a:p>
            <a:pPr algn="l" indent="0" marL="0">
              <a:buNone/>
            </a:pPr>
            <a:r>
              <a:rPr lang="en-US" sz="2600" b="1" dirty="0">
                <a:solidFill>
                  <a:srgbClr val="2A1700"/>
                </a:solidFill>
                <a:latin typeface="Yu Gothic" pitchFamily="34" charset="0"/>
                <a:ea typeface="Yu Gothic" pitchFamily="34" charset="-122"/>
                <a:cs typeface="Yu Gothic" pitchFamily="34" charset="-120"/>
              </a:rPr>
              <a:t>「資料請求」はこう変わります</a:t>
            </a:r>
            <a:endParaRPr lang="en-US" sz="2600" dirty="0"/>
          </a:p>
        </p:txBody>
      </p:sp>
      <p:sp>
        <p:nvSpPr>
          <p:cNvPr id="7" name="Text 5"/>
          <p:cNvSpPr/>
          <p:nvPr/>
        </p:nvSpPr>
        <p:spPr>
          <a:xfrm>
            <a:off x="685800" y="1207008"/>
            <a:ext cx="8229600" cy="274320"/>
          </a:xfrm>
          <a:prstGeom prst="rect">
            <a:avLst/>
          </a:prstGeom>
          <a:noFill/>
          <a:ln/>
        </p:spPr>
        <p:txBody>
          <a:bodyPr wrap="square" lIns="0" tIns="0" rIns="0" bIns="0" rtlCol="0" anchor="ctr"/>
          <a:lstStyle/>
          <a:p>
            <a:pPr algn="l" indent="0" marL="0">
              <a:buNone/>
            </a:pPr>
            <a:r>
              <a:rPr lang="en-US" sz="1200" dirty="0">
                <a:solidFill>
                  <a:srgbClr val="6B5A47"/>
                </a:solidFill>
                <a:latin typeface="Yu Gothic" pitchFamily="34" charset="0"/>
                <a:ea typeface="Yu Gothic" pitchFamily="34" charset="-122"/>
                <a:cs typeface="Yu Gothic" pitchFamily="34" charset="-120"/>
              </a:rPr>
              <a:t>情報を配る作業から、お客様を知る仕組みへ</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8229600" cy="2834640"/>
        </p:xfrm>
        <a:graphic>
          <a:graphicData uri="http://schemas.openxmlformats.org/drawingml/2006/table">
            <a:tbl>
              <a:tblPr/>
              <a:tblGrid>
                <a:gridCol w="1737360"/>
                <a:gridCol w="3246120"/>
                <a:gridCol w="3246120"/>
              </a:tblGrid>
              <a:tr h="356616">
                <a:tc>
                  <a:txBody>
                    <a:bodyPr/>
                    <a:lstStyle/>
                    <a:p>
                      <a:pPr algn="ctr" indent="0" marL="0">
                        <a:buNone/>
                      </a:pPr>
                      <a:r>
                        <a:rPr lang="en-US" sz="1100" b="1" dirty="0">
                          <a:solidFill>
                            <a:srgbClr val="FFFFFF"/>
                          </a:solidFill>
                          <a:latin typeface="Yu Gothic" pitchFamily="34" charset="0"/>
                          <a:ea typeface="Yu Gothic" pitchFamily="34" charset="-122"/>
                          <a:cs typeface="Yu Gothic" pitchFamily="34" charset="-120"/>
                        </a:rPr>
                        <a:t>観点</a:t>
                      </a:r>
                      <a:endParaRPr lang="en-US" sz="1100" dirty="0">
                        <a:latin typeface="Yu Gothic" charset="0"/>
                        <a:ea typeface="Yu Gothic" charset="0"/>
                        <a:cs typeface="Yu Gothic" charset="0"/>
                      </a:endParaRPr>
                    </a:p>
                  </a:txBody>
                  <a:tcPr marL="91440" marR="91440" marT="91440" marB="91440" anchor="ctr">
                    <a:lnL w="6350" cap="flat" cmpd="sng" algn="ctr">
                      <a:solidFill>
                        <a:srgbClr val="EBDFD0"/>
                      </a:solidFill>
                      <a:prstDash val="solid"/>
                      <a:round/>
                      <a:headEnd type="none" w="med" len="med"/>
                      <a:tailEnd type="none" w="med" len="med"/>
                    </a:lnL>
                    <a:lnR w="6350" cap="flat" cmpd="sng" algn="ctr">
                      <a:solidFill>
                        <a:srgbClr val="EBDFD0"/>
                      </a:solidFill>
                      <a:prstDash val="solid"/>
                      <a:round/>
                      <a:headEnd type="none" w="med" len="med"/>
                      <a:tailEnd type="none" w="med" len="med"/>
                    </a:lnR>
                    <a:lnT w="6350" cap="flat" cmpd="sng" algn="ctr">
                      <a:solidFill>
                        <a:srgbClr val="EBDFD0"/>
                      </a:solidFill>
                      <a:prstDash val="solid"/>
                      <a:round/>
                      <a:headEnd type="none" w="med" len="med"/>
                      <a:tailEnd type="none" w="med" len="med"/>
                    </a:lnT>
                    <a:lnB w="6350" cap="flat" cmpd="sng" algn="ctr">
                      <a:solidFill>
                        <a:srgbClr val="EBDFD0"/>
                      </a:solidFill>
                      <a:prstDash val="solid"/>
                      <a:round/>
                      <a:headEnd type="none" w="med" len="med"/>
                      <a:tailEnd type="none" w="med" len="med"/>
                    </a:lnB>
                    <a:solidFill>
                      <a:srgbClr val="2A1700"/>
                    </a:solidFill>
                  </a:tcPr>
                </a:tc>
                <a:tc>
                  <a:txBody>
                    <a:bodyPr/>
                    <a:lstStyle/>
                    <a:p>
                      <a:pPr algn="ctr" indent="0" marL="0">
                        <a:buNone/>
                      </a:pPr>
                      <a:r>
                        <a:rPr lang="en-US" sz="1100" b="1" dirty="0">
                          <a:solidFill>
                            <a:srgbClr val="6B5A47"/>
                          </a:solidFill>
                          <a:latin typeface="Yu Gothic" pitchFamily="34" charset="0"/>
                          <a:ea typeface="Yu Gothic" pitchFamily="34" charset="-122"/>
                          <a:cs typeface="Yu Gothic" pitchFamily="34" charset="-120"/>
                        </a:rPr>
                        <a:t>従来の資料請求</a:t>
                      </a:r>
                      <a:endParaRPr lang="en-US" sz="1100" dirty="0">
                        <a:latin typeface="Yu Gothic" charset="0"/>
                        <a:ea typeface="Yu Gothic" charset="0"/>
                        <a:cs typeface="Yu Gothic" charset="0"/>
                      </a:endParaRPr>
                    </a:p>
                  </a:txBody>
                  <a:tcPr marL="91440" marR="91440" marT="91440" marB="91440" anchor="ctr">
                    <a:lnL w="6350" cap="flat" cmpd="sng" algn="ctr">
                      <a:solidFill>
                        <a:srgbClr val="EBDFD0"/>
                      </a:solidFill>
                      <a:prstDash val="solid"/>
                      <a:round/>
                      <a:headEnd type="none" w="med" len="med"/>
                      <a:tailEnd type="none" w="med" len="med"/>
                    </a:lnL>
                    <a:lnR w="6350" cap="flat" cmpd="sng" algn="ctr">
                      <a:solidFill>
                        <a:srgbClr val="EBDFD0"/>
                      </a:solidFill>
                      <a:prstDash val="solid"/>
                      <a:round/>
                      <a:headEnd type="none" w="med" len="med"/>
                      <a:tailEnd type="none" w="med" len="med"/>
                    </a:lnR>
                    <a:lnT w="6350" cap="flat" cmpd="sng" algn="ctr">
                      <a:solidFill>
                        <a:srgbClr val="EBDFD0"/>
                      </a:solidFill>
                      <a:prstDash val="solid"/>
                      <a:round/>
                      <a:headEnd type="none" w="med" len="med"/>
                      <a:tailEnd type="none" w="med" len="med"/>
                    </a:lnT>
                    <a:lnB w="6350" cap="flat" cmpd="sng" algn="ctr">
                      <a:solidFill>
                        <a:srgbClr val="EBDFD0"/>
                      </a:solidFill>
                      <a:prstDash val="solid"/>
                      <a:round/>
                      <a:headEnd type="none" w="med" len="med"/>
                      <a:tailEnd type="none" w="med" len="med"/>
                    </a:lnB>
                    <a:solidFill>
                      <a:srgbClr val="FFF8F0"/>
                    </a:solidFill>
                  </a:tcPr>
                </a:tc>
                <a:tc>
                  <a:txBody>
                    <a:bodyPr/>
                    <a:lstStyle/>
                    <a:p>
                      <a:pPr algn="ctr" indent="0" marL="0">
                        <a:buNone/>
                      </a:pPr>
                      <a:r>
                        <a:rPr lang="en-US" sz="1100" b="1" dirty="0">
                          <a:solidFill>
                            <a:srgbClr val="FFFFFF"/>
                          </a:solidFill>
                          <a:latin typeface="Yu Gothic" pitchFamily="34" charset="0"/>
                          <a:ea typeface="Yu Gothic" pitchFamily="34" charset="-122"/>
                          <a:cs typeface="Yu Gothic" pitchFamily="34" charset="-120"/>
                        </a:rPr>
                        <a:t>ぺいほーむの仕組み</a:t>
                      </a:r>
                      <a:endParaRPr lang="en-US" sz="1100" dirty="0">
                        <a:latin typeface="Yu Gothic" charset="0"/>
                        <a:ea typeface="Yu Gothic" charset="0"/>
                        <a:cs typeface="Yu Gothic" charset="0"/>
                      </a:endParaRPr>
                    </a:p>
                  </a:txBody>
                  <a:tcPr marL="91440" marR="91440" marT="91440" marB="91440" anchor="ctr">
                    <a:lnL w="6350" cap="flat" cmpd="sng" algn="ctr">
                      <a:solidFill>
                        <a:srgbClr val="EBDFD0"/>
                      </a:solidFill>
                      <a:prstDash val="solid"/>
                      <a:round/>
                      <a:headEnd type="none" w="med" len="med"/>
                      <a:tailEnd type="none" w="med" len="med"/>
                    </a:lnL>
                    <a:lnR w="6350" cap="flat" cmpd="sng" algn="ctr">
                      <a:solidFill>
                        <a:srgbClr val="EBDFD0"/>
                      </a:solidFill>
                      <a:prstDash val="solid"/>
                      <a:round/>
                      <a:headEnd type="none" w="med" len="med"/>
                      <a:tailEnd type="none" w="med" len="med"/>
                    </a:lnR>
                    <a:lnT w="6350" cap="flat" cmpd="sng" algn="ctr">
                      <a:solidFill>
                        <a:srgbClr val="EBDFD0"/>
                      </a:solidFill>
                      <a:prstDash val="solid"/>
                      <a:round/>
                      <a:headEnd type="none" w="med" len="med"/>
                      <a:tailEnd type="none" w="med" len="med"/>
                    </a:lnT>
                    <a:lnB w="6350" cap="flat" cmpd="sng" algn="ctr">
                      <a:solidFill>
                        <a:srgbClr val="EBDFD0"/>
                      </a:solidFill>
                      <a:prstDash val="solid"/>
                      <a:round/>
                      <a:headEnd type="none" w="med" len="med"/>
                      <a:tailEnd type="none" w="med" len="med"/>
                    </a:lnB>
                    <a:solidFill>
                      <a:srgbClr val="E8740C"/>
                    </a:solidFill>
                  </a:tcPr>
                </a:tc>
              </a:tr>
              <a:tr h="356616">
                <a:tc>
                  <a:txBody>
                    <a:bodyPr/>
                    <a:lstStyle/>
                    <a:p>
                      <a:pPr indent="0" marL="0">
                        <a:buNone/>
                      </a:pPr>
                      <a:r>
                        <a:rPr lang="en-US" sz="1000" b="1" dirty="0">
                          <a:solidFill>
                            <a:srgbClr val="2A1700"/>
                          </a:solidFill>
                          <a:latin typeface="Yu Gothic" pitchFamily="34" charset="0"/>
                          <a:ea typeface="Yu Gothic" pitchFamily="34" charset="-122"/>
                          <a:cs typeface="Yu Gothic" pitchFamily="34" charset="-120"/>
                        </a:rPr>
                        <a:t>お客様の本気度</a:t>
                      </a:r>
                      <a:endParaRPr lang="en-US" sz="1000" dirty="0">
                        <a:latin typeface="Yu Gothic" charset="0"/>
                        <a:ea typeface="Yu Gothic" charset="0"/>
                        <a:cs typeface="Yu Gothic" charset="0"/>
                      </a:endParaRPr>
                    </a:p>
                  </a:txBody>
                  <a:tcPr marL="91440" marR="91440" marT="91440" marB="91440" anchor="ctr">
                    <a:lnL w="6350" cap="flat" cmpd="sng" algn="ctr">
                      <a:solidFill>
                        <a:srgbClr val="EBDFD0"/>
                      </a:solidFill>
                      <a:prstDash val="solid"/>
                      <a:round/>
                      <a:headEnd type="none" w="med" len="med"/>
                      <a:tailEnd type="none" w="med" len="med"/>
                    </a:lnL>
                    <a:lnR w="6350" cap="flat" cmpd="sng" algn="ctr">
                      <a:solidFill>
                        <a:srgbClr val="EBDFD0"/>
                      </a:solidFill>
                      <a:prstDash val="solid"/>
                      <a:round/>
                      <a:headEnd type="none" w="med" len="med"/>
                      <a:tailEnd type="none" w="med" len="med"/>
                    </a:lnR>
                    <a:lnT w="6350" cap="flat" cmpd="sng" algn="ctr">
                      <a:solidFill>
                        <a:srgbClr val="EBDFD0"/>
                      </a:solidFill>
                      <a:prstDash val="solid"/>
                      <a:round/>
                      <a:headEnd type="none" w="med" len="med"/>
                      <a:tailEnd type="none" w="med" len="med"/>
                    </a:lnT>
                    <a:lnB w="6350" cap="flat" cmpd="sng" algn="ctr">
                      <a:solidFill>
                        <a:srgbClr val="EBDFD0"/>
                      </a:solidFill>
                      <a:prstDash val="solid"/>
                      <a:round/>
                      <a:headEnd type="none" w="med" len="med"/>
                      <a:tailEnd type="none" w="med" len="med"/>
                    </a:lnB>
                    <a:solidFill>
                      <a:srgbClr val="FFF8F0"/>
                    </a:solidFill>
                  </a:tcPr>
                </a:tc>
                <a:tc>
                  <a:txBody>
                    <a:bodyPr/>
                    <a:lstStyle/>
                    <a:p>
                      <a:pPr indent="0" marL="0">
                        <a:buNone/>
                      </a:pPr>
                      <a:r>
                        <a:rPr lang="en-US" sz="1000" dirty="0">
                          <a:solidFill>
                            <a:srgbClr val="6B5A47"/>
                          </a:solidFill>
                          <a:latin typeface="Yu Gothic" pitchFamily="34" charset="0"/>
                          <a:ea typeface="Yu Gothic" pitchFamily="34" charset="-122"/>
                          <a:cs typeface="Yu Gothic" pitchFamily="34" charset="-120"/>
                        </a:rPr>
                        <a:t>冷やかしから本気まで混在</a:t>
                      </a:r>
                      <a:endParaRPr lang="en-US" sz="1000" dirty="0">
                        <a:latin typeface="Yu Gothic" charset="0"/>
                        <a:ea typeface="Yu Gothic" charset="0"/>
                        <a:cs typeface="Yu Gothic" charset="0"/>
                      </a:endParaRPr>
                    </a:p>
                  </a:txBody>
                  <a:tcPr marL="91440" marR="91440" marT="91440" marB="91440" anchor="ctr">
                    <a:lnL w="6350" cap="flat" cmpd="sng" algn="ctr">
                      <a:solidFill>
                        <a:srgbClr val="EBDFD0"/>
                      </a:solidFill>
                      <a:prstDash val="solid"/>
                      <a:round/>
                      <a:headEnd type="none" w="med" len="med"/>
                      <a:tailEnd type="none" w="med" len="med"/>
                    </a:lnL>
                    <a:lnR w="6350" cap="flat" cmpd="sng" algn="ctr">
                      <a:solidFill>
                        <a:srgbClr val="EBDFD0"/>
                      </a:solidFill>
                      <a:prstDash val="solid"/>
                      <a:round/>
                      <a:headEnd type="none" w="med" len="med"/>
                      <a:tailEnd type="none" w="med" len="med"/>
                    </a:lnR>
                    <a:lnT w="6350" cap="flat" cmpd="sng" algn="ctr">
                      <a:solidFill>
                        <a:srgbClr val="EBDFD0"/>
                      </a:solidFill>
                      <a:prstDash val="solid"/>
                      <a:round/>
                      <a:headEnd type="none" w="med" len="med"/>
                      <a:tailEnd type="none" w="med" len="med"/>
                    </a:lnT>
                    <a:lnB w="6350" cap="flat" cmpd="sng" algn="ctr">
                      <a:solidFill>
                        <a:srgbClr val="EBDFD0"/>
                      </a:solidFill>
                      <a:prstDash val="solid"/>
                      <a:round/>
                      <a:headEnd type="none" w="med" len="med"/>
                      <a:tailEnd type="none" w="med" len="med"/>
                    </a:lnB>
                  </a:tcPr>
                </a:tc>
                <a:tc>
                  <a:txBody>
                    <a:bodyPr/>
                    <a:lstStyle/>
                    <a:p>
                      <a:pPr indent="0" marL="0">
                        <a:buNone/>
                      </a:pPr>
                      <a:r>
                        <a:rPr lang="en-US" sz="1000" dirty="0">
                          <a:solidFill>
                            <a:srgbClr val="3D2200"/>
                          </a:solidFill>
                          <a:latin typeface="Yu Gothic" pitchFamily="34" charset="0"/>
                          <a:ea typeface="Yu Gothic" pitchFamily="34" charset="-122"/>
                          <a:cs typeface="Yu Gothic" pitchFamily="34" charset="-120"/>
                        </a:rPr>
                        <a:t>AI診断で事前に計測済み</a:t>
                      </a:r>
                      <a:endParaRPr lang="en-US" sz="1000" dirty="0">
                        <a:latin typeface="Yu Gothic" charset="0"/>
                        <a:ea typeface="Yu Gothic" charset="0"/>
                        <a:cs typeface="Yu Gothic" charset="0"/>
                      </a:endParaRPr>
                    </a:p>
                  </a:txBody>
                  <a:tcPr marL="91440" marR="91440" marT="91440" marB="91440" anchor="ctr">
                    <a:lnL w="6350" cap="flat" cmpd="sng" algn="ctr">
                      <a:solidFill>
                        <a:srgbClr val="EBDFD0"/>
                      </a:solidFill>
                      <a:prstDash val="solid"/>
                      <a:round/>
                      <a:headEnd type="none" w="med" len="med"/>
                      <a:tailEnd type="none" w="med" len="med"/>
                    </a:lnL>
                    <a:lnR w="6350" cap="flat" cmpd="sng" algn="ctr">
                      <a:solidFill>
                        <a:srgbClr val="EBDFD0"/>
                      </a:solidFill>
                      <a:prstDash val="solid"/>
                      <a:round/>
                      <a:headEnd type="none" w="med" len="med"/>
                      <a:tailEnd type="none" w="med" len="med"/>
                    </a:lnR>
                    <a:lnT w="6350" cap="flat" cmpd="sng" algn="ctr">
                      <a:solidFill>
                        <a:srgbClr val="EBDFD0"/>
                      </a:solidFill>
                      <a:prstDash val="solid"/>
                      <a:round/>
                      <a:headEnd type="none" w="med" len="med"/>
                      <a:tailEnd type="none" w="med" len="med"/>
                    </a:lnT>
                    <a:lnB w="6350" cap="flat" cmpd="sng" algn="ctr">
                      <a:solidFill>
                        <a:srgbClr val="EBDFD0"/>
                      </a:solidFill>
                      <a:prstDash val="solid"/>
                      <a:round/>
                      <a:headEnd type="none" w="med" len="med"/>
                      <a:tailEnd type="none" w="med" len="med"/>
                    </a:lnB>
                  </a:tcPr>
                </a:tc>
              </a:tr>
              <a:tr h="356616">
                <a:tc>
                  <a:txBody>
                    <a:bodyPr/>
                    <a:lstStyle/>
                    <a:p>
                      <a:pPr indent="0" marL="0">
                        <a:buNone/>
                      </a:pPr>
                      <a:r>
                        <a:rPr lang="en-US" sz="1000" b="1" dirty="0">
                          <a:solidFill>
                            <a:srgbClr val="2A1700"/>
                          </a:solidFill>
                          <a:latin typeface="Yu Gothic" pitchFamily="34" charset="0"/>
                          <a:ea typeface="Yu Gothic" pitchFamily="34" charset="-122"/>
                          <a:cs typeface="Yu Gothic" pitchFamily="34" charset="-120"/>
                        </a:rPr>
                        <a:t>到達スピード</a:t>
                      </a:r>
                      <a:endParaRPr lang="en-US" sz="1000" dirty="0">
                        <a:latin typeface="Yu Gothic" charset="0"/>
                        <a:ea typeface="Yu Gothic" charset="0"/>
                        <a:cs typeface="Yu Gothic" charset="0"/>
                      </a:endParaRPr>
                    </a:p>
                  </a:txBody>
                  <a:tcPr marL="91440" marR="91440" marT="91440" marB="91440" anchor="ctr">
                    <a:lnL w="6350" cap="flat" cmpd="sng" algn="ctr">
                      <a:solidFill>
                        <a:srgbClr val="EBDFD0"/>
                      </a:solidFill>
                      <a:prstDash val="solid"/>
                      <a:round/>
                      <a:headEnd type="none" w="med" len="med"/>
                      <a:tailEnd type="none" w="med" len="med"/>
                    </a:lnL>
                    <a:lnR w="6350" cap="flat" cmpd="sng" algn="ctr">
                      <a:solidFill>
                        <a:srgbClr val="EBDFD0"/>
                      </a:solidFill>
                      <a:prstDash val="solid"/>
                      <a:round/>
                      <a:headEnd type="none" w="med" len="med"/>
                      <a:tailEnd type="none" w="med" len="med"/>
                    </a:lnR>
                    <a:lnT w="6350" cap="flat" cmpd="sng" algn="ctr">
                      <a:solidFill>
                        <a:srgbClr val="EBDFD0"/>
                      </a:solidFill>
                      <a:prstDash val="solid"/>
                      <a:round/>
                      <a:headEnd type="none" w="med" len="med"/>
                      <a:tailEnd type="none" w="med" len="med"/>
                    </a:lnT>
                    <a:lnB w="6350" cap="flat" cmpd="sng" algn="ctr">
                      <a:solidFill>
                        <a:srgbClr val="EBDFD0"/>
                      </a:solidFill>
                      <a:prstDash val="solid"/>
                      <a:round/>
                      <a:headEnd type="none" w="med" len="med"/>
                      <a:tailEnd type="none" w="med" len="med"/>
                    </a:lnB>
                    <a:solidFill>
                      <a:srgbClr val="FFF8F0"/>
                    </a:solidFill>
                  </a:tcPr>
                </a:tc>
                <a:tc>
                  <a:txBody>
                    <a:bodyPr/>
                    <a:lstStyle/>
                    <a:p>
                      <a:pPr indent="0" marL="0">
                        <a:buNone/>
                      </a:pPr>
                      <a:r>
                        <a:rPr lang="en-US" sz="1000" dirty="0">
                          <a:solidFill>
                            <a:srgbClr val="6B5A47"/>
                          </a:solidFill>
                          <a:latin typeface="Yu Gothic" pitchFamily="34" charset="0"/>
                          <a:ea typeface="Yu Gothic" pitchFamily="34" charset="-122"/>
                          <a:cs typeface="Yu Gothic" pitchFamily="34" charset="-120"/>
                        </a:rPr>
                        <a:t>郵送で数日（熱量が冷める）</a:t>
                      </a:r>
                      <a:endParaRPr lang="en-US" sz="1000" dirty="0">
                        <a:latin typeface="Yu Gothic" charset="0"/>
                        <a:ea typeface="Yu Gothic" charset="0"/>
                        <a:cs typeface="Yu Gothic" charset="0"/>
                      </a:endParaRPr>
                    </a:p>
                  </a:txBody>
                  <a:tcPr marL="91440" marR="91440" marT="91440" marB="91440" anchor="ctr">
                    <a:lnL w="6350" cap="flat" cmpd="sng" algn="ctr">
                      <a:solidFill>
                        <a:srgbClr val="EBDFD0"/>
                      </a:solidFill>
                      <a:prstDash val="solid"/>
                      <a:round/>
                      <a:headEnd type="none" w="med" len="med"/>
                      <a:tailEnd type="none" w="med" len="med"/>
                    </a:lnL>
                    <a:lnR w="6350" cap="flat" cmpd="sng" algn="ctr">
                      <a:solidFill>
                        <a:srgbClr val="EBDFD0"/>
                      </a:solidFill>
                      <a:prstDash val="solid"/>
                      <a:round/>
                      <a:headEnd type="none" w="med" len="med"/>
                      <a:tailEnd type="none" w="med" len="med"/>
                    </a:lnR>
                    <a:lnT w="6350" cap="flat" cmpd="sng" algn="ctr">
                      <a:solidFill>
                        <a:srgbClr val="EBDFD0"/>
                      </a:solidFill>
                      <a:prstDash val="solid"/>
                      <a:round/>
                      <a:headEnd type="none" w="med" len="med"/>
                      <a:tailEnd type="none" w="med" len="med"/>
                    </a:lnT>
                    <a:lnB w="6350" cap="flat" cmpd="sng" algn="ctr">
                      <a:solidFill>
                        <a:srgbClr val="EBDFD0"/>
                      </a:solidFill>
                      <a:prstDash val="solid"/>
                      <a:round/>
                      <a:headEnd type="none" w="med" len="med"/>
                      <a:tailEnd type="none" w="med" len="med"/>
                    </a:lnB>
                  </a:tcPr>
                </a:tc>
                <a:tc>
                  <a:txBody>
                    <a:bodyPr/>
                    <a:lstStyle/>
                    <a:p>
                      <a:pPr indent="0" marL="0">
                        <a:buNone/>
                      </a:pPr>
                      <a:r>
                        <a:rPr lang="en-US" sz="1000" dirty="0">
                          <a:solidFill>
                            <a:srgbClr val="3D2200"/>
                          </a:solidFill>
                          <a:latin typeface="Yu Gothic" pitchFamily="34" charset="0"/>
                          <a:ea typeface="Yu Gothic" pitchFamily="34" charset="-122"/>
                          <a:cs typeface="Yu Gothic" pitchFamily="34" charset="-120"/>
                        </a:rPr>
                        <a:t>会員登録後にすぐ配信</a:t>
                      </a:r>
                      <a:endParaRPr lang="en-US" sz="1000" dirty="0">
                        <a:latin typeface="Yu Gothic" charset="0"/>
                        <a:ea typeface="Yu Gothic" charset="0"/>
                        <a:cs typeface="Yu Gothic" charset="0"/>
                      </a:endParaRPr>
                    </a:p>
                  </a:txBody>
                  <a:tcPr marL="91440" marR="91440" marT="91440" marB="91440" anchor="ctr">
                    <a:lnL w="6350" cap="flat" cmpd="sng" algn="ctr">
                      <a:solidFill>
                        <a:srgbClr val="EBDFD0"/>
                      </a:solidFill>
                      <a:prstDash val="solid"/>
                      <a:round/>
                      <a:headEnd type="none" w="med" len="med"/>
                      <a:tailEnd type="none" w="med" len="med"/>
                    </a:lnL>
                    <a:lnR w="6350" cap="flat" cmpd="sng" algn="ctr">
                      <a:solidFill>
                        <a:srgbClr val="EBDFD0"/>
                      </a:solidFill>
                      <a:prstDash val="solid"/>
                      <a:round/>
                      <a:headEnd type="none" w="med" len="med"/>
                      <a:tailEnd type="none" w="med" len="med"/>
                    </a:lnR>
                    <a:lnT w="6350" cap="flat" cmpd="sng" algn="ctr">
                      <a:solidFill>
                        <a:srgbClr val="EBDFD0"/>
                      </a:solidFill>
                      <a:prstDash val="solid"/>
                      <a:round/>
                      <a:headEnd type="none" w="med" len="med"/>
                      <a:tailEnd type="none" w="med" len="med"/>
                    </a:lnT>
                    <a:lnB w="6350" cap="flat" cmpd="sng" algn="ctr">
                      <a:solidFill>
                        <a:srgbClr val="EBDFD0"/>
                      </a:solidFill>
                      <a:prstDash val="solid"/>
                      <a:round/>
                      <a:headEnd type="none" w="med" len="med"/>
                      <a:tailEnd type="none" w="med" len="med"/>
                    </a:lnB>
                  </a:tcPr>
                </a:tc>
              </a:tr>
              <a:tr h="356616">
                <a:tc>
                  <a:txBody>
                    <a:bodyPr/>
                    <a:lstStyle/>
                    <a:p>
                      <a:pPr indent="0" marL="0">
                        <a:buNone/>
                      </a:pPr>
                      <a:r>
                        <a:rPr lang="en-US" sz="1000" b="1" dirty="0">
                          <a:solidFill>
                            <a:srgbClr val="2A1700"/>
                          </a:solidFill>
                          <a:latin typeface="Yu Gothic" pitchFamily="34" charset="0"/>
                          <a:ea typeface="Yu Gothic" pitchFamily="34" charset="-122"/>
                          <a:cs typeface="Yu Gothic" pitchFamily="34" charset="-120"/>
                        </a:rPr>
                        <a:t>工務店のコスト</a:t>
                      </a:r>
                      <a:endParaRPr lang="en-US" sz="1000" dirty="0">
                        <a:latin typeface="Yu Gothic" charset="0"/>
                        <a:ea typeface="Yu Gothic" charset="0"/>
                        <a:cs typeface="Yu Gothic" charset="0"/>
                      </a:endParaRPr>
                    </a:p>
                  </a:txBody>
                  <a:tcPr marL="91440" marR="91440" marT="91440" marB="91440" anchor="ctr">
                    <a:lnL w="6350" cap="flat" cmpd="sng" algn="ctr">
                      <a:solidFill>
                        <a:srgbClr val="EBDFD0"/>
                      </a:solidFill>
                      <a:prstDash val="solid"/>
                      <a:round/>
                      <a:headEnd type="none" w="med" len="med"/>
                      <a:tailEnd type="none" w="med" len="med"/>
                    </a:lnL>
                    <a:lnR w="6350" cap="flat" cmpd="sng" algn="ctr">
                      <a:solidFill>
                        <a:srgbClr val="EBDFD0"/>
                      </a:solidFill>
                      <a:prstDash val="solid"/>
                      <a:round/>
                      <a:headEnd type="none" w="med" len="med"/>
                      <a:tailEnd type="none" w="med" len="med"/>
                    </a:lnR>
                    <a:lnT w="6350" cap="flat" cmpd="sng" algn="ctr">
                      <a:solidFill>
                        <a:srgbClr val="EBDFD0"/>
                      </a:solidFill>
                      <a:prstDash val="solid"/>
                      <a:round/>
                      <a:headEnd type="none" w="med" len="med"/>
                      <a:tailEnd type="none" w="med" len="med"/>
                    </a:lnT>
                    <a:lnB w="6350" cap="flat" cmpd="sng" algn="ctr">
                      <a:solidFill>
                        <a:srgbClr val="EBDFD0"/>
                      </a:solidFill>
                      <a:prstDash val="solid"/>
                      <a:round/>
                      <a:headEnd type="none" w="med" len="med"/>
                      <a:tailEnd type="none" w="med" len="med"/>
                    </a:lnB>
                    <a:solidFill>
                      <a:srgbClr val="FFF8F0"/>
                    </a:solidFill>
                  </a:tcPr>
                </a:tc>
                <a:tc>
                  <a:txBody>
                    <a:bodyPr/>
                    <a:lstStyle/>
                    <a:p>
                      <a:pPr indent="0" marL="0">
                        <a:buNone/>
                      </a:pPr>
                      <a:r>
                        <a:rPr lang="en-US" sz="1000" dirty="0">
                          <a:solidFill>
                            <a:srgbClr val="6B5A47"/>
                          </a:solidFill>
                          <a:latin typeface="Yu Gothic" pitchFamily="34" charset="0"/>
                          <a:ea typeface="Yu Gothic" pitchFamily="34" charset="-122"/>
                          <a:cs typeface="Yu Gothic" pitchFamily="34" charset="-120"/>
                        </a:rPr>
                        <a:t>印刷・封入・発送に費用</a:t>
                      </a:r>
                      <a:endParaRPr lang="en-US" sz="1000" dirty="0">
                        <a:latin typeface="Yu Gothic" charset="0"/>
                        <a:ea typeface="Yu Gothic" charset="0"/>
                        <a:cs typeface="Yu Gothic" charset="0"/>
                      </a:endParaRPr>
                    </a:p>
                  </a:txBody>
                  <a:tcPr marL="91440" marR="91440" marT="91440" marB="91440" anchor="ctr">
                    <a:lnL w="6350" cap="flat" cmpd="sng" algn="ctr">
                      <a:solidFill>
                        <a:srgbClr val="EBDFD0"/>
                      </a:solidFill>
                      <a:prstDash val="solid"/>
                      <a:round/>
                      <a:headEnd type="none" w="med" len="med"/>
                      <a:tailEnd type="none" w="med" len="med"/>
                    </a:lnL>
                    <a:lnR w="6350" cap="flat" cmpd="sng" algn="ctr">
                      <a:solidFill>
                        <a:srgbClr val="EBDFD0"/>
                      </a:solidFill>
                      <a:prstDash val="solid"/>
                      <a:round/>
                      <a:headEnd type="none" w="med" len="med"/>
                      <a:tailEnd type="none" w="med" len="med"/>
                    </a:lnR>
                    <a:lnT w="6350" cap="flat" cmpd="sng" algn="ctr">
                      <a:solidFill>
                        <a:srgbClr val="EBDFD0"/>
                      </a:solidFill>
                      <a:prstDash val="solid"/>
                      <a:round/>
                      <a:headEnd type="none" w="med" len="med"/>
                      <a:tailEnd type="none" w="med" len="med"/>
                    </a:lnT>
                    <a:lnB w="6350" cap="flat" cmpd="sng" algn="ctr">
                      <a:solidFill>
                        <a:srgbClr val="EBDFD0"/>
                      </a:solidFill>
                      <a:prstDash val="solid"/>
                      <a:round/>
                      <a:headEnd type="none" w="med" len="med"/>
                      <a:tailEnd type="none" w="med" len="med"/>
                    </a:lnB>
                  </a:tcPr>
                </a:tc>
                <a:tc>
                  <a:txBody>
                    <a:bodyPr/>
                    <a:lstStyle/>
                    <a:p>
                      <a:pPr indent="0" marL="0">
                        <a:buNone/>
                      </a:pPr>
                      <a:r>
                        <a:rPr lang="en-US" sz="1000" b="1" dirty="0">
                          <a:solidFill>
                            <a:srgbClr val="E8740C"/>
                          </a:solidFill>
                          <a:latin typeface="Yu Gothic" pitchFamily="34" charset="0"/>
                          <a:ea typeface="Yu Gothic" pitchFamily="34" charset="-122"/>
                          <a:cs typeface="Yu Gothic" pitchFamily="34" charset="-120"/>
                        </a:rPr>
                        <a:t>完全デジタル ─ 追加費用ゼロ</a:t>
                      </a:r>
                      <a:endParaRPr lang="en-US" sz="1000" dirty="0">
                        <a:latin typeface="Yu Gothic" charset="0"/>
                        <a:ea typeface="Yu Gothic" charset="0"/>
                        <a:cs typeface="Yu Gothic" charset="0"/>
                      </a:endParaRPr>
                    </a:p>
                  </a:txBody>
                  <a:tcPr marL="91440" marR="91440" marT="91440" marB="91440" anchor="ctr">
                    <a:lnL w="6350" cap="flat" cmpd="sng" algn="ctr">
                      <a:solidFill>
                        <a:srgbClr val="EBDFD0"/>
                      </a:solidFill>
                      <a:prstDash val="solid"/>
                      <a:round/>
                      <a:headEnd type="none" w="med" len="med"/>
                      <a:tailEnd type="none" w="med" len="med"/>
                    </a:lnL>
                    <a:lnR w="6350" cap="flat" cmpd="sng" algn="ctr">
                      <a:solidFill>
                        <a:srgbClr val="EBDFD0"/>
                      </a:solidFill>
                      <a:prstDash val="solid"/>
                      <a:round/>
                      <a:headEnd type="none" w="med" len="med"/>
                      <a:tailEnd type="none" w="med" len="med"/>
                    </a:lnR>
                    <a:lnT w="6350" cap="flat" cmpd="sng" algn="ctr">
                      <a:solidFill>
                        <a:srgbClr val="EBDFD0"/>
                      </a:solidFill>
                      <a:prstDash val="solid"/>
                      <a:round/>
                      <a:headEnd type="none" w="med" len="med"/>
                      <a:tailEnd type="none" w="med" len="med"/>
                    </a:lnT>
                    <a:lnB w="6350" cap="flat" cmpd="sng" algn="ctr">
                      <a:solidFill>
                        <a:srgbClr val="EBDFD0"/>
                      </a:solidFill>
                      <a:prstDash val="solid"/>
                      <a:round/>
                      <a:headEnd type="none" w="med" len="med"/>
                      <a:tailEnd type="none" w="med" len="med"/>
                    </a:lnB>
                  </a:tcPr>
                </a:tc>
              </a:tr>
              <a:tr h="356616">
                <a:tc>
                  <a:txBody>
                    <a:bodyPr/>
                    <a:lstStyle/>
                    <a:p>
                      <a:pPr indent="0" marL="0">
                        <a:buNone/>
                      </a:pPr>
                      <a:r>
                        <a:rPr lang="en-US" sz="1000" b="1" dirty="0">
                          <a:solidFill>
                            <a:srgbClr val="2A1700"/>
                          </a:solidFill>
                          <a:latin typeface="Yu Gothic" pitchFamily="34" charset="0"/>
                          <a:ea typeface="Yu Gothic" pitchFamily="34" charset="-122"/>
                          <a:cs typeface="Yu Gothic" pitchFamily="34" charset="-120"/>
                        </a:rPr>
                        <a:t>営業開始時の情報</a:t>
                      </a:r>
                      <a:endParaRPr lang="en-US" sz="1000" dirty="0">
                        <a:latin typeface="Yu Gothic" charset="0"/>
                        <a:ea typeface="Yu Gothic" charset="0"/>
                        <a:cs typeface="Yu Gothic" charset="0"/>
                      </a:endParaRPr>
                    </a:p>
                  </a:txBody>
                  <a:tcPr marL="91440" marR="91440" marT="91440" marB="91440" anchor="ctr">
                    <a:lnL w="6350" cap="flat" cmpd="sng" algn="ctr">
                      <a:solidFill>
                        <a:srgbClr val="EBDFD0"/>
                      </a:solidFill>
                      <a:prstDash val="solid"/>
                      <a:round/>
                      <a:headEnd type="none" w="med" len="med"/>
                      <a:tailEnd type="none" w="med" len="med"/>
                    </a:lnL>
                    <a:lnR w="6350" cap="flat" cmpd="sng" algn="ctr">
                      <a:solidFill>
                        <a:srgbClr val="EBDFD0"/>
                      </a:solidFill>
                      <a:prstDash val="solid"/>
                      <a:round/>
                      <a:headEnd type="none" w="med" len="med"/>
                      <a:tailEnd type="none" w="med" len="med"/>
                    </a:lnR>
                    <a:lnT w="6350" cap="flat" cmpd="sng" algn="ctr">
                      <a:solidFill>
                        <a:srgbClr val="EBDFD0"/>
                      </a:solidFill>
                      <a:prstDash val="solid"/>
                      <a:round/>
                      <a:headEnd type="none" w="med" len="med"/>
                      <a:tailEnd type="none" w="med" len="med"/>
                    </a:lnT>
                    <a:lnB w="6350" cap="flat" cmpd="sng" algn="ctr">
                      <a:solidFill>
                        <a:srgbClr val="EBDFD0"/>
                      </a:solidFill>
                      <a:prstDash val="solid"/>
                      <a:round/>
                      <a:headEnd type="none" w="med" len="med"/>
                      <a:tailEnd type="none" w="med" len="med"/>
                    </a:lnB>
                    <a:solidFill>
                      <a:srgbClr val="FFF8F0"/>
                    </a:solidFill>
                  </a:tcPr>
                </a:tc>
                <a:tc>
                  <a:txBody>
                    <a:bodyPr/>
                    <a:lstStyle/>
                    <a:p>
                      <a:pPr indent="0" marL="0">
                        <a:buNone/>
                      </a:pPr>
                      <a:r>
                        <a:rPr lang="en-US" sz="1000" dirty="0">
                          <a:solidFill>
                            <a:srgbClr val="6B5A47"/>
                          </a:solidFill>
                          <a:latin typeface="Yu Gothic" pitchFamily="34" charset="0"/>
                          <a:ea typeface="Yu Gothic" pitchFamily="34" charset="-122"/>
                          <a:cs typeface="Yu Gothic" pitchFamily="34" charset="-120"/>
                        </a:rPr>
                        <a:t>名前と住所だけ</a:t>
                      </a:r>
                      <a:endParaRPr lang="en-US" sz="1000" dirty="0">
                        <a:latin typeface="Yu Gothic" charset="0"/>
                        <a:ea typeface="Yu Gothic" charset="0"/>
                        <a:cs typeface="Yu Gothic" charset="0"/>
                      </a:endParaRPr>
                    </a:p>
                  </a:txBody>
                  <a:tcPr marL="91440" marR="91440" marT="91440" marB="91440" anchor="ctr">
                    <a:lnL w="6350" cap="flat" cmpd="sng" algn="ctr">
                      <a:solidFill>
                        <a:srgbClr val="EBDFD0"/>
                      </a:solidFill>
                      <a:prstDash val="solid"/>
                      <a:round/>
                      <a:headEnd type="none" w="med" len="med"/>
                      <a:tailEnd type="none" w="med" len="med"/>
                    </a:lnL>
                    <a:lnR w="6350" cap="flat" cmpd="sng" algn="ctr">
                      <a:solidFill>
                        <a:srgbClr val="EBDFD0"/>
                      </a:solidFill>
                      <a:prstDash val="solid"/>
                      <a:round/>
                      <a:headEnd type="none" w="med" len="med"/>
                      <a:tailEnd type="none" w="med" len="med"/>
                    </a:lnR>
                    <a:lnT w="6350" cap="flat" cmpd="sng" algn="ctr">
                      <a:solidFill>
                        <a:srgbClr val="EBDFD0"/>
                      </a:solidFill>
                      <a:prstDash val="solid"/>
                      <a:round/>
                      <a:headEnd type="none" w="med" len="med"/>
                      <a:tailEnd type="none" w="med" len="med"/>
                    </a:lnT>
                    <a:lnB w="6350" cap="flat" cmpd="sng" algn="ctr">
                      <a:solidFill>
                        <a:srgbClr val="EBDFD0"/>
                      </a:solidFill>
                      <a:prstDash val="solid"/>
                      <a:round/>
                      <a:headEnd type="none" w="med" len="med"/>
                      <a:tailEnd type="none" w="med" len="med"/>
                    </a:lnB>
                  </a:tcPr>
                </a:tc>
                <a:tc>
                  <a:txBody>
                    <a:bodyPr/>
                    <a:lstStyle/>
                    <a:p>
                      <a:pPr indent="0" marL="0">
                        <a:buNone/>
                      </a:pPr>
                      <a:r>
                        <a:rPr lang="en-US" sz="1000" dirty="0">
                          <a:solidFill>
                            <a:srgbClr val="3D2200"/>
                          </a:solidFill>
                          <a:latin typeface="Yu Gothic" pitchFamily="34" charset="0"/>
                          <a:ea typeface="Yu Gothic" pitchFamily="34" charset="-122"/>
                          <a:cs typeface="Yu Gothic" pitchFamily="34" charset="-120"/>
                        </a:rPr>
                        <a:t>希望・予算・連絡希望まで把握</a:t>
                      </a:r>
                      <a:endParaRPr lang="en-US" sz="1000" dirty="0">
                        <a:latin typeface="Yu Gothic" charset="0"/>
                        <a:ea typeface="Yu Gothic" charset="0"/>
                        <a:cs typeface="Yu Gothic" charset="0"/>
                      </a:endParaRPr>
                    </a:p>
                  </a:txBody>
                  <a:tcPr marL="91440" marR="91440" marT="91440" marB="91440" anchor="ctr">
                    <a:lnL w="6350" cap="flat" cmpd="sng" algn="ctr">
                      <a:solidFill>
                        <a:srgbClr val="EBDFD0"/>
                      </a:solidFill>
                      <a:prstDash val="solid"/>
                      <a:round/>
                      <a:headEnd type="none" w="med" len="med"/>
                      <a:tailEnd type="none" w="med" len="med"/>
                    </a:lnL>
                    <a:lnR w="6350" cap="flat" cmpd="sng" algn="ctr">
                      <a:solidFill>
                        <a:srgbClr val="EBDFD0"/>
                      </a:solidFill>
                      <a:prstDash val="solid"/>
                      <a:round/>
                      <a:headEnd type="none" w="med" len="med"/>
                      <a:tailEnd type="none" w="med" len="med"/>
                    </a:lnR>
                    <a:lnT w="6350" cap="flat" cmpd="sng" algn="ctr">
                      <a:solidFill>
                        <a:srgbClr val="EBDFD0"/>
                      </a:solidFill>
                      <a:prstDash val="solid"/>
                      <a:round/>
                      <a:headEnd type="none" w="med" len="med"/>
                      <a:tailEnd type="none" w="med" len="med"/>
                    </a:lnT>
                    <a:lnB w="6350" cap="flat" cmpd="sng" algn="ctr">
                      <a:solidFill>
                        <a:srgbClr val="EBDFD0"/>
                      </a:solidFill>
                      <a:prstDash val="solid"/>
                      <a:round/>
                      <a:headEnd type="none" w="med" len="med"/>
                      <a:tailEnd type="none" w="med" len="med"/>
                    </a:lnB>
                  </a:tcPr>
                </a:tc>
              </a:tr>
              <a:tr h="356616">
                <a:tc>
                  <a:txBody>
                    <a:bodyPr/>
                    <a:lstStyle/>
                    <a:p>
                      <a:pPr indent="0" marL="0">
                        <a:buNone/>
                      </a:pPr>
                      <a:r>
                        <a:rPr lang="en-US" sz="1000" b="1" dirty="0">
                          <a:solidFill>
                            <a:srgbClr val="2A1700"/>
                          </a:solidFill>
                          <a:latin typeface="Yu Gothic" pitchFamily="34" charset="0"/>
                          <a:ea typeface="Yu Gothic" pitchFamily="34" charset="-122"/>
                          <a:cs typeface="Yu Gothic" pitchFamily="34" charset="-120"/>
                        </a:rPr>
                        <a:t>ユーザーの心理</a:t>
                      </a:r>
                      <a:endParaRPr lang="en-US" sz="1000" dirty="0">
                        <a:latin typeface="Yu Gothic" charset="0"/>
                        <a:ea typeface="Yu Gothic" charset="0"/>
                        <a:cs typeface="Yu Gothic" charset="0"/>
                      </a:endParaRPr>
                    </a:p>
                  </a:txBody>
                  <a:tcPr marL="91440" marR="91440" marT="91440" marB="91440" anchor="ctr">
                    <a:lnL w="6350" cap="flat" cmpd="sng" algn="ctr">
                      <a:solidFill>
                        <a:srgbClr val="EBDFD0"/>
                      </a:solidFill>
                      <a:prstDash val="solid"/>
                      <a:round/>
                      <a:headEnd type="none" w="med" len="med"/>
                      <a:tailEnd type="none" w="med" len="med"/>
                    </a:lnL>
                    <a:lnR w="6350" cap="flat" cmpd="sng" algn="ctr">
                      <a:solidFill>
                        <a:srgbClr val="EBDFD0"/>
                      </a:solidFill>
                      <a:prstDash val="solid"/>
                      <a:round/>
                      <a:headEnd type="none" w="med" len="med"/>
                      <a:tailEnd type="none" w="med" len="med"/>
                    </a:lnR>
                    <a:lnT w="6350" cap="flat" cmpd="sng" algn="ctr">
                      <a:solidFill>
                        <a:srgbClr val="EBDFD0"/>
                      </a:solidFill>
                      <a:prstDash val="solid"/>
                      <a:round/>
                      <a:headEnd type="none" w="med" len="med"/>
                      <a:tailEnd type="none" w="med" len="med"/>
                    </a:lnT>
                    <a:lnB w="6350" cap="flat" cmpd="sng" algn="ctr">
                      <a:solidFill>
                        <a:srgbClr val="EBDFD0"/>
                      </a:solidFill>
                      <a:prstDash val="solid"/>
                      <a:round/>
                      <a:headEnd type="none" w="med" len="med"/>
                      <a:tailEnd type="none" w="med" len="med"/>
                    </a:lnB>
                    <a:solidFill>
                      <a:srgbClr val="FFF8F0"/>
                    </a:solidFill>
                  </a:tcPr>
                </a:tc>
                <a:tc>
                  <a:txBody>
                    <a:bodyPr/>
                    <a:lstStyle/>
                    <a:p>
                      <a:pPr indent="0" marL="0">
                        <a:buNone/>
                      </a:pPr>
                      <a:r>
                        <a:rPr lang="en-US" sz="1000" dirty="0">
                          <a:solidFill>
                            <a:srgbClr val="6B5A47"/>
                          </a:solidFill>
                          <a:latin typeface="Yu Gothic" pitchFamily="34" charset="0"/>
                          <a:ea typeface="Yu Gothic" pitchFamily="34" charset="-122"/>
                          <a:cs typeface="Yu Gothic" pitchFamily="34" charset="-120"/>
                        </a:rPr>
                        <a:t>しつこい営業に身構える</a:t>
                      </a:r>
                      <a:endParaRPr lang="en-US" sz="1000" dirty="0">
                        <a:latin typeface="Yu Gothic" charset="0"/>
                        <a:ea typeface="Yu Gothic" charset="0"/>
                        <a:cs typeface="Yu Gothic" charset="0"/>
                      </a:endParaRPr>
                    </a:p>
                  </a:txBody>
                  <a:tcPr marL="91440" marR="91440" marT="91440" marB="91440" anchor="ctr">
                    <a:lnL w="6350" cap="flat" cmpd="sng" algn="ctr">
                      <a:solidFill>
                        <a:srgbClr val="EBDFD0"/>
                      </a:solidFill>
                      <a:prstDash val="solid"/>
                      <a:round/>
                      <a:headEnd type="none" w="med" len="med"/>
                      <a:tailEnd type="none" w="med" len="med"/>
                    </a:lnL>
                    <a:lnR w="6350" cap="flat" cmpd="sng" algn="ctr">
                      <a:solidFill>
                        <a:srgbClr val="EBDFD0"/>
                      </a:solidFill>
                      <a:prstDash val="solid"/>
                      <a:round/>
                      <a:headEnd type="none" w="med" len="med"/>
                      <a:tailEnd type="none" w="med" len="med"/>
                    </a:lnR>
                    <a:lnT w="6350" cap="flat" cmpd="sng" algn="ctr">
                      <a:solidFill>
                        <a:srgbClr val="EBDFD0"/>
                      </a:solidFill>
                      <a:prstDash val="solid"/>
                      <a:round/>
                      <a:headEnd type="none" w="med" len="med"/>
                      <a:tailEnd type="none" w="med" len="med"/>
                    </a:lnT>
                    <a:lnB w="6350" cap="flat" cmpd="sng" algn="ctr">
                      <a:solidFill>
                        <a:srgbClr val="EBDFD0"/>
                      </a:solidFill>
                      <a:prstDash val="solid"/>
                      <a:round/>
                      <a:headEnd type="none" w="med" len="med"/>
                      <a:tailEnd type="none" w="med" len="med"/>
                    </a:lnB>
                  </a:tcPr>
                </a:tc>
                <a:tc>
                  <a:txBody>
                    <a:bodyPr/>
                    <a:lstStyle/>
                    <a:p>
                      <a:pPr indent="0" marL="0">
                        <a:buNone/>
                      </a:pPr>
                      <a:r>
                        <a:rPr lang="en-US" sz="1000" dirty="0">
                          <a:solidFill>
                            <a:srgbClr val="3D2200"/>
                          </a:solidFill>
                          <a:latin typeface="Yu Gothic" pitchFamily="34" charset="0"/>
                          <a:ea typeface="Yu Gothic" pitchFamily="34" charset="-122"/>
                          <a:cs typeface="Yu Gothic" pitchFamily="34" charset="-120"/>
                        </a:rPr>
                        <a:t>希望通りのテンポで安心</a:t>
                      </a:r>
                      <a:endParaRPr lang="en-US" sz="1000" dirty="0">
                        <a:latin typeface="Yu Gothic" charset="0"/>
                        <a:ea typeface="Yu Gothic" charset="0"/>
                        <a:cs typeface="Yu Gothic" charset="0"/>
                      </a:endParaRPr>
                    </a:p>
                  </a:txBody>
                  <a:tcPr marL="91440" marR="91440" marT="91440" marB="91440" anchor="ctr">
                    <a:lnL w="6350" cap="flat" cmpd="sng" algn="ctr">
                      <a:solidFill>
                        <a:srgbClr val="EBDFD0"/>
                      </a:solidFill>
                      <a:prstDash val="solid"/>
                      <a:round/>
                      <a:headEnd type="none" w="med" len="med"/>
                      <a:tailEnd type="none" w="med" len="med"/>
                    </a:lnL>
                    <a:lnR w="6350" cap="flat" cmpd="sng" algn="ctr">
                      <a:solidFill>
                        <a:srgbClr val="EBDFD0"/>
                      </a:solidFill>
                      <a:prstDash val="solid"/>
                      <a:round/>
                      <a:headEnd type="none" w="med" len="med"/>
                      <a:tailEnd type="none" w="med" len="med"/>
                    </a:lnR>
                    <a:lnT w="6350" cap="flat" cmpd="sng" algn="ctr">
                      <a:solidFill>
                        <a:srgbClr val="EBDFD0"/>
                      </a:solidFill>
                      <a:prstDash val="solid"/>
                      <a:round/>
                      <a:headEnd type="none" w="med" len="med"/>
                      <a:tailEnd type="none" w="med" len="med"/>
                    </a:lnT>
                    <a:lnB w="6350" cap="flat" cmpd="sng" algn="ctr">
                      <a:solidFill>
                        <a:srgbClr val="EBDFD0"/>
                      </a:solidFill>
                      <a:prstDash val="solid"/>
                      <a:round/>
                      <a:headEnd type="none" w="med" len="med"/>
                      <a:tailEnd type="none" w="med" len="med"/>
                    </a:lnB>
                  </a:tcPr>
                </a:tc>
              </a:tr>
              <a:tr h="356616">
                <a:tc>
                  <a:txBody>
                    <a:bodyPr/>
                    <a:lstStyle/>
                    <a:p>
                      <a:pPr indent="0" marL="0">
                        <a:buNone/>
                      </a:pPr>
                      <a:r>
                        <a:rPr lang="en-US" sz="1000" b="1" dirty="0">
                          <a:solidFill>
                            <a:srgbClr val="2A1700"/>
                          </a:solidFill>
                          <a:latin typeface="Yu Gothic" pitchFamily="34" charset="0"/>
                          <a:ea typeface="Yu Gothic" pitchFamily="34" charset="-122"/>
                          <a:cs typeface="Yu Gothic" pitchFamily="34" charset="-120"/>
                        </a:rPr>
                        <a:t>成約までの効率</a:t>
                      </a:r>
                      <a:endParaRPr lang="en-US" sz="1000" dirty="0">
                        <a:latin typeface="Yu Gothic" charset="0"/>
                        <a:ea typeface="Yu Gothic" charset="0"/>
                        <a:cs typeface="Yu Gothic" charset="0"/>
                      </a:endParaRPr>
                    </a:p>
                  </a:txBody>
                  <a:tcPr marL="91440" marR="91440" marT="91440" marB="91440" anchor="ctr">
                    <a:lnL w="6350" cap="flat" cmpd="sng" algn="ctr">
                      <a:solidFill>
                        <a:srgbClr val="EBDFD0"/>
                      </a:solidFill>
                      <a:prstDash val="solid"/>
                      <a:round/>
                      <a:headEnd type="none" w="med" len="med"/>
                      <a:tailEnd type="none" w="med" len="med"/>
                    </a:lnL>
                    <a:lnR w="6350" cap="flat" cmpd="sng" algn="ctr">
                      <a:solidFill>
                        <a:srgbClr val="EBDFD0"/>
                      </a:solidFill>
                      <a:prstDash val="solid"/>
                      <a:round/>
                      <a:headEnd type="none" w="med" len="med"/>
                      <a:tailEnd type="none" w="med" len="med"/>
                    </a:lnR>
                    <a:lnT w="6350" cap="flat" cmpd="sng" algn="ctr">
                      <a:solidFill>
                        <a:srgbClr val="EBDFD0"/>
                      </a:solidFill>
                      <a:prstDash val="solid"/>
                      <a:round/>
                      <a:headEnd type="none" w="med" len="med"/>
                      <a:tailEnd type="none" w="med" len="med"/>
                    </a:lnT>
                    <a:lnB w="6350" cap="flat" cmpd="sng" algn="ctr">
                      <a:solidFill>
                        <a:srgbClr val="EBDFD0"/>
                      </a:solidFill>
                      <a:prstDash val="solid"/>
                      <a:round/>
                      <a:headEnd type="none" w="med" len="med"/>
                      <a:tailEnd type="none" w="med" len="med"/>
                    </a:lnB>
                    <a:solidFill>
                      <a:srgbClr val="FFF8F0"/>
                    </a:solidFill>
                  </a:tcPr>
                </a:tc>
                <a:tc>
                  <a:txBody>
                    <a:bodyPr/>
                    <a:lstStyle/>
                    <a:p>
                      <a:pPr indent="0" marL="0">
                        <a:buNone/>
                      </a:pPr>
                      <a:r>
                        <a:rPr lang="en-US" sz="1000" dirty="0">
                          <a:solidFill>
                            <a:srgbClr val="6B5A47"/>
                          </a:solidFill>
                          <a:latin typeface="Yu Gothic" pitchFamily="34" charset="0"/>
                          <a:ea typeface="Yu Gothic" pitchFamily="34" charset="-122"/>
                          <a:cs typeface="Yu Gothic" pitchFamily="34" charset="-120"/>
                        </a:rPr>
                        <a:t>業界平均 約1.66%</a:t>
                      </a:r>
                      <a:endParaRPr lang="en-US" sz="1000" dirty="0">
                        <a:latin typeface="Yu Gothic" charset="0"/>
                        <a:ea typeface="Yu Gothic" charset="0"/>
                        <a:cs typeface="Yu Gothic" charset="0"/>
                      </a:endParaRPr>
                    </a:p>
                  </a:txBody>
                  <a:tcPr marL="91440" marR="91440" marT="91440" marB="91440" anchor="ctr">
                    <a:lnL w="6350" cap="flat" cmpd="sng" algn="ctr">
                      <a:solidFill>
                        <a:srgbClr val="EBDFD0"/>
                      </a:solidFill>
                      <a:prstDash val="solid"/>
                      <a:round/>
                      <a:headEnd type="none" w="med" len="med"/>
                      <a:tailEnd type="none" w="med" len="med"/>
                    </a:lnL>
                    <a:lnR w="6350" cap="flat" cmpd="sng" algn="ctr">
                      <a:solidFill>
                        <a:srgbClr val="EBDFD0"/>
                      </a:solidFill>
                      <a:prstDash val="solid"/>
                      <a:round/>
                      <a:headEnd type="none" w="med" len="med"/>
                      <a:tailEnd type="none" w="med" len="med"/>
                    </a:lnR>
                    <a:lnT w="6350" cap="flat" cmpd="sng" algn="ctr">
                      <a:solidFill>
                        <a:srgbClr val="EBDFD0"/>
                      </a:solidFill>
                      <a:prstDash val="solid"/>
                      <a:round/>
                      <a:headEnd type="none" w="med" len="med"/>
                      <a:tailEnd type="none" w="med" len="med"/>
                    </a:lnT>
                    <a:lnB w="6350" cap="flat" cmpd="sng" algn="ctr">
                      <a:solidFill>
                        <a:srgbClr val="EBDFD0"/>
                      </a:solidFill>
                      <a:prstDash val="solid"/>
                      <a:round/>
                      <a:headEnd type="none" w="med" len="med"/>
                      <a:tailEnd type="none" w="med" len="med"/>
                    </a:lnB>
                  </a:tcPr>
                </a:tc>
                <a:tc>
                  <a:txBody>
                    <a:bodyPr/>
                    <a:lstStyle/>
                    <a:p>
                      <a:pPr indent="0" marL="0">
                        <a:buNone/>
                      </a:pPr>
                      <a:r>
                        <a:rPr lang="en-US" sz="1000" b="1" dirty="0">
                          <a:solidFill>
                            <a:srgbClr val="E8740C"/>
                          </a:solidFill>
                          <a:latin typeface="Yu Gothic" pitchFamily="34" charset="0"/>
                          <a:ea typeface="Yu Gothic" pitchFamily="34" charset="-122"/>
                          <a:cs typeface="Yu Gothic" pitchFamily="34" charset="-120"/>
                        </a:rPr>
                        <a:t>本気度の高いリードのみ対応</a:t>
                      </a:r>
                      <a:endParaRPr lang="en-US" sz="1000" dirty="0">
                        <a:latin typeface="Yu Gothic" charset="0"/>
                        <a:ea typeface="Yu Gothic" charset="0"/>
                        <a:cs typeface="Yu Gothic" charset="0"/>
                      </a:endParaRPr>
                    </a:p>
                  </a:txBody>
                  <a:tcPr marL="91440" marR="91440" marT="91440" marB="91440" anchor="ctr">
                    <a:lnL w="6350" cap="flat" cmpd="sng" algn="ctr">
                      <a:solidFill>
                        <a:srgbClr val="EBDFD0"/>
                      </a:solidFill>
                      <a:prstDash val="solid"/>
                      <a:round/>
                      <a:headEnd type="none" w="med" len="med"/>
                      <a:tailEnd type="none" w="med" len="med"/>
                    </a:lnL>
                    <a:lnR w="6350" cap="flat" cmpd="sng" algn="ctr">
                      <a:solidFill>
                        <a:srgbClr val="EBDFD0"/>
                      </a:solidFill>
                      <a:prstDash val="solid"/>
                      <a:round/>
                      <a:headEnd type="none" w="med" len="med"/>
                      <a:tailEnd type="none" w="med" len="med"/>
                    </a:lnR>
                    <a:lnT w="6350" cap="flat" cmpd="sng" algn="ctr">
                      <a:solidFill>
                        <a:srgbClr val="EBDFD0"/>
                      </a:solidFill>
                      <a:prstDash val="solid"/>
                      <a:round/>
                      <a:headEnd type="none" w="med" len="med"/>
                      <a:tailEnd type="none" w="med" len="med"/>
                    </a:lnT>
                    <a:lnB w="6350" cap="flat" cmpd="sng" algn="ctr">
                      <a:solidFill>
                        <a:srgbClr val="EBDFD0"/>
                      </a:solidFill>
                      <a:prstDash val="solid"/>
                      <a:round/>
                      <a:headEnd type="none" w="med" len="med"/>
                      <a:tailEnd type="none" w="med" len="med"/>
                    </a:lnB>
                  </a:tcPr>
                </a:tc>
              </a:tr>
              <a:tr h="356616">
                <a:tc>
                  <a:txBody>
                    <a:bodyPr/>
                    <a:lstStyle/>
                    <a:p>
                      <a:pPr indent="0" marL="0">
                        <a:buNone/>
                      </a:pPr>
                      <a:r>
                        <a:rPr lang="en-US" sz="1000" b="1" dirty="0">
                          <a:solidFill>
                            <a:srgbClr val="2A1700"/>
                          </a:solidFill>
                          <a:latin typeface="Yu Gothic" pitchFamily="34" charset="0"/>
                          <a:ea typeface="Yu Gothic" pitchFamily="34" charset="-122"/>
                          <a:cs typeface="Yu Gothic" pitchFamily="34" charset="-120"/>
                        </a:rPr>
                        <a:t>工務店様の役割</a:t>
                      </a:r>
                      <a:endParaRPr lang="en-US" sz="1000" dirty="0">
                        <a:latin typeface="Yu Gothic" charset="0"/>
                        <a:ea typeface="Yu Gothic" charset="0"/>
                        <a:cs typeface="Yu Gothic" charset="0"/>
                      </a:endParaRPr>
                    </a:p>
                  </a:txBody>
                  <a:tcPr marL="91440" marR="91440" marT="91440" marB="91440" anchor="ctr">
                    <a:lnL w="6350" cap="flat" cmpd="sng" algn="ctr">
                      <a:solidFill>
                        <a:srgbClr val="EBDFD0"/>
                      </a:solidFill>
                      <a:prstDash val="solid"/>
                      <a:round/>
                      <a:headEnd type="none" w="med" len="med"/>
                      <a:tailEnd type="none" w="med" len="med"/>
                    </a:lnL>
                    <a:lnR w="6350" cap="flat" cmpd="sng" algn="ctr">
                      <a:solidFill>
                        <a:srgbClr val="EBDFD0"/>
                      </a:solidFill>
                      <a:prstDash val="solid"/>
                      <a:round/>
                      <a:headEnd type="none" w="med" len="med"/>
                      <a:tailEnd type="none" w="med" len="med"/>
                    </a:lnR>
                    <a:lnT w="6350" cap="flat" cmpd="sng" algn="ctr">
                      <a:solidFill>
                        <a:srgbClr val="EBDFD0"/>
                      </a:solidFill>
                      <a:prstDash val="solid"/>
                      <a:round/>
                      <a:headEnd type="none" w="med" len="med"/>
                      <a:tailEnd type="none" w="med" len="med"/>
                    </a:lnT>
                    <a:lnB w="6350" cap="flat" cmpd="sng" algn="ctr">
                      <a:solidFill>
                        <a:srgbClr val="EBDFD0"/>
                      </a:solidFill>
                      <a:prstDash val="solid"/>
                      <a:round/>
                      <a:headEnd type="none" w="med" len="med"/>
                      <a:tailEnd type="none" w="med" len="med"/>
                    </a:lnB>
                    <a:solidFill>
                      <a:srgbClr val="FFF8F0"/>
                    </a:solidFill>
                  </a:tcPr>
                </a:tc>
                <a:tc>
                  <a:txBody>
                    <a:bodyPr/>
                    <a:lstStyle/>
                    <a:p>
                      <a:pPr indent="0" marL="0">
                        <a:buNone/>
                      </a:pPr>
                      <a:r>
                        <a:rPr lang="en-US" sz="1000" dirty="0">
                          <a:solidFill>
                            <a:srgbClr val="6B5A47"/>
                          </a:solidFill>
                          <a:latin typeface="Yu Gothic" pitchFamily="34" charset="0"/>
                          <a:ea typeface="Yu Gothic" pitchFamily="34" charset="-122"/>
                          <a:cs typeface="Yu Gothic" pitchFamily="34" charset="-120"/>
                        </a:rPr>
                        <a:t>追客に追われる</a:t>
                      </a:r>
                      <a:endParaRPr lang="en-US" sz="1000" dirty="0">
                        <a:latin typeface="Yu Gothic" charset="0"/>
                        <a:ea typeface="Yu Gothic" charset="0"/>
                        <a:cs typeface="Yu Gothic" charset="0"/>
                      </a:endParaRPr>
                    </a:p>
                  </a:txBody>
                  <a:tcPr marL="91440" marR="91440" marT="91440" marB="91440" anchor="ctr">
                    <a:lnL w="6350" cap="flat" cmpd="sng" algn="ctr">
                      <a:solidFill>
                        <a:srgbClr val="EBDFD0"/>
                      </a:solidFill>
                      <a:prstDash val="solid"/>
                      <a:round/>
                      <a:headEnd type="none" w="med" len="med"/>
                      <a:tailEnd type="none" w="med" len="med"/>
                    </a:lnL>
                    <a:lnR w="6350" cap="flat" cmpd="sng" algn="ctr">
                      <a:solidFill>
                        <a:srgbClr val="EBDFD0"/>
                      </a:solidFill>
                      <a:prstDash val="solid"/>
                      <a:round/>
                      <a:headEnd type="none" w="med" len="med"/>
                      <a:tailEnd type="none" w="med" len="med"/>
                    </a:lnR>
                    <a:lnT w="6350" cap="flat" cmpd="sng" algn="ctr">
                      <a:solidFill>
                        <a:srgbClr val="EBDFD0"/>
                      </a:solidFill>
                      <a:prstDash val="solid"/>
                      <a:round/>
                      <a:headEnd type="none" w="med" len="med"/>
                      <a:tailEnd type="none" w="med" len="med"/>
                    </a:lnT>
                    <a:lnB w="6350" cap="flat" cmpd="sng" algn="ctr">
                      <a:solidFill>
                        <a:srgbClr val="EBDFD0"/>
                      </a:solidFill>
                      <a:prstDash val="solid"/>
                      <a:round/>
                      <a:headEnd type="none" w="med" len="med"/>
                      <a:tailEnd type="none" w="med" len="med"/>
                    </a:lnB>
                  </a:tcPr>
                </a:tc>
                <a:tc>
                  <a:txBody>
                    <a:bodyPr/>
                    <a:lstStyle/>
                    <a:p>
                      <a:pPr indent="0" marL="0">
                        <a:buNone/>
                      </a:pPr>
                      <a:r>
                        <a:rPr lang="en-US" sz="1000" b="1" dirty="0">
                          <a:solidFill>
                            <a:srgbClr val="E8740C"/>
                          </a:solidFill>
                          <a:latin typeface="Yu Gothic" pitchFamily="34" charset="0"/>
                          <a:ea typeface="Yu Gothic" pitchFamily="34" charset="-122"/>
                          <a:cs typeface="Yu Gothic" pitchFamily="34" charset="-120"/>
                        </a:rPr>
                        <a:t>選ばれた相手との対話に集中</a:t>
                      </a:r>
                      <a:endParaRPr lang="en-US" sz="1000" dirty="0">
                        <a:latin typeface="Yu Gothic" charset="0"/>
                        <a:ea typeface="Yu Gothic" charset="0"/>
                        <a:cs typeface="Yu Gothic" charset="0"/>
                      </a:endParaRPr>
                    </a:p>
                  </a:txBody>
                  <a:tcPr marL="91440" marR="91440" marT="91440" marB="91440" anchor="ctr">
                    <a:lnL w="6350" cap="flat" cmpd="sng" algn="ctr">
                      <a:solidFill>
                        <a:srgbClr val="EBDFD0"/>
                      </a:solidFill>
                      <a:prstDash val="solid"/>
                      <a:round/>
                      <a:headEnd type="none" w="med" len="med"/>
                      <a:tailEnd type="none" w="med" len="med"/>
                    </a:lnL>
                    <a:lnR w="6350" cap="flat" cmpd="sng" algn="ctr">
                      <a:solidFill>
                        <a:srgbClr val="EBDFD0"/>
                      </a:solidFill>
                      <a:prstDash val="solid"/>
                      <a:round/>
                      <a:headEnd type="none" w="med" len="med"/>
                      <a:tailEnd type="none" w="med" len="med"/>
                    </a:lnR>
                    <a:lnT w="6350" cap="flat" cmpd="sng" algn="ctr">
                      <a:solidFill>
                        <a:srgbClr val="EBDFD0"/>
                      </a:solidFill>
                      <a:prstDash val="solid"/>
                      <a:round/>
                      <a:headEnd type="none" w="med" len="med"/>
                      <a:tailEnd type="none" w="med" len="med"/>
                    </a:lnT>
                    <a:lnB w="6350" cap="flat" cmpd="sng" algn="ctr">
                      <a:solidFill>
                        <a:srgbClr val="EBDFD0"/>
                      </a:solidFill>
                      <a:prstDash val="solid"/>
                      <a:round/>
                      <a:headEnd type="none" w="med" len="med"/>
                      <a:tailEnd type="none" w="med" len="med"/>
                    </a:lnB>
                  </a:tcPr>
                </a:tc>
              </a:tr>
            </a:tbl>
          </a:graphicData>
        </a:graphic>
      </p:graphicFrame>
      <p:sp>
        <p:nvSpPr>
          <p:cNvPr id="9" name="Text 6"/>
          <p:cNvSpPr/>
          <p:nvPr/>
        </p:nvSpPr>
        <p:spPr>
          <a:xfrm>
            <a:off x="457200" y="4617720"/>
            <a:ext cx="8229600" cy="274320"/>
          </a:xfrm>
          <a:prstGeom prst="rect">
            <a:avLst/>
          </a:prstGeom>
          <a:noFill/>
          <a:ln/>
        </p:spPr>
        <p:txBody>
          <a:bodyPr wrap="square" lIns="0" tIns="0" rIns="0" bIns="0" rtlCol="0" anchor="ctr"/>
          <a:lstStyle/>
          <a:p>
            <a:pPr algn="ctr" indent="0" marL="0">
              <a:buNone/>
            </a:pPr>
            <a:r>
              <a:rPr lang="en-US" sz="1100" b="1" i="1" dirty="0">
                <a:solidFill>
                  <a:srgbClr val="E8740C"/>
                </a:solidFill>
                <a:latin typeface="Yu Gothic" pitchFamily="34" charset="0"/>
                <a:ea typeface="Yu Gothic" pitchFamily="34" charset="-122"/>
                <a:cs typeface="Yu Gothic" pitchFamily="34" charset="-120"/>
              </a:rPr>
              <a:t>資料請求は『情報を配る作業』でした。ぺいほーむでは『お客様を知り、お迎えする仕組み』に進化しています。</a:t>
            </a:r>
            <a:endParaRPr lang="en-US" sz="1100" dirty="0"/>
          </a:p>
        </p:txBody>
      </p:sp>
      <p:sp>
        <p:nvSpPr>
          <p:cNvPr id="10" name="Shape 7"/>
          <p:cNvSpPr/>
          <p:nvPr/>
        </p:nvSpPr>
        <p:spPr>
          <a:xfrm>
            <a:off x="365760" y="4823460"/>
            <a:ext cx="8412480" cy="0"/>
          </a:xfrm>
          <a:prstGeom prst="line">
            <a:avLst/>
          </a:prstGeom>
          <a:noFill/>
          <a:ln w="9525">
            <a:solidFill>
              <a:srgbClr val="EBDFD0"/>
            </a:solidFill>
            <a:prstDash val="solid"/>
          </a:ln>
        </p:spPr>
      </p:sp>
      <p:sp>
        <p:nvSpPr>
          <p:cNvPr id="11" name="Text 8"/>
          <p:cNvSpPr/>
          <p:nvPr/>
        </p:nvSpPr>
        <p:spPr>
          <a:xfrm>
            <a:off x="365760" y="4850892"/>
            <a:ext cx="4572000" cy="274320"/>
          </a:xfrm>
          <a:prstGeom prst="rect">
            <a:avLst/>
          </a:prstGeom>
          <a:noFill/>
          <a:ln/>
        </p:spPr>
        <p:txBody>
          <a:bodyPr wrap="square" lIns="0" tIns="0" rIns="0" bIns="0" rtlCol="0" anchor="ctr"/>
          <a:lstStyle/>
          <a:p>
            <a:pPr algn="l" indent="0" marL="0">
              <a:buNone/>
            </a:pPr>
            <a:r>
              <a:rPr lang="en-US" sz="900" dirty="0">
                <a:solidFill>
                  <a:srgbClr val="6B5A47"/>
                </a:solidFill>
                <a:latin typeface="Yu Gothic" pitchFamily="34" charset="0"/>
                <a:ea typeface="Yu Gothic" pitchFamily="34" charset="-122"/>
                <a:cs typeface="Yu Gothic" pitchFamily="34" charset="-120"/>
              </a:rPr>
              <a:t>ぺいほーむ ポータルサイト</a:t>
            </a:r>
            <a:endParaRPr lang="en-US" sz="900" dirty="0"/>
          </a:p>
        </p:txBody>
      </p:sp>
      <p:sp>
        <p:nvSpPr>
          <p:cNvPr id="12" name="Text 9"/>
          <p:cNvSpPr/>
          <p:nvPr/>
        </p:nvSpPr>
        <p:spPr>
          <a:xfrm>
            <a:off x="4206240" y="4850892"/>
            <a:ext cx="4572000" cy="274320"/>
          </a:xfrm>
          <a:prstGeom prst="rect">
            <a:avLst/>
          </a:prstGeom>
          <a:noFill/>
          <a:ln/>
        </p:spPr>
        <p:txBody>
          <a:bodyPr wrap="square" lIns="0" tIns="0" rIns="0" bIns="0" rtlCol="0" anchor="ctr"/>
          <a:lstStyle/>
          <a:p>
            <a:pPr algn="r" indent="0" marL="0">
              <a:buNone/>
            </a:pPr>
            <a:r>
              <a:rPr lang="en-US" sz="900" i="1" dirty="0">
                <a:solidFill>
                  <a:srgbClr val="6B5A47"/>
                </a:solidFill>
                <a:latin typeface="Yu Gothic" pitchFamily="34" charset="0"/>
                <a:ea typeface="Yu Gothic" pitchFamily="34" charset="-122"/>
                <a:cs typeface="Yu Gothic" pitchFamily="34" charset="-120"/>
              </a:rPr>
              <a:t>本気の出会いを、誠実に。</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8740C"/>
          </a:solidFill>
          <a:ln w="12700">
            <a:solidFill>
              <a:srgbClr val="E8740C"/>
            </a:solidFill>
            <a:prstDash val="solid"/>
          </a:ln>
        </p:spPr>
      </p:sp>
      <p:sp>
        <p:nvSpPr>
          <p:cNvPr id="3" name="Text 1"/>
          <p:cNvSpPr/>
          <p:nvPr/>
        </p:nvSpPr>
        <p:spPr>
          <a:xfrm>
            <a:off x="365760" y="182880"/>
            <a:ext cx="1097280" cy="274320"/>
          </a:xfrm>
          <a:prstGeom prst="rect">
            <a:avLst/>
          </a:prstGeom>
          <a:noFill/>
          <a:ln/>
        </p:spPr>
        <p:txBody>
          <a:bodyPr wrap="square" lIns="0" tIns="0" rIns="0" bIns="0" rtlCol="0" anchor="ctr"/>
          <a:lstStyle/>
          <a:p>
            <a:pPr algn="l" indent="0" marL="0">
              <a:buNone/>
            </a:pPr>
            <a:r>
              <a:rPr lang="en-US" sz="1000" b="1" dirty="0">
                <a:solidFill>
                  <a:srgbClr val="E8740C"/>
                </a:solidFill>
                <a:latin typeface="Yu Gothic" pitchFamily="34" charset="0"/>
                <a:ea typeface="Yu Gothic" pitchFamily="34" charset="-122"/>
                <a:cs typeface="Yu Gothic" pitchFamily="34" charset="-120"/>
              </a:rPr>
              <a:t>10 / 20</a:t>
            </a:r>
            <a:endParaRPr lang="en-US" sz="1000" dirty="0"/>
          </a:p>
        </p:txBody>
      </p:sp>
      <p:sp>
        <p:nvSpPr>
          <p:cNvPr id="4" name="Text 2"/>
          <p:cNvSpPr/>
          <p:nvPr/>
        </p:nvSpPr>
        <p:spPr>
          <a:xfrm>
            <a:off x="1554480" y="182880"/>
            <a:ext cx="7223760" cy="274320"/>
          </a:xfrm>
          <a:prstGeom prst="rect">
            <a:avLst/>
          </a:prstGeom>
          <a:noFill/>
          <a:ln/>
        </p:spPr>
        <p:txBody>
          <a:bodyPr wrap="square" lIns="0" tIns="0" rIns="0" bIns="0" rtlCol="0" anchor="ctr"/>
          <a:lstStyle/>
          <a:p>
            <a:pPr algn="r" indent="0" marL="0">
              <a:buNone/>
            </a:pPr>
            <a:r>
              <a:rPr lang="en-US" sz="1000" dirty="0">
                <a:solidFill>
                  <a:srgbClr val="6B5A47"/>
                </a:solidFill>
                <a:latin typeface="Yu Gothic" pitchFamily="34" charset="0"/>
                <a:ea typeface="Yu Gothic" pitchFamily="34" charset="-122"/>
                <a:cs typeface="Yu Gothic" pitchFamily="34" charset="-120"/>
              </a:rPr>
              <a:t>ぺいほーむの3つの強み</a:t>
            </a:r>
            <a:endParaRPr lang="en-US" sz="1000" dirty="0"/>
          </a:p>
        </p:txBody>
      </p:sp>
      <p:sp>
        <p:nvSpPr>
          <p:cNvPr id="5" name="Shape 3"/>
          <p:cNvSpPr/>
          <p:nvPr/>
        </p:nvSpPr>
        <p:spPr>
          <a:xfrm>
            <a:off x="457200" y="685800"/>
            <a:ext cx="109728" cy="502920"/>
          </a:xfrm>
          <a:prstGeom prst="rect">
            <a:avLst/>
          </a:prstGeom>
          <a:solidFill>
            <a:srgbClr val="E8740C"/>
          </a:solidFill>
          <a:ln w="12700">
            <a:solidFill>
              <a:srgbClr val="E8740C"/>
            </a:solidFill>
            <a:prstDash val="solid"/>
          </a:ln>
        </p:spPr>
      </p:sp>
      <p:sp>
        <p:nvSpPr>
          <p:cNvPr id="6" name="Text 4"/>
          <p:cNvSpPr/>
          <p:nvPr/>
        </p:nvSpPr>
        <p:spPr>
          <a:xfrm>
            <a:off x="685800" y="640080"/>
            <a:ext cx="8229600" cy="594360"/>
          </a:xfrm>
          <a:prstGeom prst="rect">
            <a:avLst/>
          </a:prstGeom>
          <a:noFill/>
          <a:ln/>
        </p:spPr>
        <p:txBody>
          <a:bodyPr wrap="square" lIns="0" tIns="0" rIns="0" bIns="0" rtlCol="0" anchor="ctr"/>
          <a:lstStyle/>
          <a:p>
            <a:pPr algn="l" indent="0" marL="0">
              <a:buNone/>
            </a:pPr>
            <a:r>
              <a:rPr lang="en-US" sz="2600" b="1" dirty="0">
                <a:solidFill>
                  <a:srgbClr val="2A1700"/>
                </a:solidFill>
                <a:latin typeface="Yu Gothic" pitchFamily="34" charset="0"/>
                <a:ea typeface="Yu Gothic" pitchFamily="34" charset="-122"/>
                <a:cs typeface="Yu Gothic" pitchFamily="34" charset="-120"/>
              </a:rPr>
              <a:t>お客様に選ばれる仕組みが、3つあります</a:t>
            </a:r>
            <a:endParaRPr lang="en-US" sz="2600" dirty="0"/>
          </a:p>
        </p:txBody>
      </p:sp>
      <p:sp>
        <p:nvSpPr>
          <p:cNvPr id="7" name="Shape 5"/>
          <p:cNvSpPr/>
          <p:nvPr/>
        </p:nvSpPr>
        <p:spPr>
          <a:xfrm>
            <a:off x="457200" y="1691640"/>
            <a:ext cx="2679192" cy="2834640"/>
          </a:xfrm>
          <a:prstGeom prst="rect">
            <a:avLst/>
          </a:prstGeom>
          <a:solidFill>
            <a:srgbClr val="FFFFFF"/>
          </a:solidFill>
          <a:ln w="12700">
            <a:solidFill>
              <a:srgbClr val="EBDFD0"/>
            </a:solidFill>
            <a:prstDash val="solid"/>
          </a:ln>
          <a:effectLst>
            <a:outerShdw sx="100000" sy="100000" kx="0" ky="0" algn="bl" rotWithShape="0" blurRad="101600" dist="25400" dir="5400000">
              <a:srgbClr val="000000">
                <a:alpha val="8000"/>
              </a:srgbClr>
            </a:outerShdw>
          </a:effectLst>
        </p:spPr>
      </p:sp>
      <p:sp>
        <p:nvSpPr>
          <p:cNvPr id="8" name="Shape 6"/>
          <p:cNvSpPr/>
          <p:nvPr/>
        </p:nvSpPr>
        <p:spPr>
          <a:xfrm>
            <a:off x="457200" y="1691640"/>
            <a:ext cx="2679192" cy="73152"/>
          </a:xfrm>
          <a:prstGeom prst="rect">
            <a:avLst/>
          </a:prstGeom>
          <a:solidFill>
            <a:srgbClr val="E8740C"/>
          </a:solidFill>
          <a:ln w="12700">
            <a:solidFill>
              <a:srgbClr val="E8740C"/>
            </a:solidFill>
            <a:prstDash val="solid"/>
          </a:ln>
        </p:spPr>
      </p:sp>
      <p:sp>
        <p:nvSpPr>
          <p:cNvPr id="9" name="Text 7"/>
          <p:cNvSpPr/>
          <p:nvPr/>
        </p:nvSpPr>
        <p:spPr>
          <a:xfrm>
            <a:off x="640080" y="1874520"/>
            <a:ext cx="1371600" cy="411480"/>
          </a:xfrm>
          <a:prstGeom prst="rect">
            <a:avLst/>
          </a:prstGeom>
          <a:noFill/>
          <a:ln/>
        </p:spPr>
        <p:txBody>
          <a:bodyPr wrap="square" lIns="0" tIns="0" rIns="0" bIns="0" rtlCol="0" anchor="ctr"/>
          <a:lstStyle/>
          <a:p>
            <a:pPr algn="l" indent="0" marL="0">
              <a:buNone/>
            </a:pPr>
            <a:r>
              <a:rPr lang="en-US" sz="2800" b="1" dirty="0">
                <a:solidFill>
                  <a:srgbClr val="E8740C"/>
                </a:solidFill>
                <a:latin typeface="Yu Gothic" pitchFamily="34" charset="0"/>
                <a:ea typeface="Yu Gothic" pitchFamily="34" charset="-122"/>
                <a:cs typeface="Yu Gothic" pitchFamily="34" charset="-120"/>
              </a:rPr>
              <a:t>01</a:t>
            </a:r>
            <a:endParaRPr lang="en-US" sz="2800" dirty="0"/>
          </a:p>
        </p:txBody>
      </p:sp>
      <p:sp>
        <p:nvSpPr>
          <p:cNvPr id="10" name="Text 8"/>
          <p:cNvSpPr/>
          <p:nvPr/>
        </p:nvSpPr>
        <p:spPr>
          <a:xfrm>
            <a:off x="640080" y="2350008"/>
            <a:ext cx="2313432" cy="365760"/>
          </a:xfrm>
          <a:prstGeom prst="rect">
            <a:avLst/>
          </a:prstGeom>
          <a:noFill/>
          <a:ln/>
        </p:spPr>
        <p:txBody>
          <a:bodyPr wrap="square" lIns="0" tIns="0" rIns="0" bIns="0" rtlCol="0" anchor="ctr"/>
          <a:lstStyle/>
          <a:p>
            <a:pPr algn="l" indent="0" marL="0">
              <a:buNone/>
            </a:pPr>
            <a:r>
              <a:rPr lang="en-US" sz="1500" b="1" dirty="0">
                <a:solidFill>
                  <a:srgbClr val="2A1700"/>
                </a:solidFill>
                <a:latin typeface="Yu Gothic" pitchFamily="34" charset="0"/>
                <a:ea typeface="Yu Gothic" pitchFamily="34" charset="-122"/>
                <a:cs typeface="Yu Gothic" pitchFamily="34" charset="-120"/>
              </a:rPr>
              <a:t>YouTubeによる自然流入</a:t>
            </a:r>
            <a:endParaRPr lang="en-US" sz="1500" dirty="0"/>
          </a:p>
        </p:txBody>
      </p:sp>
      <p:sp>
        <p:nvSpPr>
          <p:cNvPr id="11" name="Text 9"/>
          <p:cNvSpPr/>
          <p:nvPr/>
        </p:nvSpPr>
        <p:spPr>
          <a:xfrm>
            <a:off x="640080" y="2715768"/>
            <a:ext cx="2313432" cy="274320"/>
          </a:xfrm>
          <a:prstGeom prst="rect">
            <a:avLst/>
          </a:prstGeom>
          <a:noFill/>
          <a:ln/>
        </p:spPr>
        <p:txBody>
          <a:bodyPr wrap="square" lIns="0" tIns="0" rIns="0" bIns="0" rtlCol="0" anchor="ctr"/>
          <a:lstStyle/>
          <a:p>
            <a:pPr algn="l" indent="0" marL="0">
              <a:buNone/>
            </a:pPr>
            <a:r>
              <a:rPr lang="en-US" sz="1000" dirty="0">
                <a:solidFill>
                  <a:srgbClr val="6B5A47"/>
                </a:solidFill>
                <a:latin typeface="Yu Gothic" pitchFamily="34" charset="0"/>
                <a:ea typeface="Yu Gothic" pitchFamily="34" charset="-122"/>
                <a:cs typeface="Yu Gothic" pitchFamily="34" charset="-120"/>
              </a:rPr>
              <a:t>広告費に頼らない集客エンジン</a:t>
            </a:r>
            <a:endParaRPr lang="en-US" sz="1000" dirty="0"/>
          </a:p>
        </p:txBody>
      </p:sp>
      <p:sp>
        <p:nvSpPr>
          <p:cNvPr id="12" name="Shape 10"/>
          <p:cNvSpPr/>
          <p:nvPr/>
        </p:nvSpPr>
        <p:spPr>
          <a:xfrm>
            <a:off x="640080" y="3063240"/>
            <a:ext cx="548640" cy="0"/>
          </a:xfrm>
          <a:prstGeom prst="line">
            <a:avLst/>
          </a:prstGeom>
          <a:noFill/>
          <a:ln w="25400">
            <a:solidFill>
              <a:srgbClr val="E8740C"/>
            </a:solidFill>
            <a:prstDash val="solid"/>
          </a:ln>
        </p:spPr>
      </p:sp>
      <p:sp>
        <p:nvSpPr>
          <p:cNvPr id="13" name="Text 11"/>
          <p:cNvSpPr/>
          <p:nvPr/>
        </p:nvSpPr>
        <p:spPr>
          <a:xfrm>
            <a:off x="640080" y="3200400"/>
            <a:ext cx="2313432" cy="1234440"/>
          </a:xfrm>
          <a:prstGeom prst="rect">
            <a:avLst/>
          </a:prstGeom>
          <a:noFill/>
          <a:ln/>
        </p:spPr>
        <p:txBody>
          <a:bodyPr wrap="square" lIns="0" tIns="0" rIns="0" bIns="0" rtlCol="0" anchor="t"/>
          <a:lstStyle/>
          <a:p>
            <a:pPr algn="l" marL="342900" indent="-342900">
              <a:spcAft>
                <a:spcPts val="600"/>
              </a:spcAft>
              <a:buSzPct val="100000"/>
              <a:buChar char="●"/>
            </a:pPr>
            <a:r>
              <a:rPr lang="en-US" sz="1100" dirty="0">
                <a:solidFill>
                  <a:srgbClr val="3D2200"/>
                </a:solidFill>
                <a:latin typeface="Yu Gothic" pitchFamily="34" charset="0"/>
                <a:ea typeface="Yu Gothic" pitchFamily="34" charset="-122"/>
                <a:cs typeface="Yu Gothic" pitchFamily="34" charset="-120"/>
              </a:rPr>
              <a:t>登録者 約4万2千人</a:t>
            </a:r>
            <a:endParaRPr lang="en-US" sz="1100" dirty="0"/>
          </a:p>
          <a:p>
            <a:pPr algn="l" marL="342900" indent="-342900">
              <a:spcAft>
                <a:spcPts val="600"/>
              </a:spcAft>
              <a:buSzPct val="100000"/>
              <a:buChar char="●"/>
            </a:pPr>
            <a:r>
              <a:rPr lang="en-US" sz="1100" dirty="0">
                <a:solidFill>
                  <a:srgbClr val="3D2200"/>
                </a:solidFill>
                <a:latin typeface="Yu Gothic" pitchFamily="34" charset="0"/>
                <a:ea typeface="Yu Gothic" pitchFamily="34" charset="-122"/>
                <a:cs typeface="Yu Gothic" pitchFamily="34" charset="-120"/>
              </a:rPr>
              <a:t>月間視聴 25万回以上</a:t>
            </a:r>
            <a:endParaRPr lang="en-US" sz="1100" dirty="0"/>
          </a:p>
          <a:p>
            <a:pPr algn="l" marL="342900" indent="-342900">
              <a:spcAft>
                <a:spcPts val="600"/>
              </a:spcAft>
              <a:buSzPct val="100000"/>
              <a:buChar char="●"/>
            </a:pPr>
            <a:r>
              <a:rPr lang="en-US" sz="1100" dirty="0">
                <a:solidFill>
                  <a:srgbClr val="3D2200"/>
                </a:solidFill>
                <a:latin typeface="Yu Gothic" pitchFamily="34" charset="0"/>
                <a:ea typeface="Yu Gothic" pitchFamily="34" charset="-122"/>
                <a:cs typeface="Yu Gothic" pitchFamily="34" charset="-120"/>
              </a:rPr>
              <a:t>「平屋」検索で上位独占</a:t>
            </a:r>
            <a:endParaRPr lang="en-US" sz="1100" dirty="0"/>
          </a:p>
        </p:txBody>
      </p:sp>
      <p:sp>
        <p:nvSpPr>
          <p:cNvPr id="14" name="Shape 12"/>
          <p:cNvSpPr/>
          <p:nvPr/>
        </p:nvSpPr>
        <p:spPr>
          <a:xfrm>
            <a:off x="3209544" y="1691640"/>
            <a:ext cx="2679192" cy="2834640"/>
          </a:xfrm>
          <a:prstGeom prst="rect">
            <a:avLst/>
          </a:prstGeom>
          <a:solidFill>
            <a:srgbClr val="FFFFFF"/>
          </a:solidFill>
          <a:ln w="12700">
            <a:solidFill>
              <a:srgbClr val="EBDFD0"/>
            </a:solidFill>
            <a:prstDash val="solid"/>
          </a:ln>
          <a:effectLst>
            <a:outerShdw sx="100000" sy="100000" kx="0" ky="0" algn="bl" rotWithShape="0" blurRad="101600" dist="25400" dir="5400000">
              <a:srgbClr val="000000">
                <a:alpha val="8000"/>
              </a:srgbClr>
            </a:outerShdw>
          </a:effectLst>
        </p:spPr>
      </p:sp>
      <p:sp>
        <p:nvSpPr>
          <p:cNvPr id="15" name="Shape 13"/>
          <p:cNvSpPr/>
          <p:nvPr/>
        </p:nvSpPr>
        <p:spPr>
          <a:xfrm>
            <a:off x="3209544" y="1691640"/>
            <a:ext cx="2679192" cy="73152"/>
          </a:xfrm>
          <a:prstGeom prst="rect">
            <a:avLst/>
          </a:prstGeom>
          <a:solidFill>
            <a:srgbClr val="E8740C"/>
          </a:solidFill>
          <a:ln w="12700">
            <a:solidFill>
              <a:srgbClr val="E8740C"/>
            </a:solidFill>
            <a:prstDash val="solid"/>
          </a:ln>
        </p:spPr>
      </p:sp>
      <p:sp>
        <p:nvSpPr>
          <p:cNvPr id="16" name="Text 14"/>
          <p:cNvSpPr/>
          <p:nvPr/>
        </p:nvSpPr>
        <p:spPr>
          <a:xfrm>
            <a:off x="3392424" y="1874520"/>
            <a:ext cx="1371600" cy="411480"/>
          </a:xfrm>
          <a:prstGeom prst="rect">
            <a:avLst/>
          </a:prstGeom>
          <a:noFill/>
          <a:ln/>
        </p:spPr>
        <p:txBody>
          <a:bodyPr wrap="square" lIns="0" tIns="0" rIns="0" bIns="0" rtlCol="0" anchor="ctr"/>
          <a:lstStyle/>
          <a:p>
            <a:pPr algn="l" indent="0" marL="0">
              <a:buNone/>
            </a:pPr>
            <a:r>
              <a:rPr lang="en-US" sz="2800" b="1" dirty="0">
                <a:solidFill>
                  <a:srgbClr val="E8740C"/>
                </a:solidFill>
                <a:latin typeface="Yu Gothic" pitchFamily="34" charset="0"/>
                <a:ea typeface="Yu Gothic" pitchFamily="34" charset="-122"/>
                <a:cs typeface="Yu Gothic" pitchFamily="34" charset="-120"/>
              </a:rPr>
              <a:t>02</a:t>
            </a:r>
            <a:endParaRPr lang="en-US" sz="2800" dirty="0"/>
          </a:p>
        </p:txBody>
      </p:sp>
      <p:sp>
        <p:nvSpPr>
          <p:cNvPr id="17" name="Text 15"/>
          <p:cNvSpPr/>
          <p:nvPr/>
        </p:nvSpPr>
        <p:spPr>
          <a:xfrm>
            <a:off x="3392424" y="2350008"/>
            <a:ext cx="2313432" cy="365760"/>
          </a:xfrm>
          <a:prstGeom prst="rect">
            <a:avLst/>
          </a:prstGeom>
          <a:noFill/>
          <a:ln/>
        </p:spPr>
        <p:txBody>
          <a:bodyPr wrap="square" lIns="0" tIns="0" rIns="0" bIns="0" rtlCol="0" anchor="ctr"/>
          <a:lstStyle/>
          <a:p>
            <a:pPr algn="l" indent="0" marL="0">
              <a:buNone/>
            </a:pPr>
            <a:r>
              <a:rPr lang="en-US" sz="1500" b="1" dirty="0">
                <a:solidFill>
                  <a:srgbClr val="2A1700"/>
                </a:solidFill>
                <a:latin typeface="Yu Gothic" pitchFamily="34" charset="0"/>
                <a:ea typeface="Yu Gothic" pitchFamily="34" charset="-122"/>
                <a:cs typeface="Yu Gothic" pitchFamily="34" charset="-120"/>
              </a:rPr>
              <a:t>AI家づくり診断</a:t>
            </a:r>
            <a:endParaRPr lang="en-US" sz="1500" dirty="0"/>
          </a:p>
        </p:txBody>
      </p:sp>
      <p:sp>
        <p:nvSpPr>
          <p:cNvPr id="18" name="Text 16"/>
          <p:cNvSpPr/>
          <p:nvPr/>
        </p:nvSpPr>
        <p:spPr>
          <a:xfrm>
            <a:off x="3392424" y="2715768"/>
            <a:ext cx="2313432" cy="274320"/>
          </a:xfrm>
          <a:prstGeom prst="rect">
            <a:avLst/>
          </a:prstGeom>
          <a:noFill/>
          <a:ln/>
        </p:spPr>
        <p:txBody>
          <a:bodyPr wrap="square" lIns="0" tIns="0" rIns="0" bIns="0" rtlCol="0" anchor="ctr"/>
          <a:lstStyle/>
          <a:p>
            <a:pPr algn="l" indent="0" marL="0">
              <a:buNone/>
            </a:pPr>
            <a:r>
              <a:rPr lang="en-US" sz="1000" dirty="0">
                <a:solidFill>
                  <a:srgbClr val="6B5A47"/>
                </a:solidFill>
                <a:latin typeface="Yu Gothic" pitchFamily="34" charset="0"/>
                <a:ea typeface="Yu Gothic" pitchFamily="34" charset="-122"/>
                <a:cs typeface="Yu Gothic" pitchFamily="34" charset="-120"/>
              </a:rPr>
              <a:t>本気度の高いお客様だけを自動選別</a:t>
            </a:r>
            <a:endParaRPr lang="en-US" sz="1000" dirty="0"/>
          </a:p>
        </p:txBody>
      </p:sp>
      <p:sp>
        <p:nvSpPr>
          <p:cNvPr id="19" name="Shape 17"/>
          <p:cNvSpPr/>
          <p:nvPr/>
        </p:nvSpPr>
        <p:spPr>
          <a:xfrm>
            <a:off x="3392424" y="3063240"/>
            <a:ext cx="548640" cy="0"/>
          </a:xfrm>
          <a:prstGeom prst="line">
            <a:avLst/>
          </a:prstGeom>
          <a:noFill/>
          <a:ln w="25400">
            <a:solidFill>
              <a:srgbClr val="E8740C"/>
            </a:solidFill>
            <a:prstDash val="solid"/>
          </a:ln>
        </p:spPr>
      </p:sp>
      <p:sp>
        <p:nvSpPr>
          <p:cNvPr id="20" name="Text 18"/>
          <p:cNvSpPr/>
          <p:nvPr/>
        </p:nvSpPr>
        <p:spPr>
          <a:xfrm>
            <a:off x="3392424" y="3200400"/>
            <a:ext cx="2313432" cy="1234440"/>
          </a:xfrm>
          <a:prstGeom prst="rect">
            <a:avLst/>
          </a:prstGeom>
          <a:noFill/>
          <a:ln/>
        </p:spPr>
        <p:txBody>
          <a:bodyPr wrap="square" lIns="0" tIns="0" rIns="0" bIns="0" rtlCol="0" anchor="t"/>
          <a:lstStyle/>
          <a:p>
            <a:pPr algn="l" marL="342900" indent="-342900">
              <a:spcAft>
                <a:spcPts val="600"/>
              </a:spcAft>
              <a:buSzPct val="100000"/>
              <a:buChar char="●"/>
            </a:pPr>
            <a:r>
              <a:rPr lang="en-US" sz="1100" dirty="0">
                <a:solidFill>
                  <a:srgbClr val="3D2200"/>
                </a:solidFill>
                <a:latin typeface="Yu Gothic" pitchFamily="34" charset="0"/>
                <a:ea typeface="Yu Gothic" pitchFamily="34" charset="-122"/>
                <a:cs typeface="Yu Gothic" pitchFamily="34" charset="-120"/>
              </a:rPr>
              <a:t>10問・約2分の簡単質問</a:t>
            </a:r>
            <a:endParaRPr lang="en-US" sz="1100" dirty="0"/>
          </a:p>
          <a:p>
            <a:pPr algn="l" marL="342900" indent="-342900">
              <a:spcAft>
                <a:spcPts val="600"/>
              </a:spcAft>
              <a:buSzPct val="100000"/>
              <a:buChar char="●"/>
            </a:pPr>
            <a:r>
              <a:rPr lang="en-US" sz="1100" dirty="0">
                <a:solidFill>
                  <a:srgbClr val="3D2200"/>
                </a:solidFill>
                <a:latin typeface="Yu Gothic" pitchFamily="34" charset="0"/>
                <a:ea typeface="Yu Gothic" pitchFamily="34" charset="-122"/>
                <a:cs typeface="Yu Gothic" pitchFamily="34" charset="-120"/>
              </a:rPr>
              <a:t>相性の良い工務店3社を提案</a:t>
            </a:r>
            <a:endParaRPr lang="en-US" sz="1100" dirty="0"/>
          </a:p>
          <a:p>
            <a:pPr algn="l" marL="342900" indent="-342900">
              <a:spcAft>
                <a:spcPts val="600"/>
              </a:spcAft>
              <a:buSzPct val="100000"/>
              <a:buChar char="●"/>
            </a:pPr>
            <a:r>
              <a:rPr lang="en-US" sz="1100" dirty="0">
                <a:solidFill>
                  <a:srgbClr val="3D2200"/>
                </a:solidFill>
                <a:latin typeface="Yu Gothic" pitchFamily="34" charset="0"/>
                <a:ea typeface="Yu Gothic" pitchFamily="34" charset="-122"/>
                <a:cs typeface="Yu Gothic" pitchFamily="34" charset="-120"/>
              </a:rPr>
              <a:t>診断結果はダッシュボードに即時共有</a:t>
            </a:r>
            <a:endParaRPr lang="en-US" sz="1100" dirty="0"/>
          </a:p>
        </p:txBody>
      </p:sp>
      <p:sp>
        <p:nvSpPr>
          <p:cNvPr id="21" name="Shape 19"/>
          <p:cNvSpPr/>
          <p:nvPr/>
        </p:nvSpPr>
        <p:spPr>
          <a:xfrm>
            <a:off x="5961888" y="1691640"/>
            <a:ext cx="2679192" cy="2834640"/>
          </a:xfrm>
          <a:prstGeom prst="rect">
            <a:avLst/>
          </a:prstGeom>
          <a:solidFill>
            <a:srgbClr val="FFFFFF"/>
          </a:solidFill>
          <a:ln w="12700">
            <a:solidFill>
              <a:srgbClr val="EBDFD0"/>
            </a:solidFill>
            <a:prstDash val="solid"/>
          </a:ln>
          <a:effectLst>
            <a:outerShdw sx="100000" sy="100000" kx="0" ky="0" algn="bl" rotWithShape="0" blurRad="101600" dist="25400" dir="5400000">
              <a:srgbClr val="000000">
                <a:alpha val="8000"/>
              </a:srgbClr>
            </a:outerShdw>
          </a:effectLst>
        </p:spPr>
      </p:sp>
      <p:sp>
        <p:nvSpPr>
          <p:cNvPr id="22" name="Shape 20"/>
          <p:cNvSpPr/>
          <p:nvPr/>
        </p:nvSpPr>
        <p:spPr>
          <a:xfrm>
            <a:off x="5961888" y="1691640"/>
            <a:ext cx="2679192" cy="73152"/>
          </a:xfrm>
          <a:prstGeom prst="rect">
            <a:avLst/>
          </a:prstGeom>
          <a:solidFill>
            <a:srgbClr val="E8740C"/>
          </a:solidFill>
          <a:ln w="12700">
            <a:solidFill>
              <a:srgbClr val="E8740C"/>
            </a:solidFill>
            <a:prstDash val="solid"/>
          </a:ln>
        </p:spPr>
      </p:sp>
      <p:sp>
        <p:nvSpPr>
          <p:cNvPr id="23" name="Text 21"/>
          <p:cNvSpPr/>
          <p:nvPr/>
        </p:nvSpPr>
        <p:spPr>
          <a:xfrm>
            <a:off x="6144768" y="1874520"/>
            <a:ext cx="1371600" cy="411480"/>
          </a:xfrm>
          <a:prstGeom prst="rect">
            <a:avLst/>
          </a:prstGeom>
          <a:noFill/>
          <a:ln/>
        </p:spPr>
        <p:txBody>
          <a:bodyPr wrap="square" lIns="0" tIns="0" rIns="0" bIns="0" rtlCol="0" anchor="ctr"/>
          <a:lstStyle/>
          <a:p>
            <a:pPr algn="l" indent="0" marL="0">
              <a:buNone/>
            </a:pPr>
            <a:r>
              <a:rPr lang="en-US" sz="2800" b="1" dirty="0">
                <a:solidFill>
                  <a:srgbClr val="E8740C"/>
                </a:solidFill>
                <a:latin typeface="Yu Gothic" pitchFamily="34" charset="0"/>
                <a:ea typeface="Yu Gothic" pitchFamily="34" charset="-122"/>
                <a:cs typeface="Yu Gothic" pitchFamily="34" charset="-120"/>
              </a:rPr>
              <a:t>03</a:t>
            </a:r>
            <a:endParaRPr lang="en-US" sz="2800" dirty="0"/>
          </a:p>
        </p:txBody>
      </p:sp>
      <p:sp>
        <p:nvSpPr>
          <p:cNvPr id="24" name="Text 22"/>
          <p:cNvSpPr/>
          <p:nvPr/>
        </p:nvSpPr>
        <p:spPr>
          <a:xfrm>
            <a:off x="6144768" y="2350008"/>
            <a:ext cx="2313432" cy="365760"/>
          </a:xfrm>
          <a:prstGeom prst="rect">
            <a:avLst/>
          </a:prstGeom>
          <a:noFill/>
          <a:ln/>
        </p:spPr>
        <p:txBody>
          <a:bodyPr wrap="square" lIns="0" tIns="0" rIns="0" bIns="0" rtlCol="0" anchor="ctr"/>
          <a:lstStyle/>
          <a:p>
            <a:pPr algn="l" indent="0" marL="0">
              <a:buNone/>
            </a:pPr>
            <a:r>
              <a:rPr lang="en-US" sz="1500" b="1" dirty="0">
                <a:solidFill>
                  <a:srgbClr val="2A1700"/>
                </a:solidFill>
                <a:latin typeface="Yu Gothic" pitchFamily="34" charset="0"/>
                <a:ea typeface="Yu Gothic" pitchFamily="34" charset="-122"/>
                <a:cs typeface="Yu Gothic" pitchFamily="34" charset="-120"/>
              </a:rPr>
              <a:t>スマートマッチ</a:t>
            </a:r>
            <a:endParaRPr lang="en-US" sz="1500" dirty="0"/>
          </a:p>
        </p:txBody>
      </p:sp>
      <p:sp>
        <p:nvSpPr>
          <p:cNvPr id="25" name="Text 23"/>
          <p:cNvSpPr/>
          <p:nvPr/>
        </p:nvSpPr>
        <p:spPr>
          <a:xfrm>
            <a:off x="6144768" y="2715768"/>
            <a:ext cx="2313432" cy="274320"/>
          </a:xfrm>
          <a:prstGeom prst="rect">
            <a:avLst/>
          </a:prstGeom>
          <a:noFill/>
          <a:ln/>
        </p:spPr>
        <p:txBody>
          <a:bodyPr wrap="square" lIns="0" tIns="0" rIns="0" bIns="0" rtlCol="0" anchor="ctr"/>
          <a:lstStyle/>
          <a:p>
            <a:pPr algn="l" indent="0" marL="0">
              <a:buNone/>
            </a:pPr>
            <a:r>
              <a:rPr lang="en-US" sz="1000" dirty="0">
                <a:solidFill>
                  <a:srgbClr val="6B5A47"/>
                </a:solidFill>
                <a:latin typeface="Yu Gothic" pitchFamily="34" charset="0"/>
                <a:ea typeface="Yu Gothic" pitchFamily="34" charset="-122"/>
                <a:cs typeface="Yu Gothic" pitchFamily="34" charset="-120"/>
              </a:rPr>
              <a:t>お客様の希望を事前に把握できる</a:t>
            </a:r>
            <a:endParaRPr lang="en-US" sz="1000" dirty="0"/>
          </a:p>
        </p:txBody>
      </p:sp>
      <p:sp>
        <p:nvSpPr>
          <p:cNvPr id="26" name="Shape 24"/>
          <p:cNvSpPr/>
          <p:nvPr/>
        </p:nvSpPr>
        <p:spPr>
          <a:xfrm>
            <a:off x="6144768" y="3063240"/>
            <a:ext cx="548640" cy="0"/>
          </a:xfrm>
          <a:prstGeom prst="line">
            <a:avLst/>
          </a:prstGeom>
          <a:noFill/>
          <a:ln w="25400">
            <a:solidFill>
              <a:srgbClr val="E8740C"/>
            </a:solidFill>
            <a:prstDash val="solid"/>
          </a:ln>
        </p:spPr>
      </p:sp>
      <p:sp>
        <p:nvSpPr>
          <p:cNvPr id="27" name="Text 25"/>
          <p:cNvSpPr/>
          <p:nvPr/>
        </p:nvSpPr>
        <p:spPr>
          <a:xfrm>
            <a:off x="6144768" y="3200400"/>
            <a:ext cx="2313432" cy="1234440"/>
          </a:xfrm>
          <a:prstGeom prst="rect">
            <a:avLst/>
          </a:prstGeom>
          <a:noFill/>
          <a:ln/>
        </p:spPr>
        <p:txBody>
          <a:bodyPr wrap="square" lIns="0" tIns="0" rIns="0" bIns="0" rtlCol="0" anchor="t"/>
          <a:lstStyle/>
          <a:p>
            <a:pPr algn="l" marL="342900" indent="-342900">
              <a:spcAft>
                <a:spcPts val="600"/>
              </a:spcAft>
              <a:buSzPct val="100000"/>
              <a:buChar char="●"/>
            </a:pPr>
            <a:r>
              <a:rPr lang="en-US" sz="1100" dirty="0">
                <a:solidFill>
                  <a:srgbClr val="3D2200"/>
                </a:solidFill>
                <a:latin typeface="Yu Gothic" pitchFamily="34" charset="0"/>
                <a:ea typeface="Yu Gothic" pitchFamily="34" charset="-122"/>
                <a:cs typeface="Yu Gothic" pitchFamily="34" charset="-120"/>
              </a:rPr>
              <a:t>見学会の目的を事前に選択</a:t>
            </a:r>
            <a:endParaRPr lang="en-US" sz="1100" dirty="0"/>
          </a:p>
          <a:p>
            <a:pPr algn="l" marL="342900" indent="-342900">
              <a:spcAft>
                <a:spcPts val="600"/>
              </a:spcAft>
              <a:buSzPct val="100000"/>
              <a:buChar char="●"/>
            </a:pPr>
            <a:r>
              <a:rPr lang="en-US" sz="1100" dirty="0">
                <a:solidFill>
                  <a:srgbClr val="3D2200"/>
                </a:solidFill>
                <a:latin typeface="Yu Gothic" pitchFamily="34" charset="0"/>
                <a:ea typeface="Yu Gothic" pitchFamily="34" charset="-122"/>
                <a:cs typeface="Yu Gothic" pitchFamily="34" charset="-120"/>
              </a:rPr>
              <a:t>連絡希望の時間・頻度を登録</a:t>
            </a:r>
            <a:endParaRPr lang="en-US" sz="1100" dirty="0"/>
          </a:p>
          <a:p>
            <a:pPr algn="l" marL="342900" indent="-342900">
              <a:spcAft>
                <a:spcPts val="600"/>
              </a:spcAft>
              <a:buSzPct val="100000"/>
              <a:buChar char="●"/>
            </a:pPr>
            <a:r>
              <a:rPr lang="en-US" sz="1100" dirty="0">
                <a:solidFill>
                  <a:srgbClr val="3D2200"/>
                </a:solidFill>
                <a:latin typeface="Yu Gothic" pitchFamily="34" charset="0"/>
                <a:ea typeface="Yu Gothic" pitchFamily="34" charset="-122"/>
                <a:cs typeface="Yu Gothic" pitchFamily="34" charset="-120"/>
              </a:rPr>
              <a:t>初対面の壁が劇的に下がる</a:t>
            </a:r>
            <a:endParaRPr lang="en-US" sz="1100" dirty="0"/>
          </a:p>
        </p:txBody>
      </p:sp>
      <p:sp>
        <p:nvSpPr>
          <p:cNvPr id="28" name="Shape 26"/>
          <p:cNvSpPr/>
          <p:nvPr/>
        </p:nvSpPr>
        <p:spPr>
          <a:xfrm>
            <a:off x="365760" y="4823460"/>
            <a:ext cx="8412480" cy="0"/>
          </a:xfrm>
          <a:prstGeom prst="line">
            <a:avLst/>
          </a:prstGeom>
          <a:noFill/>
          <a:ln w="9525">
            <a:solidFill>
              <a:srgbClr val="EBDFD0"/>
            </a:solidFill>
            <a:prstDash val="solid"/>
          </a:ln>
        </p:spPr>
      </p:sp>
      <p:sp>
        <p:nvSpPr>
          <p:cNvPr id="29" name="Text 27"/>
          <p:cNvSpPr/>
          <p:nvPr/>
        </p:nvSpPr>
        <p:spPr>
          <a:xfrm>
            <a:off x="365760" y="4850892"/>
            <a:ext cx="4572000" cy="274320"/>
          </a:xfrm>
          <a:prstGeom prst="rect">
            <a:avLst/>
          </a:prstGeom>
          <a:noFill/>
          <a:ln/>
        </p:spPr>
        <p:txBody>
          <a:bodyPr wrap="square" lIns="0" tIns="0" rIns="0" bIns="0" rtlCol="0" anchor="ctr"/>
          <a:lstStyle/>
          <a:p>
            <a:pPr algn="l" indent="0" marL="0">
              <a:buNone/>
            </a:pPr>
            <a:r>
              <a:rPr lang="en-US" sz="900" dirty="0">
                <a:solidFill>
                  <a:srgbClr val="6B5A47"/>
                </a:solidFill>
                <a:latin typeface="Yu Gothic" pitchFamily="34" charset="0"/>
                <a:ea typeface="Yu Gothic" pitchFamily="34" charset="-122"/>
                <a:cs typeface="Yu Gothic" pitchFamily="34" charset="-120"/>
              </a:rPr>
              <a:t>ぺいほーむ ポータルサイト</a:t>
            </a:r>
            <a:endParaRPr lang="en-US" sz="900" dirty="0"/>
          </a:p>
        </p:txBody>
      </p:sp>
      <p:sp>
        <p:nvSpPr>
          <p:cNvPr id="30" name="Text 28"/>
          <p:cNvSpPr/>
          <p:nvPr/>
        </p:nvSpPr>
        <p:spPr>
          <a:xfrm>
            <a:off x="4206240" y="4850892"/>
            <a:ext cx="4572000" cy="274320"/>
          </a:xfrm>
          <a:prstGeom prst="rect">
            <a:avLst/>
          </a:prstGeom>
          <a:noFill/>
          <a:ln/>
        </p:spPr>
        <p:txBody>
          <a:bodyPr wrap="square" lIns="0" tIns="0" rIns="0" bIns="0" rtlCol="0" anchor="ctr"/>
          <a:lstStyle/>
          <a:p>
            <a:pPr algn="r" indent="0" marL="0">
              <a:buNone/>
            </a:pPr>
            <a:r>
              <a:rPr lang="en-US" sz="900" i="1" dirty="0">
                <a:solidFill>
                  <a:srgbClr val="6B5A47"/>
                </a:solidFill>
                <a:latin typeface="Yu Gothic" pitchFamily="34" charset="0"/>
                <a:ea typeface="Yu Gothic" pitchFamily="34" charset="-122"/>
                <a:cs typeface="Yu Gothic" pitchFamily="34" charset="-120"/>
              </a:rPr>
              <a:t>本気の出会いを、誠実に。</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8740C"/>
          </a:solidFill>
          <a:ln w="12700">
            <a:solidFill>
              <a:srgbClr val="E8740C"/>
            </a:solidFill>
            <a:prstDash val="solid"/>
          </a:ln>
        </p:spPr>
      </p:sp>
      <p:sp>
        <p:nvSpPr>
          <p:cNvPr id="3" name="Text 1"/>
          <p:cNvSpPr/>
          <p:nvPr/>
        </p:nvSpPr>
        <p:spPr>
          <a:xfrm>
            <a:off x="365760" y="182880"/>
            <a:ext cx="1097280" cy="274320"/>
          </a:xfrm>
          <a:prstGeom prst="rect">
            <a:avLst/>
          </a:prstGeom>
          <a:noFill/>
          <a:ln/>
        </p:spPr>
        <p:txBody>
          <a:bodyPr wrap="square" lIns="0" tIns="0" rIns="0" bIns="0" rtlCol="0" anchor="ctr"/>
          <a:lstStyle/>
          <a:p>
            <a:pPr algn="l" indent="0" marL="0">
              <a:buNone/>
            </a:pPr>
            <a:r>
              <a:rPr lang="en-US" sz="1000" b="1" dirty="0">
                <a:solidFill>
                  <a:srgbClr val="E8740C"/>
                </a:solidFill>
                <a:latin typeface="Yu Gothic" pitchFamily="34" charset="0"/>
                <a:ea typeface="Yu Gothic" pitchFamily="34" charset="-122"/>
                <a:cs typeface="Yu Gothic" pitchFamily="34" charset="-120"/>
              </a:rPr>
              <a:t>11 / 20</a:t>
            </a:r>
            <a:endParaRPr lang="en-US" sz="1000" dirty="0"/>
          </a:p>
        </p:txBody>
      </p:sp>
      <p:sp>
        <p:nvSpPr>
          <p:cNvPr id="4" name="Text 2"/>
          <p:cNvSpPr/>
          <p:nvPr/>
        </p:nvSpPr>
        <p:spPr>
          <a:xfrm>
            <a:off x="1554480" y="182880"/>
            <a:ext cx="7223760" cy="274320"/>
          </a:xfrm>
          <a:prstGeom prst="rect">
            <a:avLst/>
          </a:prstGeom>
          <a:noFill/>
          <a:ln/>
        </p:spPr>
        <p:txBody>
          <a:bodyPr wrap="square" lIns="0" tIns="0" rIns="0" bIns="0" rtlCol="0" anchor="ctr"/>
          <a:lstStyle/>
          <a:p>
            <a:pPr algn="r" indent="0" marL="0">
              <a:buNone/>
            </a:pPr>
            <a:r>
              <a:rPr lang="en-US" sz="1000" dirty="0">
                <a:solidFill>
                  <a:srgbClr val="6B5A47"/>
                </a:solidFill>
                <a:latin typeface="Yu Gothic" pitchFamily="34" charset="0"/>
                <a:ea typeface="Yu Gothic" pitchFamily="34" charset="-122"/>
                <a:cs typeface="Yu Gothic" pitchFamily="34" charset="-120"/>
              </a:rPr>
              <a:t>動画×AI 差別化戦略</a:t>
            </a:r>
            <a:endParaRPr lang="en-US" sz="1000" dirty="0"/>
          </a:p>
        </p:txBody>
      </p:sp>
      <p:sp>
        <p:nvSpPr>
          <p:cNvPr id="5" name="Shape 3"/>
          <p:cNvSpPr/>
          <p:nvPr/>
        </p:nvSpPr>
        <p:spPr>
          <a:xfrm>
            <a:off x="457200" y="685800"/>
            <a:ext cx="109728" cy="502920"/>
          </a:xfrm>
          <a:prstGeom prst="rect">
            <a:avLst/>
          </a:prstGeom>
          <a:solidFill>
            <a:srgbClr val="E8740C"/>
          </a:solidFill>
          <a:ln w="12700">
            <a:solidFill>
              <a:srgbClr val="E8740C"/>
            </a:solidFill>
            <a:prstDash val="solid"/>
          </a:ln>
        </p:spPr>
      </p:sp>
      <p:sp>
        <p:nvSpPr>
          <p:cNvPr id="6" name="Text 4"/>
          <p:cNvSpPr/>
          <p:nvPr/>
        </p:nvSpPr>
        <p:spPr>
          <a:xfrm>
            <a:off x="685800" y="640080"/>
            <a:ext cx="8229600" cy="594360"/>
          </a:xfrm>
          <a:prstGeom prst="rect">
            <a:avLst/>
          </a:prstGeom>
          <a:noFill/>
          <a:ln/>
        </p:spPr>
        <p:txBody>
          <a:bodyPr wrap="square" lIns="0" tIns="0" rIns="0" bIns="0" rtlCol="0" anchor="ctr"/>
          <a:lstStyle/>
          <a:p>
            <a:pPr algn="l" indent="0" marL="0">
              <a:buNone/>
            </a:pPr>
            <a:r>
              <a:rPr lang="en-US" sz="2600" b="1" dirty="0">
                <a:solidFill>
                  <a:srgbClr val="2A1700"/>
                </a:solidFill>
                <a:latin typeface="Yu Gothic" pitchFamily="34" charset="0"/>
                <a:ea typeface="Yu Gothic" pitchFamily="34" charset="-122"/>
                <a:cs typeface="Yu Gothic" pitchFamily="34" charset="-120"/>
              </a:rPr>
              <a:t>動画 × AI が生み出す、独自の集客モデル</a:t>
            </a:r>
            <a:endParaRPr lang="en-US" sz="2600" dirty="0"/>
          </a:p>
        </p:txBody>
      </p:sp>
      <p:sp>
        <p:nvSpPr>
          <p:cNvPr id="7" name="Text 5"/>
          <p:cNvSpPr/>
          <p:nvPr/>
        </p:nvSpPr>
        <p:spPr>
          <a:xfrm>
            <a:off x="685800" y="1207008"/>
            <a:ext cx="8229600" cy="274320"/>
          </a:xfrm>
          <a:prstGeom prst="rect">
            <a:avLst/>
          </a:prstGeom>
          <a:noFill/>
          <a:ln/>
        </p:spPr>
        <p:txBody>
          <a:bodyPr wrap="square" lIns="0" tIns="0" rIns="0" bIns="0" rtlCol="0" anchor="ctr"/>
          <a:lstStyle/>
          <a:p>
            <a:pPr algn="l" indent="0" marL="0">
              <a:buNone/>
            </a:pPr>
            <a:r>
              <a:rPr lang="en-US" sz="1200" dirty="0">
                <a:solidFill>
                  <a:srgbClr val="6B5A47"/>
                </a:solidFill>
                <a:latin typeface="Yu Gothic" pitchFamily="34" charset="0"/>
                <a:ea typeface="Yu Gothic" pitchFamily="34" charset="-122"/>
                <a:cs typeface="Yu Gothic" pitchFamily="34" charset="-120"/>
              </a:rPr>
              <a:t>他社にはない「質の高いリード」と「最高のマッチング」を実現する仕組み</a:t>
            </a:r>
            <a:endParaRPr lang="en-US" sz="1200" dirty="0"/>
          </a:p>
        </p:txBody>
      </p:sp>
      <p:sp>
        <p:nvSpPr>
          <p:cNvPr id="8" name="Shape 6"/>
          <p:cNvSpPr/>
          <p:nvPr/>
        </p:nvSpPr>
        <p:spPr>
          <a:xfrm>
            <a:off x="457200" y="1691640"/>
            <a:ext cx="2468880" cy="1371600"/>
          </a:xfrm>
          <a:prstGeom prst="rect">
            <a:avLst/>
          </a:prstGeom>
          <a:solidFill>
            <a:srgbClr val="2A1700"/>
          </a:solidFill>
          <a:ln w="12700">
            <a:solidFill>
              <a:srgbClr val="2A1700"/>
            </a:solidFill>
            <a:prstDash val="solid"/>
          </a:ln>
        </p:spPr>
      </p:sp>
      <p:sp>
        <p:nvSpPr>
          <p:cNvPr id="9" name="Text 7"/>
          <p:cNvSpPr/>
          <p:nvPr/>
        </p:nvSpPr>
        <p:spPr>
          <a:xfrm>
            <a:off x="457200" y="1737360"/>
            <a:ext cx="2468880" cy="274320"/>
          </a:xfrm>
          <a:prstGeom prst="rect">
            <a:avLst/>
          </a:prstGeom>
          <a:noFill/>
          <a:ln/>
        </p:spPr>
        <p:txBody>
          <a:bodyPr wrap="square" lIns="0" tIns="0" rIns="0" bIns="0" rtlCol="0" anchor="ctr"/>
          <a:lstStyle/>
          <a:p>
            <a:pPr algn="ctr" indent="0" marL="0">
              <a:buNone/>
            </a:pPr>
            <a:r>
              <a:rPr lang="en-US" sz="1000" b="1" spc="300" kern="0" dirty="0">
                <a:solidFill>
                  <a:srgbClr val="E8740C"/>
                </a:solidFill>
                <a:latin typeface="Yu Gothic" pitchFamily="34" charset="0"/>
                <a:ea typeface="Yu Gothic" pitchFamily="34" charset="-122"/>
                <a:cs typeface="Yu Gothic" pitchFamily="34" charset="-120"/>
              </a:rPr>
              <a:t>VIDEO</a:t>
            </a:r>
            <a:endParaRPr lang="en-US" sz="1000" dirty="0"/>
          </a:p>
        </p:txBody>
      </p:sp>
      <p:sp>
        <p:nvSpPr>
          <p:cNvPr id="10" name="Text 8"/>
          <p:cNvSpPr/>
          <p:nvPr/>
        </p:nvSpPr>
        <p:spPr>
          <a:xfrm>
            <a:off x="457200" y="2029968"/>
            <a:ext cx="246888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動画コンテンツ資産</a:t>
            </a:r>
            <a:endParaRPr lang="en-US" sz="1400" dirty="0"/>
          </a:p>
        </p:txBody>
      </p:sp>
      <p:sp>
        <p:nvSpPr>
          <p:cNvPr id="11" name="Text 9"/>
          <p:cNvSpPr/>
          <p:nvPr/>
        </p:nvSpPr>
        <p:spPr>
          <a:xfrm>
            <a:off x="457200" y="2395728"/>
            <a:ext cx="2468880" cy="640080"/>
          </a:xfrm>
          <a:prstGeom prst="rect">
            <a:avLst/>
          </a:prstGeom>
          <a:noFill/>
          <a:ln/>
        </p:spPr>
        <p:txBody>
          <a:bodyPr wrap="square" lIns="0" tIns="0" rIns="0" bIns="0" rtlCol="0" anchor="t"/>
          <a:lstStyle/>
          <a:p>
            <a:pPr algn="ctr" indent="0" marL="0">
              <a:spcAft>
                <a:spcPts val="100"/>
              </a:spcAft>
              <a:buNone/>
            </a:pPr>
            <a:r>
              <a:rPr lang="en-US" sz="900" dirty="0">
                <a:solidFill>
                  <a:srgbClr val="FFFFFF"/>
                </a:solidFill>
                <a:latin typeface="Yu Gothic" pitchFamily="34" charset="0"/>
                <a:ea typeface="Yu Gothic" pitchFamily="34" charset="-122"/>
                <a:cs typeface="Yu Gothic" pitchFamily="34" charset="-120"/>
              </a:rPr>
              <a:t>登録者 4.28万人</a:t>
            </a:r>
            <a:endParaRPr lang="en-US" sz="900" dirty="0"/>
          </a:p>
          <a:p>
            <a:pPr algn="ctr" indent="0" marL="0">
              <a:spcAft>
                <a:spcPts val="100"/>
              </a:spcAft>
              <a:buNone/>
            </a:pPr>
            <a:r>
              <a:rPr lang="en-US" sz="900" dirty="0">
                <a:solidFill>
                  <a:srgbClr val="FFFFFF"/>
                </a:solidFill>
                <a:latin typeface="Yu Gothic" pitchFamily="34" charset="0"/>
                <a:ea typeface="Yu Gothic" pitchFamily="34" charset="-122"/>
                <a:cs typeface="Yu Gothic" pitchFamily="34" charset="-120"/>
              </a:rPr>
              <a:t>月間 25万回視聴</a:t>
            </a:r>
            <a:endParaRPr lang="en-US" sz="900" dirty="0"/>
          </a:p>
          <a:p>
            <a:pPr algn="ctr" indent="0" marL="0">
              <a:spcAft>
                <a:spcPts val="100"/>
              </a:spcAft>
              <a:buNone/>
            </a:pPr>
            <a:r>
              <a:rPr lang="en-US" sz="900" dirty="0">
                <a:solidFill>
                  <a:srgbClr val="FFFFFF"/>
                </a:solidFill>
                <a:latin typeface="Yu Gothic" pitchFamily="34" charset="0"/>
                <a:ea typeface="Yu Gothic" pitchFamily="34" charset="-122"/>
                <a:cs typeface="Yu Gothic" pitchFamily="34" charset="-120"/>
              </a:rPr>
              <a:t>平屋検索 TOP独占</a:t>
            </a:r>
            <a:endParaRPr lang="en-US" sz="900" dirty="0"/>
          </a:p>
        </p:txBody>
      </p:sp>
      <p:sp>
        <p:nvSpPr>
          <p:cNvPr id="12" name="Text 10"/>
          <p:cNvSpPr/>
          <p:nvPr/>
        </p:nvSpPr>
        <p:spPr>
          <a:xfrm>
            <a:off x="2926080" y="2011680"/>
            <a:ext cx="548640" cy="731520"/>
          </a:xfrm>
          <a:prstGeom prst="rect">
            <a:avLst/>
          </a:prstGeom>
          <a:noFill/>
          <a:ln/>
        </p:spPr>
        <p:txBody>
          <a:bodyPr wrap="square" lIns="0" tIns="0" rIns="0" bIns="0" rtlCol="0" anchor="ctr"/>
          <a:lstStyle/>
          <a:p>
            <a:pPr algn="ctr" indent="0" marL="0">
              <a:buNone/>
            </a:pPr>
            <a:r>
              <a:rPr lang="en-US" sz="4800" b="1" dirty="0">
                <a:solidFill>
                  <a:srgbClr val="E8740C"/>
                </a:solidFill>
                <a:latin typeface="Yu Gothic" pitchFamily="34" charset="0"/>
                <a:ea typeface="Yu Gothic" pitchFamily="34" charset="-122"/>
                <a:cs typeface="Yu Gothic" pitchFamily="34" charset="-120"/>
              </a:rPr>
              <a:t>×</a:t>
            </a:r>
            <a:endParaRPr lang="en-US" sz="4800" dirty="0"/>
          </a:p>
        </p:txBody>
      </p:sp>
      <p:sp>
        <p:nvSpPr>
          <p:cNvPr id="13" name="Shape 11"/>
          <p:cNvSpPr/>
          <p:nvPr/>
        </p:nvSpPr>
        <p:spPr>
          <a:xfrm>
            <a:off x="3474720" y="1691640"/>
            <a:ext cx="2468880" cy="1371600"/>
          </a:xfrm>
          <a:prstGeom prst="rect">
            <a:avLst/>
          </a:prstGeom>
          <a:solidFill>
            <a:srgbClr val="2A1700"/>
          </a:solidFill>
          <a:ln w="12700">
            <a:solidFill>
              <a:srgbClr val="2A1700"/>
            </a:solidFill>
            <a:prstDash val="solid"/>
          </a:ln>
        </p:spPr>
      </p:sp>
      <p:sp>
        <p:nvSpPr>
          <p:cNvPr id="14" name="Text 12"/>
          <p:cNvSpPr/>
          <p:nvPr/>
        </p:nvSpPr>
        <p:spPr>
          <a:xfrm>
            <a:off x="3474720" y="1737360"/>
            <a:ext cx="2468880" cy="274320"/>
          </a:xfrm>
          <a:prstGeom prst="rect">
            <a:avLst/>
          </a:prstGeom>
          <a:noFill/>
          <a:ln/>
        </p:spPr>
        <p:txBody>
          <a:bodyPr wrap="square" lIns="0" tIns="0" rIns="0" bIns="0" rtlCol="0" anchor="ctr"/>
          <a:lstStyle/>
          <a:p>
            <a:pPr algn="ctr" indent="0" marL="0">
              <a:buNone/>
            </a:pPr>
            <a:r>
              <a:rPr lang="en-US" sz="1000" b="1" spc="300" kern="0" dirty="0">
                <a:solidFill>
                  <a:srgbClr val="E8740C"/>
                </a:solidFill>
                <a:latin typeface="Yu Gothic" pitchFamily="34" charset="0"/>
                <a:ea typeface="Yu Gothic" pitchFamily="34" charset="-122"/>
                <a:cs typeface="Yu Gothic" pitchFamily="34" charset="-120"/>
              </a:rPr>
              <a:t>AI</a:t>
            </a:r>
            <a:endParaRPr lang="en-US" sz="1000" dirty="0"/>
          </a:p>
        </p:txBody>
      </p:sp>
      <p:sp>
        <p:nvSpPr>
          <p:cNvPr id="15" name="Text 13"/>
          <p:cNvSpPr/>
          <p:nvPr/>
        </p:nvSpPr>
        <p:spPr>
          <a:xfrm>
            <a:off x="3474720" y="2029968"/>
            <a:ext cx="246888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AI診断 × Smart Match</a:t>
            </a:r>
            <a:endParaRPr lang="en-US" sz="1400" dirty="0"/>
          </a:p>
        </p:txBody>
      </p:sp>
      <p:sp>
        <p:nvSpPr>
          <p:cNvPr id="16" name="Text 14"/>
          <p:cNvSpPr/>
          <p:nvPr/>
        </p:nvSpPr>
        <p:spPr>
          <a:xfrm>
            <a:off x="3474720" y="2395728"/>
            <a:ext cx="2468880" cy="640080"/>
          </a:xfrm>
          <a:prstGeom prst="rect">
            <a:avLst/>
          </a:prstGeom>
          <a:noFill/>
          <a:ln/>
        </p:spPr>
        <p:txBody>
          <a:bodyPr wrap="square" lIns="0" tIns="0" rIns="0" bIns="0" rtlCol="0" anchor="t"/>
          <a:lstStyle/>
          <a:p>
            <a:pPr algn="ctr" indent="0" marL="0">
              <a:spcAft>
                <a:spcPts val="100"/>
              </a:spcAft>
              <a:buNone/>
            </a:pPr>
            <a:r>
              <a:rPr lang="en-US" sz="900" dirty="0">
                <a:solidFill>
                  <a:srgbClr val="FFFFFF"/>
                </a:solidFill>
                <a:latin typeface="Yu Gothic" pitchFamily="34" charset="0"/>
                <a:ea typeface="Yu Gothic" pitchFamily="34" charset="-122"/>
                <a:cs typeface="Yu Gothic" pitchFamily="34" charset="-120"/>
              </a:rPr>
              <a:t>本気度の自動計測</a:t>
            </a:r>
            <a:endParaRPr lang="en-US" sz="900" dirty="0"/>
          </a:p>
          <a:p>
            <a:pPr algn="ctr" indent="0" marL="0">
              <a:spcAft>
                <a:spcPts val="100"/>
              </a:spcAft>
              <a:buNone/>
            </a:pPr>
            <a:r>
              <a:rPr lang="en-US" sz="900" dirty="0">
                <a:solidFill>
                  <a:srgbClr val="FFFFFF"/>
                </a:solidFill>
                <a:latin typeface="Yu Gothic" pitchFamily="34" charset="0"/>
                <a:ea typeface="Yu Gothic" pitchFamily="34" charset="-122"/>
                <a:cs typeface="Yu Gothic" pitchFamily="34" charset="-120"/>
              </a:rPr>
              <a:t>相性マッチング提案</a:t>
            </a:r>
            <a:endParaRPr lang="en-US" sz="900" dirty="0"/>
          </a:p>
          <a:p>
            <a:pPr algn="ctr" indent="0" marL="0">
              <a:spcAft>
                <a:spcPts val="100"/>
              </a:spcAft>
              <a:buNone/>
            </a:pPr>
            <a:r>
              <a:rPr lang="en-US" sz="900" dirty="0">
                <a:solidFill>
                  <a:srgbClr val="FFFFFF"/>
                </a:solidFill>
                <a:latin typeface="Yu Gothic" pitchFamily="34" charset="0"/>
                <a:ea typeface="Yu Gothic" pitchFamily="34" charset="-122"/>
                <a:cs typeface="Yu Gothic" pitchFamily="34" charset="-120"/>
              </a:rPr>
              <a:t>連絡希望の事前把握</a:t>
            </a:r>
            <a:endParaRPr lang="en-US" sz="900" dirty="0"/>
          </a:p>
        </p:txBody>
      </p:sp>
      <p:sp>
        <p:nvSpPr>
          <p:cNvPr id="17" name="Text 15"/>
          <p:cNvSpPr/>
          <p:nvPr/>
        </p:nvSpPr>
        <p:spPr>
          <a:xfrm>
            <a:off x="5943600" y="2011680"/>
            <a:ext cx="548640" cy="731520"/>
          </a:xfrm>
          <a:prstGeom prst="rect">
            <a:avLst/>
          </a:prstGeom>
          <a:noFill/>
          <a:ln/>
        </p:spPr>
        <p:txBody>
          <a:bodyPr wrap="square" lIns="0" tIns="0" rIns="0" bIns="0" rtlCol="0" anchor="ctr"/>
          <a:lstStyle/>
          <a:p>
            <a:pPr algn="ctr" indent="0" marL="0">
              <a:buNone/>
            </a:pPr>
            <a:r>
              <a:rPr lang="en-US" sz="4400" b="1" dirty="0">
                <a:solidFill>
                  <a:srgbClr val="E8740C"/>
                </a:solidFill>
                <a:latin typeface="Yu Gothic" pitchFamily="34" charset="0"/>
                <a:ea typeface="Yu Gothic" pitchFamily="34" charset="-122"/>
                <a:cs typeface="Yu Gothic" pitchFamily="34" charset="-120"/>
              </a:rPr>
              <a:t>=</a:t>
            </a:r>
            <a:endParaRPr lang="en-US" sz="4400" dirty="0"/>
          </a:p>
        </p:txBody>
      </p:sp>
      <p:sp>
        <p:nvSpPr>
          <p:cNvPr id="18" name="Shape 16"/>
          <p:cNvSpPr/>
          <p:nvPr/>
        </p:nvSpPr>
        <p:spPr>
          <a:xfrm>
            <a:off x="6492240" y="1691640"/>
            <a:ext cx="2194560" cy="1371600"/>
          </a:xfrm>
          <a:prstGeom prst="rect">
            <a:avLst/>
          </a:prstGeom>
          <a:solidFill>
            <a:srgbClr val="E8740C"/>
          </a:solidFill>
          <a:ln w="12700">
            <a:solidFill>
              <a:srgbClr val="E8740C"/>
            </a:solidFill>
            <a:prstDash val="solid"/>
          </a:ln>
        </p:spPr>
      </p:sp>
      <p:sp>
        <p:nvSpPr>
          <p:cNvPr id="19" name="Text 17"/>
          <p:cNvSpPr/>
          <p:nvPr/>
        </p:nvSpPr>
        <p:spPr>
          <a:xfrm>
            <a:off x="6492240" y="1737360"/>
            <a:ext cx="2194560" cy="274320"/>
          </a:xfrm>
          <a:prstGeom prst="rect">
            <a:avLst/>
          </a:prstGeom>
          <a:noFill/>
          <a:ln/>
        </p:spPr>
        <p:txBody>
          <a:bodyPr wrap="square" lIns="0" tIns="0" rIns="0" bIns="0" rtlCol="0" anchor="ctr"/>
          <a:lstStyle/>
          <a:p>
            <a:pPr algn="ctr" indent="0" marL="0">
              <a:buNone/>
            </a:pPr>
            <a:r>
              <a:rPr lang="en-US" sz="1000" b="1" spc="300" kern="0" dirty="0">
                <a:solidFill>
                  <a:srgbClr val="FFFFFF"/>
                </a:solidFill>
                <a:latin typeface="Yu Gothic" pitchFamily="34" charset="0"/>
                <a:ea typeface="Yu Gothic" pitchFamily="34" charset="-122"/>
                <a:cs typeface="Yu Gothic" pitchFamily="34" charset="-120"/>
              </a:rPr>
              <a:t>RESULT</a:t>
            </a:r>
            <a:endParaRPr lang="en-US" sz="1000" dirty="0"/>
          </a:p>
        </p:txBody>
      </p:sp>
      <p:sp>
        <p:nvSpPr>
          <p:cNvPr id="20" name="Text 18"/>
          <p:cNvSpPr/>
          <p:nvPr/>
        </p:nvSpPr>
        <p:spPr>
          <a:xfrm>
            <a:off x="6492240" y="2029968"/>
            <a:ext cx="2194560" cy="594360"/>
          </a:xfrm>
          <a:prstGeom prst="rect">
            <a:avLst/>
          </a:prstGeom>
          <a:noFill/>
          <a:ln/>
        </p:spPr>
        <p:txBody>
          <a:bodyPr wrap="square" lIns="0" tIns="0" rIns="0" bIns="0" rtlCol="0" anchor="ctr"/>
          <a:lstStyle/>
          <a:p>
            <a:pPr algn="ctr" indent="0" marL="0">
              <a:spcAft>
                <a:spcPts val="100"/>
              </a:spcAft>
              <a:buNone/>
            </a:pPr>
            <a:r>
              <a:rPr lang="en-US" sz="1300" b="1" dirty="0">
                <a:solidFill>
                  <a:srgbClr val="FFFFFF"/>
                </a:solidFill>
                <a:latin typeface="Yu Gothic" pitchFamily="34" charset="0"/>
                <a:ea typeface="Yu Gothic" pitchFamily="34" charset="-122"/>
                <a:cs typeface="Yu Gothic" pitchFamily="34" charset="-120"/>
              </a:rPr>
              <a:t>独自集客モデル</a:t>
            </a:r>
            <a:endParaRPr lang="en-US" sz="1300" dirty="0"/>
          </a:p>
          <a:p>
            <a:pPr algn="ctr" indent="0" marL="0">
              <a:spcAft>
                <a:spcPts val="100"/>
              </a:spcAft>
              <a:buNone/>
            </a:pPr>
            <a:r>
              <a:rPr lang="en-US" sz="1300" b="1" dirty="0">
                <a:solidFill>
                  <a:srgbClr val="FFFFFF"/>
                </a:solidFill>
                <a:latin typeface="Yu Gothic" pitchFamily="34" charset="0"/>
                <a:ea typeface="Yu Gothic" pitchFamily="34" charset="-122"/>
                <a:cs typeface="Yu Gothic" pitchFamily="34" charset="-120"/>
              </a:rPr>
              <a:t>＋ 最高のマッチング</a:t>
            </a:r>
            <a:endParaRPr lang="en-US" sz="1300" dirty="0"/>
          </a:p>
        </p:txBody>
      </p:sp>
      <p:sp>
        <p:nvSpPr>
          <p:cNvPr id="21" name="Text 19"/>
          <p:cNvSpPr/>
          <p:nvPr/>
        </p:nvSpPr>
        <p:spPr>
          <a:xfrm>
            <a:off x="6492240" y="2670048"/>
            <a:ext cx="2194560" cy="320040"/>
          </a:xfrm>
          <a:prstGeom prst="rect">
            <a:avLst/>
          </a:prstGeom>
          <a:noFill/>
          <a:ln/>
        </p:spPr>
        <p:txBody>
          <a:bodyPr wrap="square" lIns="0" tIns="0" rIns="0" bIns="0" rtlCol="0" anchor="ctr"/>
          <a:lstStyle/>
          <a:p>
            <a:pPr algn="ctr" indent="0" marL="0">
              <a:buNone/>
            </a:pPr>
            <a:r>
              <a:rPr lang="en-US" sz="900" i="1" dirty="0">
                <a:solidFill>
                  <a:srgbClr val="FFFFFF"/>
                </a:solidFill>
                <a:latin typeface="Yu Gothic" pitchFamily="34" charset="0"/>
                <a:ea typeface="Yu Gothic" pitchFamily="34" charset="-122"/>
                <a:cs typeface="Yu Gothic" pitchFamily="34" charset="-120"/>
              </a:rPr>
              <a:t>他社が追随できない競争優位</a:t>
            </a:r>
            <a:endParaRPr lang="en-US" sz="900" dirty="0"/>
          </a:p>
        </p:txBody>
      </p:sp>
      <p:sp>
        <p:nvSpPr>
          <p:cNvPr id="22" name="Text 20"/>
          <p:cNvSpPr/>
          <p:nvPr/>
        </p:nvSpPr>
        <p:spPr>
          <a:xfrm>
            <a:off x="457200" y="3246120"/>
            <a:ext cx="8229600" cy="274320"/>
          </a:xfrm>
          <a:prstGeom prst="rect">
            <a:avLst/>
          </a:prstGeom>
          <a:noFill/>
          <a:ln/>
        </p:spPr>
        <p:txBody>
          <a:bodyPr wrap="square" lIns="0" tIns="0" rIns="0" bIns="0" rtlCol="0" anchor="ctr"/>
          <a:lstStyle/>
          <a:p>
            <a:pPr algn="l" indent="0" marL="0">
              <a:buNone/>
            </a:pPr>
            <a:r>
              <a:rPr lang="en-US" sz="1100" b="1" spc="100" kern="0" dirty="0">
                <a:solidFill>
                  <a:srgbClr val="E8740C"/>
                </a:solidFill>
                <a:latin typeface="Yu Gothic" pitchFamily="34" charset="0"/>
                <a:ea typeface="Yu Gothic" pitchFamily="34" charset="-122"/>
                <a:cs typeface="Yu Gothic" pitchFamily="34" charset="-120"/>
              </a:rPr>
              <a:t>この組み合わせだからこそ実現できる、4つの価値</a:t>
            </a:r>
            <a:endParaRPr lang="en-US" sz="1100" dirty="0"/>
          </a:p>
        </p:txBody>
      </p:sp>
      <p:sp>
        <p:nvSpPr>
          <p:cNvPr id="23" name="Shape 21"/>
          <p:cNvSpPr/>
          <p:nvPr/>
        </p:nvSpPr>
        <p:spPr>
          <a:xfrm>
            <a:off x="457200" y="3547872"/>
            <a:ext cx="8229600" cy="0"/>
          </a:xfrm>
          <a:prstGeom prst="line">
            <a:avLst/>
          </a:prstGeom>
          <a:noFill/>
          <a:ln w="12700">
            <a:solidFill>
              <a:srgbClr val="E8740C"/>
            </a:solidFill>
            <a:prstDash val="solid"/>
          </a:ln>
        </p:spPr>
      </p:sp>
      <p:sp>
        <p:nvSpPr>
          <p:cNvPr id="24" name="Shape 22"/>
          <p:cNvSpPr/>
          <p:nvPr/>
        </p:nvSpPr>
        <p:spPr>
          <a:xfrm>
            <a:off x="457200" y="3657600"/>
            <a:ext cx="4023360" cy="530352"/>
          </a:xfrm>
          <a:prstGeom prst="rect">
            <a:avLst/>
          </a:prstGeom>
          <a:solidFill>
            <a:srgbClr val="FFF8F0"/>
          </a:solidFill>
          <a:ln w="12700">
            <a:solidFill>
              <a:srgbClr val="EBDFD0"/>
            </a:solidFill>
            <a:prstDash val="solid"/>
          </a:ln>
        </p:spPr>
      </p:sp>
      <p:sp>
        <p:nvSpPr>
          <p:cNvPr id="25" name="Shape 23"/>
          <p:cNvSpPr/>
          <p:nvPr/>
        </p:nvSpPr>
        <p:spPr>
          <a:xfrm>
            <a:off x="457200" y="3657600"/>
            <a:ext cx="502920" cy="530352"/>
          </a:xfrm>
          <a:prstGeom prst="rect">
            <a:avLst/>
          </a:prstGeom>
          <a:solidFill>
            <a:srgbClr val="E8740C"/>
          </a:solidFill>
          <a:ln w="12700">
            <a:solidFill>
              <a:srgbClr val="E8740C"/>
            </a:solidFill>
            <a:prstDash val="solid"/>
          </a:ln>
        </p:spPr>
      </p:sp>
      <p:sp>
        <p:nvSpPr>
          <p:cNvPr id="26" name="Text 24"/>
          <p:cNvSpPr/>
          <p:nvPr/>
        </p:nvSpPr>
        <p:spPr>
          <a:xfrm>
            <a:off x="457200" y="3657600"/>
            <a:ext cx="502920" cy="530352"/>
          </a:xfrm>
          <a:prstGeom prst="rect">
            <a:avLst/>
          </a:prstGeom>
          <a:no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01</a:t>
            </a:r>
            <a:endParaRPr lang="en-US" sz="1400" dirty="0"/>
          </a:p>
        </p:txBody>
      </p:sp>
      <p:sp>
        <p:nvSpPr>
          <p:cNvPr id="27" name="Text 25"/>
          <p:cNvSpPr/>
          <p:nvPr/>
        </p:nvSpPr>
        <p:spPr>
          <a:xfrm>
            <a:off x="1051560" y="3694176"/>
            <a:ext cx="3383280" cy="237744"/>
          </a:xfrm>
          <a:prstGeom prst="rect">
            <a:avLst/>
          </a:prstGeom>
          <a:noFill/>
          <a:ln/>
        </p:spPr>
        <p:txBody>
          <a:bodyPr wrap="square" lIns="0" tIns="0" rIns="0" bIns="0" rtlCol="0" anchor="ctr"/>
          <a:lstStyle/>
          <a:p>
            <a:pPr algn="l" indent="0" marL="0">
              <a:buNone/>
            </a:pPr>
            <a:r>
              <a:rPr lang="en-US" sz="1100" b="1" dirty="0">
                <a:solidFill>
                  <a:srgbClr val="2A1700"/>
                </a:solidFill>
                <a:latin typeface="Yu Gothic" pitchFamily="34" charset="0"/>
                <a:ea typeface="Yu Gothic" pitchFamily="34" charset="-122"/>
                <a:cs typeface="Yu Gothic" pitchFamily="34" charset="-120"/>
              </a:rPr>
              <a:t>広告費に依存しない集客</a:t>
            </a:r>
            <a:endParaRPr lang="en-US" sz="1100" dirty="0"/>
          </a:p>
        </p:txBody>
      </p:sp>
      <p:sp>
        <p:nvSpPr>
          <p:cNvPr id="28" name="Text 26"/>
          <p:cNvSpPr/>
          <p:nvPr/>
        </p:nvSpPr>
        <p:spPr>
          <a:xfrm>
            <a:off x="1051560" y="3913632"/>
            <a:ext cx="3383280" cy="256032"/>
          </a:xfrm>
          <a:prstGeom prst="rect">
            <a:avLst/>
          </a:prstGeom>
          <a:noFill/>
          <a:ln/>
        </p:spPr>
        <p:txBody>
          <a:bodyPr wrap="square" lIns="0" tIns="0" rIns="0" bIns="0" rtlCol="0" anchor="ctr"/>
          <a:lstStyle/>
          <a:p>
            <a:pPr algn="l" indent="0" marL="0">
              <a:buNone/>
            </a:pPr>
            <a:r>
              <a:rPr lang="en-US" sz="850" dirty="0">
                <a:solidFill>
                  <a:srgbClr val="3D2200"/>
                </a:solidFill>
                <a:latin typeface="Yu Gothic" pitchFamily="34" charset="0"/>
                <a:ea typeface="Yu Gothic" pitchFamily="34" charset="-122"/>
                <a:cs typeface="Yu Gothic" pitchFamily="34" charset="-120"/>
              </a:rPr>
              <a:t>YouTube動画がお客様を連れてくるため、月額広告費ゼロで持続的な反響を創出</a:t>
            </a:r>
            <a:endParaRPr lang="en-US" sz="850" dirty="0"/>
          </a:p>
        </p:txBody>
      </p:sp>
      <p:sp>
        <p:nvSpPr>
          <p:cNvPr id="29" name="Shape 27"/>
          <p:cNvSpPr/>
          <p:nvPr/>
        </p:nvSpPr>
        <p:spPr>
          <a:xfrm>
            <a:off x="4617720" y="3657600"/>
            <a:ext cx="4023360" cy="530352"/>
          </a:xfrm>
          <a:prstGeom prst="rect">
            <a:avLst/>
          </a:prstGeom>
          <a:solidFill>
            <a:srgbClr val="FFF8F0"/>
          </a:solidFill>
          <a:ln w="12700">
            <a:solidFill>
              <a:srgbClr val="EBDFD0"/>
            </a:solidFill>
            <a:prstDash val="solid"/>
          </a:ln>
        </p:spPr>
      </p:sp>
      <p:sp>
        <p:nvSpPr>
          <p:cNvPr id="30" name="Shape 28"/>
          <p:cNvSpPr/>
          <p:nvPr/>
        </p:nvSpPr>
        <p:spPr>
          <a:xfrm>
            <a:off x="4617720" y="3657600"/>
            <a:ext cx="502920" cy="530352"/>
          </a:xfrm>
          <a:prstGeom prst="rect">
            <a:avLst/>
          </a:prstGeom>
          <a:solidFill>
            <a:srgbClr val="E8740C"/>
          </a:solidFill>
          <a:ln w="12700">
            <a:solidFill>
              <a:srgbClr val="E8740C"/>
            </a:solidFill>
            <a:prstDash val="solid"/>
          </a:ln>
        </p:spPr>
      </p:sp>
      <p:sp>
        <p:nvSpPr>
          <p:cNvPr id="31" name="Text 29"/>
          <p:cNvSpPr/>
          <p:nvPr/>
        </p:nvSpPr>
        <p:spPr>
          <a:xfrm>
            <a:off x="4617720" y="3657600"/>
            <a:ext cx="502920" cy="530352"/>
          </a:xfrm>
          <a:prstGeom prst="rect">
            <a:avLst/>
          </a:prstGeom>
          <a:no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02</a:t>
            </a:r>
            <a:endParaRPr lang="en-US" sz="1400" dirty="0"/>
          </a:p>
        </p:txBody>
      </p:sp>
      <p:sp>
        <p:nvSpPr>
          <p:cNvPr id="32" name="Text 30"/>
          <p:cNvSpPr/>
          <p:nvPr/>
        </p:nvSpPr>
        <p:spPr>
          <a:xfrm>
            <a:off x="5212080" y="3694176"/>
            <a:ext cx="3383280" cy="237744"/>
          </a:xfrm>
          <a:prstGeom prst="rect">
            <a:avLst/>
          </a:prstGeom>
          <a:noFill/>
          <a:ln/>
        </p:spPr>
        <p:txBody>
          <a:bodyPr wrap="square" lIns="0" tIns="0" rIns="0" bIns="0" rtlCol="0" anchor="ctr"/>
          <a:lstStyle/>
          <a:p>
            <a:pPr algn="l" indent="0" marL="0">
              <a:buNone/>
            </a:pPr>
            <a:r>
              <a:rPr lang="en-US" sz="1100" b="1" dirty="0">
                <a:solidFill>
                  <a:srgbClr val="2A1700"/>
                </a:solidFill>
                <a:latin typeface="Yu Gothic" pitchFamily="34" charset="0"/>
                <a:ea typeface="Yu Gothic" pitchFamily="34" charset="-122"/>
                <a:cs typeface="Yu Gothic" pitchFamily="34" charset="-120"/>
              </a:rPr>
              <a:t>本気度の高いリードのみ送客</a:t>
            </a:r>
            <a:endParaRPr lang="en-US" sz="1100" dirty="0"/>
          </a:p>
        </p:txBody>
      </p:sp>
      <p:sp>
        <p:nvSpPr>
          <p:cNvPr id="33" name="Text 31"/>
          <p:cNvSpPr/>
          <p:nvPr/>
        </p:nvSpPr>
        <p:spPr>
          <a:xfrm>
            <a:off x="5212080" y="3913632"/>
            <a:ext cx="3383280" cy="256032"/>
          </a:xfrm>
          <a:prstGeom prst="rect">
            <a:avLst/>
          </a:prstGeom>
          <a:noFill/>
          <a:ln/>
        </p:spPr>
        <p:txBody>
          <a:bodyPr wrap="square" lIns="0" tIns="0" rIns="0" bIns="0" rtlCol="0" anchor="ctr"/>
          <a:lstStyle/>
          <a:p>
            <a:pPr algn="l" indent="0" marL="0">
              <a:buNone/>
            </a:pPr>
            <a:r>
              <a:rPr lang="en-US" sz="850" dirty="0">
                <a:solidFill>
                  <a:srgbClr val="3D2200"/>
                </a:solidFill>
                <a:latin typeface="Yu Gothic" pitchFamily="34" charset="0"/>
                <a:ea typeface="Yu Gothic" pitchFamily="34" charset="-122"/>
                <a:cs typeface="Yu Gothic" pitchFamily="34" charset="-120"/>
              </a:rPr>
              <a:t>AI診断で温度感を計測し、情報収集層と本気層を自動的に分離</a:t>
            </a:r>
            <a:endParaRPr lang="en-US" sz="850" dirty="0"/>
          </a:p>
        </p:txBody>
      </p:sp>
      <p:sp>
        <p:nvSpPr>
          <p:cNvPr id="34" name="Shape 32"/>
          <p:cNvSpPr/>
          <p:nvPr/>
        </p:nvSpPr>
        <p:spPr>
          <a:xfrm>
            <a:off x="457200" y="4251960"/>
            <a:ext cx="4023360" cy="530352"/>
          </a:xfrm>
          <a:prstGeom prst="rect">
            <a:avLst/>
          </a:prstGeom>
          <a:solidFill>
            <a:srgbClr val="FFF8F0"/>
          </a:solidFill>
          <a:ln w="12700">
            <a:solidFill>
              <a:srgbClr val="EBDFD0"/>
            </a:solidFill>
            <a:prstDash val="solid"/>
          </a:ln>
        </p:spPr>
      </p:sp>
      <p:sp>
        <p:nvSpPr>
          <p:cNvPr id="35" name="Shape 33"/>
          <p:cNvSpPr/>
          <p:nvPr/>
        </p:nvSpPr>
        <p:spPr>
          <a:xfrm>
            <a:off x="457200" y="4251960"/>
            <a:ext cx="502920" cy="530352"/>
          </a:xfrm>
          <a:prstGeom prst="rect">
            <a:avLst/>
          </a:prstGeom>
          <a:solidFill>
            <a:srgbClr val="E8740C"/>
          </a:solidFill>
          <a:ln w="12700">
            <a:solidFill>
              <a:srgbClr val="E8740C"/>
            </a:solidFill>
            <a:prstDash val="solid"/>
          </a:ln>
        </p:spPr>
      </p:sp>
      <p:sp>
        <p:nvSpPr>
          <p:cNvPr id="36" name="Text 34"/>
          <p:cNvSpPr/>
          <p:nvPr/>
        </p:nvSpPr>
        <p:spPr>
          <a:xfrm>
            <a:off x="457200" y="4251960"/>
            <a:ext cx="502920" cy="530352"/>
          </a:xfrm>
          <a:prstGeom prst="rect">
            <a:avLst/>
          </a:prstGeom>
          <a:no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03</a:t>
            </a:r>
            <a:endParaRPr lang="en-US" sz="1400" dirty="0"/>
          </a:p>
        </p:txBody>
      </p:sp>
      <p:sp>
        <p:nvSpPr>
          <p:cNvPr id="37" name="Text 35"/>
          <p:cNvSpPr/>
          <p:nvPr/>
        </p:nvSpPr>
        <p:spPr>
          <a:xfrm>
            <a:off x="1051560" y="4288536"/>
            <a:ext cx="3383280" cy="237744"/>
          </a:xfrm>
          <a:prstGeom prst="rect">
            <a:avLst/>
          </a:prstGeom>
          <a:noFill/>
          <a:ln/>
        </p:spPr>
        <p:txBody>
          <a:bodyPr wrap="square" lIns="0" tIns="0" rIns="0" bIns="0" rtlCol="0" anchor="ctr"/>
          <a:lstStyle/>
          <a:p>
            <a:pPr algn="l" indent="0" marL="0">
              <a:buNone/>
            </a:pPr>
            <a:r>
              <a:rPr lang="en-US" sz="1100" b="1" dirty="0">
                <a:solidFill>
                  <a:srgbClr val="2A1700"/>
                </a:solidFill>
                <a:latin typeface="Yu Gothic" pitchFamily="34" charset="0"/>
                <a:ea typeface="Yu Gothic" pitchFamily="34" charset="-122"/>
                <a:cs typeface="Yu Gothic" pitchFamily="34" charset="-120"/>
              </a:rPr>
              <a:t>雰囲気と人柄で選ばれる</a:t>
            </a:r>
            <a:endParaRPr lang="en-US" sz="1100" dirty="0"/>
          </a:p>
        </p:txBody>
      </p:sp>
      <p:sp>
        <p:nvSpPr>
          <p:cNvPr id="38" name="Text 36"/>
          <p:cNvSpPr/>
          <p:nvPr/>
        </p:nvSpPr>
        <p:spPr>
          <a:xfrm>
            <a:off x="1051560" y="4507992"/>
            <a:ext cx="3383280" cy="256032"/>
          </a:xfrm>
          <a:prstGeom prst="rect">
            <a:avLst/>
          </a:prstGeom>
          <a:noFill/>
          <a:ln/>
        </p:spPr>
        <p:txBody>
          <a:bodyPr wrap="square" lIns="0" tIns="0" rIns="0" bIns="0" rtlCol="0" anchor="ctr"/>
          <a:lstStyle/>
          <a:p>
            <a:pPr algn="l" indent="0" marL="0">
              <a:buNone/>
            </a:pPr>
            <a:r>
              <a:rPr lang="en-US" sz="850" dirty="0">
                <a:solidFill>
                  <a:srgbClr val="3D2200"/>
                </a:solidFill>
                <a:latin typeface="Yu Gothic" pitchFamily="34" charset="0"/>
                <a:ea typeface="Yu Gothic" pitchFamily="34" charset="-122"/>
                <a:cs typeface="Yu Gothic" pitchFamily="34" charset="-120"/>
              </a:rPr>
              <a:t>スペック比較ではなく、動画で感じ取る「会ってみたい」という感情が来場を生む</a:t>
            </a:r>
            <a:endParaRPr lang="en-US" sz="850" dirty="0"/>
          </a:p>
        </p:txBody>
      </p:sp>
      <p:sp>
        <p:nvSpPr>
          <p:cNvPr id="39" name="Shape 37"/>
          <p:cNvSpPr/>
          <p:nvPr/>
        </p:nvSpPr>
        <p:spPr>
          <a:xfrm>
            <a:off x="4617720" y="4251960"/>
            <a:ext cx="4023360" cy="530352"/>
          </a:xfrm>
          <a:prstGeom prst="rect">
            <a:avLst/>
          </a:prstGeom>
          <a:solidFill>
            <a:srgbClr val="FFF8F0"/>
          </a:solidFill>
          <a:ln w="12700">
            <a:solidFill>
              <a:srgbClr val="EBDFD0"/>
            </a:solidFill>
            <a:prstDash val="solid"/>
          </a:ln>
        </p:spPr>
      </p:sp>
      <p:sp>
        <p:nvSpPr>
          <p:cNvPr id="40" name="Shape 38"/>
          <p:cNvSpPr/>
          <p:nvPr/>
        </p:nvSpPr>
        <p:spPr>
          <a:xfrm>
            <a:off x="4617720" y="4251960"/>
            <a:ext cx="502920" cy="530352"/>
          </a:xfrm>
          <a:prstGeom prst="rect">
            <a:avLst/>
          </a:prstGeom>
          <a:solidFill>
            <a:srgbClr val="E8740C"/>
          </a:solidFill>
          <a:ln w="12700">
            <a:solidFill>
              <a:srgbClr val="E8740C"/>
            </a:solidFill>
            <a:prstDash val="solid"/>
          </a:ln>
        </p:spPr>
      </p:sp>
      <p:sp>
        <p:nvSpPr>
          <p:cNvPr id="41" name="Text 39"/>
          <p:cNvSpPr/>
          <p:nvPr/>
        </p:nvSpPr>
        <p:spPr>
          <a:xfrm>
            <a:off x="4617720" y="4251960"/>
            <a:ext cx="502920" cy="530352"/>
          </a:xfrm>
          <a:prstGeom prst="rect">
            <a:avLst/>
          </a:prstGeom>
          <a:no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04</a:t>
            </a:r>
            <a:endParaRPr lang="en-US" sz="1400" dirty="0"/>
          </a:p>
        </p:txBody>
      </p:sp>
      <p:sp>
        <p:nvSpPr>
          <p:cNvPr id="42" name="Text 40"/>
          <p:cNvSpPr/>
          <p:nvPr/>
        </p:nvSpPr>
        <p:spPr>
          <a:xfrm>
            <a:off x="5212080" y="4288536"/>
            <a:ext cx="3383280" cy="237744"/>
          </a:xfrm>
          <a:prstGeom prst="rect">
            <a:avLst/>
          </a:prstGeom>
          <a:noFill/>
          <a:ln/>
        </p:spPr>
        <p:txBody>
          <a:bodyPr wrap="square" lIns="0" tIns="0" rIns="0" bIns="0" rtlCol="0" anchor="ctr"/>
          <a:lstStyle/>
          <a:p>
            <a:pPr algn="l" indent="0" marL="0">
              <a:buNone/>
            </a:pPr>
            <a:r>
              <a:rPr lang="en-US" sz="1100" b="1" dirty="0">
                <a:solidFill>
                  <a:srgbClr val="2A1700"/>
                </a:solidFill>
                <a:latin typeface="Yu Gothic" pitchFamily="34" charset="0"/>
                <a:ea typeface="Yu Gothic" pitchFamily="34" charset="-122"/>
                <a:cs typeface="Yu Gothic" pitchFamily="34" charset="-120"/>
              </a:rPr>
              <a:t>双方が満足するマッチング</a:t>
            </a:r>
            <a:endParaRPr lang="en-US" sz="1100" dirty="0"/>
          </a:p>
        </p:txBody>
      </p:sp>
      <p:sp>
        <p:nvSpPr>
          <p:cNvPr id="43" name="Text 41"/>
          <p:cNvSpPr/>
          <p:nvPr/>
        </p:nvSpPr>
        <p:spPr>
          <a:xfrm>
            <a:off x="5212080" y="4507992"/>
            <a:ext cx="3383280" cy="256032"/>
          </a:xfrm>
          <a:prstGeom prst="rect">
            <a:avLst/>
          </a:prstGeom>
          <a:noFill/>
          <a:ln/>
        </p:spPr>
        <p:txBody>
          <a:bodyPr wrap="square" lIns="0" tIns="0" rIns="0" bIns="0" rtlCol="0" anchor="ctr"/>
          <a:lstStyle/>
          <a:p>
            <a:pPr algn="l" indent="0" marL="0">
              <a:buNone/>
            </a:pPr>
            <a:r>
              <a:rPr lang="en-US" sz="850" dirty="0">
                <a:solidFill>
                  <a:srgbClr val="3D2200"/>
                </a:solidFill>
                <a:latin typeface="Yu Gothic" pitchFamily="34" charset="0"/>
                <a:ea typeface="Yu Gothic" pitchFamily="34" charset="-122"/>
                <a:cs typeface="Yu Gothic" pitchFamily="34" charset="-120"/>
              </a:rPr>
              <a:t>ユーザーの希望条件と工務店の強みを事前に擦り合わせ、初対面からスムーズな対話</a:t>
            </a:r>
            <a:endParaRPr lang="en-US" sz="850" dirty="0"/>
          </a:p>
        </p:txBody>
      </p:sp>
      <p:sp>
        <p:nvSpPr>
          <p:cNvPr id="44" name="Text 42"/>
          <p:cNvSpPr/>
          <p:nvPr/>
        </p:nvSpPr>
        <p:spPr>
          <a:xfrm>
            <a:off x="457200" y="4892040"/>
            <a:ext cx="8229600" cy="274320"/>
          </a:xfrm>
          <a:prstGeom prst="rect">
            <a:avLst/>
          </a:prstGeom>
          <a:noFill/>
          <a:ln/>
        </p:spPr>
        <p:txBody>
          <a:bodyPr wrap="square" lIns="0" tIns="0" rIns="0" bIns="0" rtlCol="0" anchor="ctr"/>
          <a:lstStyle/>
          <a:p>
            <a:pPr algn="ctr" indent="0" marL="0">
              <a:buNone/>
            </a:pPr>
            <a:r>
              <a:rPr lang="en-US" sz="1000" b="1" i="1" dirty="0">
                <a:solidFill>
                  <a:srgbClr val="E8740C"/>
                </a:solidFill>
                <a:latin typeface="Yu Gothic" pitchFamily="34" charset="0"/>
                <a:ea typeface="Yu Gothic" pitchFamily="34" charset="-122"/>
                <a:cs typeface="Yu Gothic" pitchFamily="34" charset="-120"/>
              </a:rPr>
              <a:t>動画で「会いたい」と思い、AIで「相性」を確認してから会う ─ これが、ぺいほーむだけの独自集客モデルです。</a:t>
            </a:r>
            <a:endParaRPr lang="en-US" sz="1000" dirty="0"/>
          </a:p>
        </p:txBody>
      </p:sp>
      <p:sp>
        <p:nvSpPr>
          <p:cNvPr id="45" name="Shape 43"/>
          <p:cNvSpPr/>
          <p:nvPr/>
        </p:nvSpPr>
        <p:spPr>
          <a:xfrm>
            <a:off x="365760" y="4823460"/>
            <a:ext cx="8412480" cy="0"/>
          </a:xfrm>
          <a:prstGeom prst="line">
            <a:avLst/>
          </a:prstGeom>
          <a:noFill/>
          <a:ln w="9525">
            <a:solidFill>
              <a:srgbClr val="EBDFD0"/>
            </a:solidFill>
            <a:prstDash val="solid"/>
          </a:ln>
        </p:spPr>
      </p:sp>
      <p:sp>
        <p:nvSpPr>
          <p:cNvPr id="46" name="Text 44"/>
          <p:cNvSpPr/>
          <p:nvPr/>
        </p:nvSpPr>
        <p:spPr>
          <a:xfrm>
            <a:off x="365760" y="4850892"/>
            <a:ext cx="4572000" cy="274320"/>
          </a:xfrm>
          <a:prstGeom prst="rect">
            <a:avLst/>
          </a:prstGeom>
          <a:noFill/>
          <a:ln/>
        </p:spPr>
        <p:txBody>
          <a:bodyPr wrap="square" lIns="0" tIns="0" rIns="0" bIns="0" rtlCol="0" anchor="ctr"/>
          <a:lstStyle/>
          <a:p>
            <a:pPr algn="l" indent="0" marL="0">
              <a:buNone/>
            </a:pPr>
            <a:r>
              <a:rPr lang="en-US" sz="900" dirty="0">
                <a:solidFill>
                  <a:srgbClr val="6B5A47"/>
                </a:solidFill>
                <a:latin typeface="Yu Gothic" pitchFamily="34" charset="0"/>
                <a:ea typeface="Yu Gothic" pitchFamily="34" charset="-122"/>
                <a:cs typeface="Yu Gothic" pitchFamily="34" charset="-120"/>
              </a:rPr>
              <a:t>ぺいほーむ ポータルサイト</a:t>
            </a:r>
            <a:endParaRPr lang="en-US" sz="900" dirty="0"/>
          </a:p>
        </p:txBody>
      </p:sp>
      <p:sp>
        <p:nvSpPr>
          <p:cNvPr id="47" name="Text 45"/>
          <p:cNvSpPr/>
          <p:nvPr/>
        </p:nvSpPr>
        <p:spPr>
          <a:xfrm>
            <a:off x="4206240" y="4850892"/>
            <a:ext cx="4572000" cy="274320"/>
          </a:xfrm>
          <a:prstGeom prst="rect">
            <a:avLst/>
          </a:prstGeom>
          <a:noFill/>
          <a:ln/>
        </p:spPr>
        <p:txBody>
          <a:bodyPr wrap="square" lIns="0" tIns="0" rIns="0" bIns="0" rtlCol="0" anchor="ctr"/>
          <a:lstStyle/>
          <a:p>
            <a:pPr algn="r" indent="0" marL="0">
              <a:buNone/>
            </a:pPr>
            <a:r>
              <a:rPr lang="en-US" sz="900" i="1" dirty="0">
                <a:solidFill>
                  <a:srgbClr val="6B5A47"/>
                </a:solidFill>
                <a:latin typeface="Yu Gothic" pitchFamily="34" charset="0"/>
                <a:ea typeface="Yu Gothic" pitchFamily="34" charset="-122"/>
                <a:cs typeface="Yu Gothic" pitchFamily="34" charset="-120"/>
              </a:rPr>
              <a:t>本気の出会いを、誠実に。</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8740C"/>
          </a:solidFill>
          <a:ln w="12700">
            <a:solidFill>
              <a:srgbClr val="E8740C"/>
            </a:solidFill>
            <a:prstDash val="solid"/>
          </a:ln>
        </p:spPr>
      </p:sp>
      <p:sp>
        <p:nvSpPr>
          <p:cNvPr id="3" name="Text 1"/>
          <p:cNvSpPr/>
          <p:nvPr/>
        </p:nvSpPr>
        <p:spPr>
          <a:xfrm>
            <a:off x="365760" y="182880"/>
            <a:ext cx="1097280" cy="274320"/>
          </a:xfrm>
          <a:prstGeom prst="rect">
            <a:avLst/>
          </a:prstGeom>
          <a:noFill/>
          <a:ln/>
        </p:spPr>
        <p:txBody>
          <a:bodyPr wrap="square" lIns="0" tIns="0" rIns="0" bIns="0" rtlCol="0" anchor="ctr"/>
          <a:lstStyle/>
          <a:p>
            <a:pPr algn="l" indent="0" marL="0">
              <a:buNone/>
            </a:pPr>
            <a:r>
              <a:rPr lang="en-US" sz="1000" b="1" dirty="0">
                <a:solidFill>
                  <a:srgbClr val="E8740C"/>
                </a:solidFill>
                <a:latin typeface="Yu Gothic" pitchFamily="34" charset="0"/>
                <a:ea typeface="Yu Gothic" pitchFamily="34" charset="-122"/>
                <a:cs typeface="Yu Gothic" pitchFamily="34" charset="-120"/>
              </a:rPr>
              <a:t>12 / 20</a:t>
            </a:r>
            <a:endParaRPr lang="en-US" sz="1000" dirty="0"/>
          </a:p>
        </p:txBody>
      </p:sp>
      <p:sp>
        <p:nvSpPr>
          <p:cNvPr id="4" name="Text 2"/>
          <p:cNvSpPr/>
          <p:nvPr/>
        </p:nvSpPr>
        <p:spPr>
          <a:xfrm>
            <a:off x="1554480" y="182880"/>
            <a:ext cx="7223760" cy="274320"/>
          </a:xfrm>
          <a:prstGeom prst="rect">
            <a:avLst/>
          </a:prstGeom>
          <a:noFill/>
          <a:ln/>
        </p:spPr>
        <p:txBody>
          <a:bodyPr wrap="square" lIns="0" tIns="0" rIns="0" bIns="0" rtlCol="0" anchor="ctr"/>
          <a:lstStyle/>
          <a:p>
            <a:pPr algn="r" indent="0" marL="0">
              <a:buNone/>
            </a:pPr>
            <a:r>
              <a:rPr lang="en-US" sz="1000" dirty="0">
                <a:solidFill>
                  <a:srgbClr val="6B5A47"/>
                </a:solidFill>
                <a:latin typeface="Yu Gothic" pitchFamily="34" charset="0"/>
                <a:ea typeface="Yu Gothic" pitchFamily="34" charset="-122"/>
                <a:cs typeface="Yu Gothic" pitchFamily="34" charset="-120"/>
              </a:rPr>
              <a:t>視聴者プロファイル</a:t>
            </a:r>
            <a:endParaRPr lang="en-US" sz="1000" dirty="0"/>
          </a:p>
        </p:txBody>
      </p:sp>
      <p:sp>
        <p:nvSpPr>
          <p:cNvPr id="5" name="Shape 3"/>
          <p:cNvSpPr/>
          <p:nvPr/>
        </p:nvSpPr>
        <p:spPr>
          <a:xfrm>
            <a:off x="457200" y="685800"/>
            <a:ext cx="109728" cy="502920"/>
          </a:xfrm>
          <a:prstGeom prst="rect">
            <a:avLst/>
          </a:prstGeom>
          <a:solidFill>
            <a:srgbClr val="E8740C"/>
          </a:solidFill>
          <a:ln w="12700">
            <a:solidFill>
              <a:srgbClr val="E8740C"/>
            </a:solidFill>
            <a:prstDash val="solid"/>
          </a:ln>
        </p:spPr>
      </p:sp>
      <p:sp>
        <p:nvSpPr>
          <p:cNvPr id="6" name="Text 4"/>
          <p:cNvSpPr/>
          <p:nvPr/>
        </p:nvSpPr>
        <p:spPr>
          <a:xfrm>
            <a:off x="685800" y="640080"/>
            <a:ext cx="8229600" cy="594360"/>
          </a:xfrm>
          <a:prstGeom prst="rect">
            <a:avLst/>
          </a:prstGeom>
          <a:noFill/>
          <a:ln/>
        </p:spPr>
        <p:txBody>
          <a:bodyPr wrap="square" lIns="0" tIns="0" rIns="0" bIns="0" rtlCol="0" anchor="ctr"/>
          <a:lstStyle/>
          <a:p>
            <a:pPr algn="l" indent="0" marL="0">
              <a:buNone/>
            </a:pPr>
            <a:r>
              <a:rPr lang="en-US" sz="2600" b="1" dirty="0">
                <a:solidFill>
                  <a:srgbClr val="2A1700"/>
                </a:solidFill>
                <a:latin typeface="Yu Gothic" pitchFamily="34" charset="0"/>
                <a:ea typeface="Yu Gothic" pitchFamily="34" charset="-122"/>
                <a:cs typeface="Yu Gothic" pitchFamily="34" charset="-120"/>
              </a:rPr>
              <a:t>視聴者様は「まさに家を建てたい層」</a:t>
            </a:r>
            <a:endParaRPr lang="en-US" sz="2600" dirty="0"/>
          </a:p>
        </p:txBody>
      </p:sp>
      <p:sp>
        <p:nvSpPr>
          <p:cNvPr id="7" name="Text 5"/>
          <p:cNvSpPr/>
          <p:nvPr/>
        </p:nvSpPr>
        <p:spPr>
          <a:xfrm>
            <a:off x="685800" y="1207008"/>
            <a:ext cx="8229600" cy="274320"/>
          </a:xfrm>
          <a:prstGeom prst="rect">
            <a:avLst/>
          </a:prstGeom>
          <a:noFill/>
          <a:ln/>
        </p:spPr>
        <p:txBody>
          <a:bodyPr wrap="square" lIns="0" tIns="0" rIns="0" bIns="0" rtlCol="0" anchor="ctr"/>
          <a:lstStyle/>
          <a:p>
            <a:pPr algn="l" indent="0" marL="0">
              <a:buNone/>
            </a:pPr>
            <a:r>
              <a:rPr lang="en-US" sz="1200" dirty="0">
                <a:solidFill>
                  <a:srgbClr val="6B5A47"/>
                </a:solidFill>
                <a:latin typeface="Yu Gothic" pitchFamily="34" charset="0"/>
                <a:ea typeface="Yu Gothic" pitchFamily="34" charset="-122"/>
                <a:cs typeface="Yu Gothic" pitchFamily="34" charset="-120"/>
              </a:rPr>
              <a:t>ぺいほーむYouTube実測データ（直近28日間）</a:t>
            </a:r>
            <a:endParaRPr lang="en-US" sz="1200" dirty="0"/>
          </a:p>
        </p:txBody>
      </p:sp>
      <p:sp>
        <p:nvSpPr>
          <p:cNvPr id="8" name="Shape 6"/>
          <p:cNvSpPr/>
          <p:nvPr/>
        </p:nvSpPr>
        <p:spPr>
          <a:xfrm>
            <a:off x="457200" y="1691640"/>
            <a:ext cx="4206240" cy="1371600"/>
          </a:xfrm>
          <a:prstGeom prst="rect">
            <a:avLst/>
          </a:prstGeom>
          <a:solidFill>
            <a:srgbClr val="E8740C"/>
          </a:solidFill>
          <a:ln w="12700">
            <a:solidFill>
              <a:srgbClr val="E8740C"/>
            </a:solidFill>
            <a:prstDash val="solid"/>
          </a:ln>
        </p:spPr>
      </p:sp>
      <p:sp>
        <p:nvSpPr>
          <p:cNvPr id="9" name="Text 7"/>
          <p:cNvSpPr/>
          <p:nvPr/>
        </p:nvSpPr>
        <p:spPr>
          <a:xfrm>
            <a:off x="594360" y="1737360"/>
            <a:ext cx="3931920" cy="274320"/>
          </a:xfrm>
          <a:prstGeom prst="rect">
            <a:avLst/>
          </a:prstGeom>
          <a:noFill/>
          <a:ln/>
        </p:spPr>
        <p:txBody>
          <a:bodyPr wrap="square" lIns="0" tIns="0" rIns="0" bIns="0" rtlCol="0" anchor="ctr"/>
          <a:lstStyle/>
          <a:p>
            <a:pPr algn="l" indent="0" marL="0">
              <a:buNone/>
            </a:pPr>
            <a:r>
              <a:rPr lang="en-US" sz="1100" dirty="0">
                <a:solidFill>
                  <a:srgbClr val="FFFFFF"/>
                </a:solidFill>
                <a:latin typeface="Yu Gothic" pitchFamily="34" charset="0"/>
                <a:ea typeface="Yu Gothic" pitchFamily="34" charset="-122"/>
                <a:cs typeface="Yu Gothic" pitchFamily="34" charset="-120"/>
              </a:rPr>
              <a:t>35歳以上の視聴割合</a:t>
            </a:r>
            <a:endParaRPr lang="en-US" sz="1100" dirty="0"/>
          </a:p>
        </p:txBody>
      </p:sp>
      <p:sp>
        <p:nvSpPr>
          <p:cNvPr id="10" name="Text 8"/>
          <p:cNvSpPr/>
          <p:nvPr/>
        </p:nvSpPr>
        <p:spPr>
          <a:xfrm>
            <a:off x="594360" y="2057400"/>
            <a:ext cx="2743200" cy="914400"/>
          </a:xfrm>
          <a:prstGeom prst="rect">
            <a:avLst/>
          </a:prstGeom>
          <a:noFill/>
          <a:ln/>
        </p:spPr>
        <p:txBody>
          <a:bodyPr wrap="square" lIns="0" tIns="0" rIns="0" bIns="0" rtlCol="0" anchor="ctr"/>
          <a:lstStyle/>
          <a:p>
            <a:pPr algn="l" indent="0" marL="0">
              <a:buNone/>
            </a:pPr>
            <a:r>
              <a:rPr lang="en-US" sz="5200" b="1" dirty="0">
                <a:solidFill>
                  <a:srgbClr val="FFFFFF"/>
                </a:solidFill>
                <a:latin typeface="Yu Gothic" pitchFamily="34" charset="0"/>
                <a:ea typeface="Yu Gothic" pitchFamily="34" charset="-122"/>
                <a:cs typeface="Yu Gothic" pitchFamily="34" charset="-120"/>
              </a:rPr>
              <a:t>97.1%</a:t>
            </a:r>
            <a:endParaRPr lang="en-US" sz="5200" dirty="0"/>
          </a:p>
        </p:txBody>
      </p:sp>
      <p:sp>
        <p:nvSpPr>
          <p:cNvPr id="11" name="Text 9"/>
          <p:cNvSpPr/>
          <p:nvPr/>
        </p:nvSpPr>
        <p:spPr>
          <a:xfrm>
            <a:off x="3063240" y="2148840"/>
            <a:ext cx="1508760" cy="777240"/>
          </a:xfrm>
          <a:prstGeom prst="rect">
            <a:avLst/>
          </a:prstGeom>
          <a:noFill/>
          <a:ln/>
        </p:spPr>
        <p:txBody>
          <a:bodyPr wrap="square" lIns="0" tIns="0" rIns="0" bIns="0" rtlCol="0" anchor="ctr"/>
          <a:lstStyle/>
          <a:p>
            <a:pPr algn="r" indent="0" marL="0">
              <a:buNone/>
            </a:pPr>
            <a:r>
              <a:rPr lang="en-US" sz="1100" dirty="0">
                <a:solidFill>
                  <a:srgbClr val="FFFFFF"/>
                </a:solidFill>
                <a:latin typeface="Yu Gothic" pitchFamily="34" charset="0"/>
                <a:ea typeface="Yu Gothic" pitchFamily="34" charset="-122"/>
                <a:cs typeface="Yu Gothic" pitchFamily="34" charset="-120"/>
              </a:rPr>
              <a:t>家を建てる</a:t>
            </a:r>
            <a:endParaRPr lang="en-US" sz="1100" dirty="0"/>
          </a:p>
          <a:p>
            <a:pPr algn="r" indent="0" marL="0">
              <a:buNone/>
            </a:pPr>
            <a:r>
              <a:rPr lang="en-US" sz="1100" dirty="0">
                <a:solidFill>
                  <a:srgbClr val="FFFFFF"/>
                </a:solidFill>
                <a:latin typeface="Yu Gothic" pitchFamily="34" charset="0"/>
                <a:ea typeface="Yu Gothic" pitchFamily="34" charset="-122"/>
                <a:cs typeface="Yu Gothic" pitchFamily="34" charset="-120"/>
              </a:rPr>
              <a:t>主要世代と一致</a:t>
            </a:r>
            <a:endParaRPr lang="en-US" sz="1100" dirty="0"/>
          </a:p>
        </p:txBody>
      </p:sp>
      <p:sp>
        <p:nvSpPr>
          <p:cNvPr id="12" name="Shape 10"/>
          <p:cNvSpPr/>
          <p:nvPr/>
        </p:nvSpPr>
        <p:spPr>
          <a:xfrm>
            <a:off x="4846320" y="1691640"/>
            <a:ext cx="3840480" cy="1371600"/>
          </a:xfrm>
          <a:prstGeom prst="rect">
            <a:avLst/>
          </a:prstGeom>
          <a:solidFill>
            <a:srgbClr val="FFF8F0"/>
          </a:solidFill>
          <a:ln w="12700">
            <a:solidFill>
              <a:srgbClr val="EBDFD0"/>
            </a:solidFill>
            <a:prstDash val="solid"/>
          </a:ln>
        </p:spPr>
      </p:sp>
      <p:sp>
        <p:nvSpPr>
          <p:cNvPr id="13" name="Text 11"/>
          <p:cNvSpPr/>
          <p:nvPr/>
        </p:nvSpPr>
        <p:spPr>
          <a:xfrm>
            <a:off x="4983480" y="1737360"/>
            <a:ext cx="3566160" cy="274320"/>
          </a:xfrm>
          <a:prstGeom prst="rect">
            <a:avLst/>
          </a:prstGeom>
          <a:noFill/>
          <a:ln/>
        </p:spPr>
        <p:txBody>
          <a:bodyPr wrap="square" lIns="0" tIns="0" rIns="0" bIns="0" rtlCol="0" anchor="ctr"/>
          <a:lstStyle/>
          <a:p>
            <a:pPr algn="l" indent="0" marL="0">
              <a:buNone/>
            </a:pPr>
            <a:r>
              <a:rPr lang="en-US" sz="1100" dirty="0">
                <a:solidFill>
                  <a:srgbClr val="6B5A47"/>
                </a:solidFill>
                <a:latin typeface="Yu Gothic" pitchFamily="34" charset="0"/>
                <a:ea typeface="Yu Gothic" pitchFamily="34" charset="-122"/>
                <a:cs typeface="Yu Gothic" pitchFamily="34" charset="-120"/>
              </a:rPr>
              <a:t>日本国内からの視聴</a:t>
            </a:r>
            <a:endParaRPr lang="en-US" sz="1100" dirty="0"/>
          </a:p>
        </p:txBody>
      </p:sp>
      <p:sp>
        <p:nvSpPr>
          <p:cNvPr id="14" name="Text 12"/>
          <p:cNvSpPr/>
          <p:nvPr/>
        </p:nvSpPr>
        <p:spPr>
          <a:xfrm>
            <a:off x="4983480" y="2057400"/>
            <a:ext cx="2286000" cy="914400"/>
          </a:xfrm>
          <a:prstGeom prst="rect">
            <a:avLst/>
          </a:prstGeom>
          <a:noFill/>
          <a:ln/>
        </p:spPr>
        <p:txBody>
          <a:bodyPr wrap="square" lIns="0" tIns="0" rIns="0" bIns="0" rtlCol="0" anchor="ctr"/>
          <a:lstStyle/>
          <a:p>
            <a:pPr algn="l" indent="0" marL="0">
              <a:buNone/>
            </a:pPr>
            <a:r>
              <a:rPr lang="en-US" sz="5200" b="1" dirty="0">
                <a:solidFill>
                  <a:srgbClr val="E8740C"/>
                </a:solidFill>
                <a:latin typeface="Yu Gothic" pitchFamily="34" charset="0"/>
                <a:ea typeface="Yu Gothic" pitchFamily="34" charset="-122"/>
                <a:cs typeface="Yu Gothic" pitchFamily="34" charset="-120"/>
              </a:rPr>
              <a:t>98.8%</a:t>
            </a:r>
            <a:endParaRPr lang="en-US" sz="5200" dirty="0"/>
          </a:p>
        </p:txBody>
      </p:sp>
      <p:sp>
        <p:nvSpPr>
          <p:cNvPr id="15" name="Text 13"/>
          <p:cNvSpPr/>
          <p:nvPr/>
        </p:nvSpPr>
        <p:spPr>
          <a:xfrm>
            <a:off x="7315200" y="2148840"/>
            <a:ext cx="1280160" cy="777240"/>
          </a:xfrm>
          <a:prstGeom prst="rect">
            <a:avLst/>
          </a:prstGeom>
          <a:noFill/>
          <a:ln/>
        </p:spPr>
        <p:txBody>
          <a:bodyPr wrap="square" lIns="0" tIns="0" rIns="0" bIns="0" rtlCol="0" anchor="ctr"/>
          <a:lstStyle/>
          <a:p>
            <a:pPr algn="r" indent="0" marL="0">
              <a:buNone/>
            </a:pPr>
            <a:r>
              <a:rPr lang="en-US" sz="1100" dirty="0">
                <a:solidFill>
                  <a:srgbClr val="3D2200"/>
                </a:solidFill>
                <a:latin typeface="Yu Gothic" pitchFamily="34" charset="0"/>
                <a:ea typeface="Yu Gothic" pitchFamily="34" charset="-122"/>
                <a:cs typeface="Yu Gothic" pitchFamily="34" charset="-120"/>
              </a:rPr>
              <a:t>広告投資が</a:t>
            </a:r>
            <a:endParaRPr lang="en-US" sz="1100" dirty="0"/>
          </a:p>
          <a:p>
            <a:pPr algn="r" indent="0" marL="0">
              <a:buNone/>
            </a:pPr>
            <a:r>
              <a:rPr lang="en-US" sz="1100" dirty="0">
                <a:solidFill>
                  <a:srgbClr val="3D2200"/>
                </a:solidFill>
                <a:latin typeface="Yu Gothic" pitchFamily="34" charset="0"/>
                <a:ea typeface="Yu Gothic" pitchFamily="34" charset="-122"/>
                <a:cs typeface="Yu Gothic" pitchFamily="34" charset="-120"/>
              </a:rPr>
              <a:t>100%国内還元</a:t>
            </a:r>
            <a:endParaRPr lang="en-US" sz="1100" dirty="0"/>
          </a:p>
        </p:txBody>
      </p:sp>
      <p:sp>
        <p:nvSpPr>
          <p:cNvPr id="16" name="Shape 14"/>
          <p:cNvSpPr/>
          <p:nvPr/>
        </p:nvSpPr>
        <p:spPr>
          <a:xfrm>
            <a:off x="457200" y="3200400"/>
            <a:ext cx="2743200" cy="1371600"/>
          </a:xfrm>
          <a:prstGeom prst="rect">
            <a:avLst/>
          </a:prstGeom>
          <a:solidFill>
            <a:srgbClr val="FFFFFF"/>
          </a:solidFill>
          <a:ln w="12700">
            <a:solidFill>
              <a:srgbClr val="EBDFD0"/>
            </a:solidFill>
            <a:prstDash val="solid"/>
          </a:ln>
        </p:spPr>
      </p:sp>
      <p:sp>
        <p:nvSpPr>
          <p:cNvPr id="17" name="Shape 15"/>
          <p:cNvSpPr/>
          <p:nvPr/>
        </p:nvSpPr>
        <p:spPr>
          <a:xfrm>
            <a:off x="457200" y="3200400"/>
            <a:ext cx="73152" cy="1371600"/>
          </a:xfrm>
          <a:prstGeom prst="rect">
            <a:avLst/>
          </a:prstGeom>
          <a:solidFill>
            <a:srgbClr val="E8740C"/>
          </a:solidFill>
          <a:ln w="12700">
            <a:solidFill>
              <a:srgbClr val="E8740C"/>
            </a:solidFill>
            <a:prstDash val="solid"/>
          </a:ln>
        </p:spPr>
      </p:sp>
      <p:sp>
        <p:nvSpPr>
          <p:cNvPr id="18" name="Text 16"/>
          <p:cNvSpPr/>
          <p:nvPr/>
        </p:nvSpPr>
        <p:spPr>
          <a:xfrm>
            <a:off x="640080" y="3291840"/>
            <a:ext cx="2468880" cy="274320"/>
          </a:xfrm>
          <a:prstGeom prst="rect">
            <a:avLst/>
          </a:prstGeom>
          <a:noFill/>
          <a:ln/>
        </p:spPr>
        <p:txBody>
          <a:bodyPr wrap="square" lIns="0" tIns="0" rIns="0" bIns="0" rtlCol="0" anchor="ctr"/>
          <a:lstStyle/>
          <a:p>
            <a:pPr algn="l" indent="0" marL="0">
              <a:buNone/>
            </a:pPr>
            <a:r>
              <a:rPr lang="en-US" sz="1000" dirty="0">
                <a:solidFill>
                  <a:srgbClr val="6B5A47"/>
                </a:solidFill>
                <a:latin typeface="Yu Gothic" pitchFamily="34" charset="0"/>
                <a:ea typeface="Yu Gothic" pitchFamily="34" charset="-122"/>
                <a:cs typeface="Yu Gothic" pitchFamily="34" charset="-120"/>
              </a:rPr>
              <a:t>45〜64歳 中核層</a:t>
            </a:r>
            <a:endParaRPr lang="en-US" sz="1000" dirty="0"/>
          </a:p>
        </p:txBody>
      </p:sp>
      <p:sp>
        <p:nvSpPr>
          <p:cNvPr id="19" name="Text 17"/>
          <p:cNvSpPr/>
          <p:nvPr/>
        </p:nvSpPr>
        <p:spPr>
          <a:xfrm>
            <a:off x="640080" y="3520440"/>
            <a:ext cx="2468880" cy="594360"/>
          </a:xfrm>
          <a:prstGeom prst="rect">
            <a:avLst/>
          </a:prstGeom>
          <a:noFill/>
          <a:ln/>
        </p:spPr>
        <p:txBody>
          <a:bodyPr wrap="square" lIns="0" tIns="0" rIns="0" bIns="0" rtlCol="0" anchor="ctr"/>
          <a:lstStyle/>
          <a:p>
            <a:pPr algn="l" indent="0" marL="0">
              <a:buNone/>
            </a:pPr>
            <a:r>
              <a:rPr lang="en-US" sz="3200" b="1" dirty="0">
                <a:solidFill>
                  <a:srgbClr val="E8740C"/>
                </a:solidFill>
                <a:latin typeface="Yu Gothic" pitchFamily="34" charset="0"/>
                <a:ea typeface="Yu Gothic" pitchFamily="34" charset="-122"/>
                <a:cs typeface="Yu Gothic" pitchFamily="34" charset="-120"/>
              </a:rPr>
              <a:t>60.9%</a:t>
            </a:r>
            <a:endParaRPr lang="en-US" sz="3200" dirty="0"/>
          </a:p>
        </p:txBody>
      </p:sp>
      <p:sp>
        <p:nvSpPr>
          <p:cNvPr id="20" name="Text 18"/>
          <p:cNvSpPr/>
          <p:nvPr/>
        </p:nvSpPr>
        <p:spPr>
          <a:xfrm>
            <a:off x="640080" y="4160520"/>
            <a:ext cx="2468880" cy="274320"/>
          </a:xfrm>
          <a:prstGeom prst="rect">
            <a:avLst/>
          </a:prstGeom>
          <a:noFill/>
          <a:ln/>
        </p:spPr>
        <p:txBody>
          <a:bodyPr wrap="square" lIns="0" tIns="0" rIns="0" bIns="0" rtlCol="0" anchor="ctr"/>
          <a:lstStyle/>
          <a:p>
            <a:pPr algn="l" indent="0" marL="0">
              <a:buNone/>
            </a:pPr>
            <a:r>
              <a:rPr lang="en-US" sz="1000" dirty="0">
                <a:solidFill>
                  <a:srgbClr val="3D2200"/>
                </a:solidFill>
                <a:latin typeface="Yu Gothic" pitchFamily="34" charset="0"/>
                <a:ea typeface="Yu Gothic" pitchFamily="34" charset="-122"/>
                <a:cs typeface="Yu Gothic" pitchFamily="34" charset="-120"/>
              </a:rPr>
              <a:t>注文住宅一次取得層</a:t>
            </a:r>
            <a:endParaRPr lang="en-US" sz="1000" dirty="0"/>
          </a:p>
        </p:txBody>
      </p:sp>
      <p:sp>
        <p:nvSpPr>
          <p:cNvPr id="21" name="Shape 19"/>
          <p:cNvSpPr/>
          <p:nvPr/>
        </p:nvSpPr>
        <p:spPr>
          <a:xfrm>
            <a:off x="3246120" y="3200400"/>
            <a:ext cx="2743200" cy="1371600"/>
          </a:xfrm>
          <a:prstGeom prst="rect">
            <a:avLst/>
          </a:prstGeom>
          <a:solidFill>
            <a:srgbClr val="FFFFFF"/>
          </a:solidFill>
          <a:ln w="12700">
            <a:solidFill>
              <a:srgbClr val="EBDFD0"/>
            </a:solidFill>
            <a:prstDash val="solid"/>
          </a:ln>
        </p:spPr>
      </p:sp>
      <p:sp>
        <p:nvSpPr>
          <p:cNvPr id="22" name="Shape 20"/>
          <p:cNvSpPr/>
          <p:nvPr/>
        </p:nvSpPr>
        <p:spPr>
          <a:xfrm>
            <a:off x="3246120" y="3200400"/>
            <a:ext cx="73152" cy="1371600"/>
          </a:xfrm>
          <a:prstGeom prst="rect">
            <a:avLst/>
          </a:prstGeom>
          <a:solidFill>
            <a:srgbClr val="E8740C"/>
          </a:solidFill>
          <a:ln w="12700">
            <a:solidFill>
              <a:srgbClr val="E8740C"/>
            </a:solidFill>
            <a:prstDash val="solid"/>
          </a:ln>
        </p:spPr>
      </p:sp>
      <p:sp>
        <p:nvSpPr>
          <p:cNvPr id="23" name="Text 21"/>
          <p:cNvSpPr/>
          <p:nvPr/>
        </p:nvSpPr>
        <p:spPr>
          <a:xfrm>
            <a:off x="3429000" y="3291840"/>
            <a:ext cx="2468880" cy="274320"/>
          </a:xfrm>
          <a:prstGeom prst="rect">
            <a:avLst/>
          </a:prstGeom>
          <a:noFill/>
          <a:ln/>
        </p:spPr>
        <p:txBody>
          <a:bodyPr wrap="square" lIns="0" tIns="0" rIns="0" bIns="0" rtlCol="0" anchor="ctr"/>
          <a:lstStyle/>
          <a:p>
            <a:pPr algn="l" indent="0" marL="0">
              <a:buNone/>
            </a:pPr>
            <a:r>
              <a:rPr lang="en-US" sz="1000" dirty="0">
                <a:solidFill>
                  <a:srgbClr val="6B5A47"/>
                </a:solidFill>
                <a:latin typeface="Yu Gothic" pitchFamily="34" charset="0"/>
                <a:ea typeface="Yu Gothic" pitchFamily="34" charset="-122"/>
                <a:cs typeface="Yu Gothic" pitchFamily="34" charset="-120"/>
              </a:rPr>
              <a:t>女性視聴者の割合</a:t>
            </a:r>
            <a:endParaRPr lang="en-US" sz="1000" dirty="0"/>
          </a:p>
        </p:txBody>
      </p:sp>
      <p:sp>
        <p:nvSpPr>
          <p:cNvPr id="24" name="Text 22"/>
          <p:cNvSpPr/>
          <p:nvPr/>
        </p:nvSpPr>
        <p:spPr>
          <a:xfrm>
            <a:off x="3429000" y="3520440"/>
            <a:ext cx="2468880" cy="594360"/>
          </a:xfrm>
          <a:prstGeom prst="rect">
            <a:avLst/>
          </a:prstGeom>
          <a:noFill/>
          <a:ln/>
        </p:spPr>
        <p:txBody>
          <a:bodyPr wrap="square" lIns="0" tIns="0" rIns="0" bIns="0" rtlCol="0" anchor="ctr"/>
          <a:lstStyle/>
          <a:p>
            <a:pPr algn="l" indent="0" marL="0">
              <a:buNone/>
            </a:pPr>
            <a:r>
              <a:rPr lang="en-US" sz="3200" b="1" dirty="0">
                <a:solidFill>
                  <a:srgbClr val="E8740C"/>
                </a:solidFill>
                <a:latin typeface="Yu Gothic" pitchFamily="34" charset="0"/>
                <a:ea typeface="Yu Gothic" pitchFamily="34" charset="-122"/>
                <a:cs typeface="Yu Gothic" pitchFamily="34" charset="-120"/>
              </a:rPr>
              <a:t>51.1%</a:t>
            </a:r>
            <a:endParaRPr lang="en-US" sz="3200" dirty="0"/>
          </a:p>
        </p:txBody>
      </p:sp>
      <p:sp>
        <p:nvSpPr>
          <p:cNvPr id="25" name="Text 23"/>
          <p:cNvSpPr/>
          <p:nvPr/>
        </p:nvSpPr>
        <p:spPr>
          <a:xfrm>
            <a:off x="3429000" y="4160520"/>
            <a:ext cx="2468880" cy="274320"/>
          </a:xfrm>
          <a:prstGeom prst="rect">
            <a:avLst/>
          </a:prstGeom>
          <a:noFill/>
          <a:ln/>
        </p:spPr>
        <p:txBody>
          <a:bodyPr wrap="square" lIns="0" tIns="0" rIns="0" bIns="0" rtlCol="0" anchor="ctr"/>
          <a:lstStyle/>
          <a:p>
            <a:pPr algn="l" indent="0" marL="0">
              <a:buNone/>
            </a:pPr>
            <a:r>
              <a:rPr lang="en-US" sz="1000" dirty="0">
                <a:solidFill>
                  <a:srgbClr val="3D2200"/>
                </a:solidFill>
                <a:latin typeface="Yu Gothic" pitchFamily="34" charset="0"/>
                <a:ea typeface="Yu Gothic" pitchFamily="34" charset="-122"/>
                <a:cs typeface="Yu Gothic" pitchFamily="34" charset="-120"/>
              </a:rPr>
              <a:t>ご夫婦で視聴</a:t>
            </a:r>
            <a:endParaRPr lang="en-US" sz="1000" dirty="0"/>
          </a:p>
        </p:txBody>
      </p:sp>
      <p:sp>
        <p:nvSpPr>
          <p:cNvPr id="26" name="Shape 24"/>
          <p:cNvSpPr/>
          <p:nvPr/>
        </p:nvSpPr>
        <p:spPr>
          <a:xfrm>
            <a:off x="6035040" y="3200400"/>
            <a:ext cx="2743200" cy="1371600"/>
          </a:xfrm>
          <a:prstGeom prst="rect">
            <a:avLst/>
          </a:prstGeom>
          <a:solidFill>
            <a:srgbClr val="FFFFFF"/>
          </a:solidFill>
          <a:ln w="12700">
            <a:solidFill>
              <a:srgbClr val="EBDFD0"/>
            </a:solidFill>
            <a:prstDash val="solid"/>
          </a:ln>
        </p:spPr>
      </p:sp>
      <p:sp>
        <p:nvSpPr>
          <p:cNvPr id="27" name="Shape 25"/>
          <p:cNvSpPr/>
          <p:nvPr/>
        </p:nvSpPr>
        <p:spPr>
          <a:xfrm>
            <a:off x="6035040" y="3200400"/>
            <a:ext cx="73152" cy="1371600"/>
          </a:xfrm>
          <a:prstGeom prst="rect">
            <a:avLst/>
          </a:prstGeom>
          <a:solidFill>
            <a:srgbClr val="E8740C"/>
          </a:solidFill>
          <a:ln w="12700">
            <a:solidFill>
              <a:srgbClr val="E8740C"/>
            </a:solidFill>
            <a:prstDash val="solid"/>
          </a:ln>
        </p:spPr>
      </p:sp>
      <p:sp>
        <p:nvSpPr>
          <p:cNvPr id="28" name="Text 26"/>
          <p:cNvSpPr/>
          <p:nvPr/>
        </p:nvSpPr>
        <p:spPr>
          <a:xfrm>
            <a:off x="6217920" y="3291840"/>
            <a:ext cx="2468880" cy="274320"/>
          </a:xfrm>
          <a:prstGeom prst="rect">
            <a:avLst/>
          </a:prstGeom>
          <a:noFill/>
          <a:ln/>
        </p:spPr>
        <p:txBody>
          <a:bodyPr wrap="square" lIns="0" tIns="0" rIns="0" bIns="0" rtlCol="0" anchor="ctr"/>
          <a:lstStyle/>
          <a:p>
            <a:pPr algn="l" indent="0" marL="0">
              <a:buNone/>
            </a:pPr>
            <a:r>
              <a:rPr lang="en-US" sz="1000" dirty="0">
                <a:solidFill>
                  <a:srgbClr val="6B5A47"/>
                </a:solidFill>
                <a:latin typeface="Yu Gothic" pitchFamily="34" charset="0"/>
                <a:ea typeface="Yu Gothic" pitchFamily="34" charset="-122"/>
                <a:cs typeface="Yu Gothic" pitchFamily="34" charset="-120"/>
              </a:rPr>
              <a:t>未登録の新規視聴者</a:t>
            </a:r>
            <a:endParaRPr lang="en-US" sz="1000" dirty="0"/>
          </a:p>
        </p:txBody>
      </p:sp>
      <p:sp>
        <p:nvSpPr>
          <p:cNvPr id="29" name="Text 27"/>
          <p:cNvSpPr/>
          <p:nvPr/>
        </p:nvSpPr>
        <p:spPr>
          <a:xfrm>
            <a:off x="6217920" y="3520440"/>
            <a:ext cx="2468880" cy="594360"/>
          </a:xfrm>
          <a:prstGeom prst="rect">
            <a:avLst/>
          </a:prstGeom>
          <a:noFill/>
          <a:ln/>
        </p:spPr>
        <p:txBody>
          <a:bodyPr wrap="square" lIns="0" tIns="0" rIns="0" bIns="0" rtlCol="0" anchor="ctr"/>
          <a:lstStyle/>
          <a:p>
            <a:pPr algn="l" indent="0" marL="0">
              <a:buNone/>
            </a:pPr>
            <a:r>
              <a:rPr lang="en-US" sz="3200" b="1" dirty="0">
                <a:solidFill>
                  <a:srgbClr val="E8740C"/>
                </a:solidFill>
                <a:latin typeface="Yu Gothic" pitchFamily="34" charset="0"/>
                <a:ea typeface="Yu Gothic" pitchFamily="34" charset="-122"/>
                <a:cs typeface="Yu Gothic" pitchFamily="34" charset="-120"/>
              </a:rPr>
              <a:t>94.7%</a:t>
            </a:r>
            <a:endParaRPr lang="en-US" sz="3200" dirty="0"/>
          </a:p>
        </p:txBody>
      </p:sp>
      <p:sp>
        <p:nvSpPr>
          <p:cNvPr id="30" name="Text 28"/>
          <p:cNvSpPr/>
          <p:nvPr/>
        </p:nvSpPr>
        <p:spPr>
          <a:xfrm>
            <a:off x="6217920" y="4160520"/>
            <a:ext cx="2468880" cy="274320"/>
          </a:xfrm>
          <a:prstGeom prst="rect">
            <a:avLst/>
          </a:prstGeom>
          <a:noFill/>
          <a:ln/>
        </p:spPr>
        <p:txBody>
          <a:bodyPr wrap="square" lIns="0" tIns="0" rIns="0" bIns="0" rtlCol="0" anchor="ctr"/>
          <a:lstStyle/>
          <a:p>
            <a:pPr algn="l" indent="0" marL="0">
              <a:buNone/>
            </a:pPr>
            <a:r>
              <a:rPr lang="en-US" sz="1000" dirty="0">
                <a:solidFill>
                  <a:srgbClr val="3D2200"/>
                </a:solidFill>
                <a:latin typeface="Yu Gothic" pitchFamily="34" charset="0"/>
                <a:ea typeface="Yu Gothic" pitchFamily="34" charset="-122"/>
                <a:cs typeface="Yu Gothic" pitchFamily="34" charset="-120"/>
              </a:rPr>
              <a:t>毎日新しい見込み客</a:t>
            </a:r>
            <a:endParaRPr lang="en-US" sz="1000" dirty="0"/>
          </a:p>
        </p:txBody>
      </p:sp>
      <p:sp>
        <p:nvSpPr>
          <p:cNvPr id="31" name="Shape 29"/>
          <p:cNvSpPr/>
          <p:nvPr/>
        </p:nvSpPr>
        <p:spPr>
          <a:xfrm>
            <a:off x="365760" y="4823460"/>
            <a:ext cx="8412480" cy="0"/>
          </a:xfrm>
          <a:prstGeom prst="line">
            <a:avLst/>
          </a:prstGeom>
          <a:noFill/>
          <a:ln w="9525">
            <a:solidFill>
              <a:srgbClr val="EBDFD0"/>
            </a:solidFill>
            <a:prstDash val="solid"/>
          </a:ln>
        </p:spPr>
      </p:sp>
      <p:sp>
        <p:nvSpPr>
          <p:cNvPr id="32" name="Text 30"/>
          <p:cNvSpPr/>
          <p:nvPr/>
        </p:nvSpPr>
        <p:spPr>
          <a:xfrm>
            <a:off x="365760" y="4850892"/>
            <a:ext cx="4572000" cy="274320"/>
          </a:xfrm>
          <a:prstGeom prst="rect">
            <a:avLst/>
          </a:prstGeom>
          <a:noFill/>
          <a:ln/>
        </p:spPr>
        <p:txBody>
          <a:bodyPr wrap="square" lIns="0" tIns="0" rIns="0" bIns="0" rtlCol="0" anchor="ctr"/>
          <a:lstStyle/>
          <a:p>
            <a:pPr algn="l" indent="0" marL="0">
              <a:buNone/>
            </a:pPr>
            <a:r>
              <a:rPr lang="en-US" sz="900" dirty="0">
                <a:solidFill>
                  <a:srgbClr val="6B5A47"/>
                </a:solidFill>
                <a:latin typeface="Yu Gothic" pitchFamily="34" charset="0"/>
                <a:ea typeface="Yu Gothic" pitchFamily="34" charset="-122"/>
                <a:cs typeface="Yu Gothic" pitchFamily="34" charset="-120"/>
              </a:rPr>
              <a:t>ぺいほーむ ポータルサイト</a:t>
            </a:r>
            <a:endParaRPr lang="en-US" sz="900" dirty="0"/>
          </a:p>
        </p:txBody>
      </p:sp>
      <p:sp>
        <p:nvSpPr>
          <p:cNvPr id="33" name="Text 31"/>
          <p:cNvSpPr/>
          <p:nvPr/>
        </p:nvSpPr>
        <p:spPr>
          <a:xfrm>
            <a:off x="4206240" y="4850892"/>
            <a:ext cx="4572000" cy="274320"/>
          </a:xfrm>
          <a:prstGeom prst="rect">
            <a:avLst/>
          </a:prstGeom>
          <a:noFill/>
          <a:ln/>
        </p:spPr>
        <p:txBody>
          <a:bodyPr wrap="square" lIns="0" tIns="0" rIns="0" bIns="0" rtlCol="0" anchor="ctr"/>
          <a:lstStyle/>
          <a:p>
            <a:pPr algn="r" indent="0" marL="0">
              <a:buNone/>
            </a:pPr>
            <a:r>
              <a:rPr lang="en-US" sz="900" i="1" dirty="0">
                <a:solidFill>
                  <a:srgbClr val="6B5A47"/>
                </a:solidFill>
                <a:latin typeface="Yu Gothic" pitchFamily="34" charset="0"/>
                <a:ea typeface="Yu Gothic" pitchFamily="34" charset="-122"/>
                <a:cs typeface="Yu Gothic" pitchFamily="34" charset="-120"/>
              </a:rPr>
              <a:t>本気の出会いを、誠実に。</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8740C"/>
          </a:solidFill>
          <a:ln w="12700">
            <a:solidFill>
              <a:srgbClr val="E8740C"/>
            </a:solidFill>
            <a:prstDash val="solid"/>
          </a:ln>
        </p:spPr>
      </p:sp>
      <p:sp>
        <p:nvSpPr>
          <p:cNvPr id="3" name="Text 1"/>
          <p:cNvSpPr/>
          <p:nvPr/>
        </p:nvSpPr>
        <p:spPr>
          <a:xfrm>
            <a:off x="365760" y="182880"/>
            <a:ext cx="1097280" cy="274320"/>
          </a:xfrm>
          <a:prstGeom prst="rect">
            <a:avLst/>
          </a:prstGeom>
          <a:noFill/>
          <a:ln/>
        </p:spPr>
        <p:txBody>
          <a:bodyPr wrap="square" lIns="0" tIns="0" rIns="0" bIns="0" rtlCol="0" anchor="ctr"/>
          <a:lstStyle/>
          <a:p>
            <a:pPr algn="l" indent="0" marL="0">
              <a:buNone/>
            </a:pPr>
            <a:r>
              <a:rPr lang="en-US" sz="1000" b="1" dirty="0">
                <a:solidFill>
                  <a:srgbClr val="E8740C"/>
                </a:solidFill>
                <a:latin typeface="Yu Gothic" pitchFamily="34" charset="0"/>
                <a:ea typeface="Yu Gothic" pitchFamily="34" charset="-122"/>
                <a:cs typeface="Yu Gothic" pitchFamily="34" charset="-120"/>
              </a:rPr>
              <a:t>13 / 20</a:t>
            </a:r>
            <a:endParaRPr lang="en-US" sz="1000" dirty="0"/>
          </a:p>
        </p:txBody>
      </p:sp>
      <p:sp>
        <p:nvSpPr>
          <p:cNvPr id="4" name="Text 2"/>
          <p:cNvSpPr/>
          <p:nvPr/>
        </p:nvSpPr>
        <p:spPr>
          <a:xfrm>
            <a:off x="1554480" y="182880"/>
            <a:ext cx="7223760" cy="274320"/>
          </a:xfrm>
          <a:prstGeom prst="rect">
            <a:avLst/>
          </a:prstGeom>
          <a:noFill/>
          <a:ln/>
        </p:spPr>
        <p:txBody>
          <a:bodyPr wrap="square" lIns="0" tIns="0" rIns="0" bIns="0" rtlCol="0" anchor="ctr"/>
          <a:lstStyle/>
          <a:p>
            <a:pPr algn="r" indent="0" marL="0">
              <a:buNone/>
            </a:pPr>
            <a:r>
              <a:rPr lang="en-US" sz="1000" dirty="0">
                <a:solidFill>
                  <a:srgbClr val="6B5A47"/>
                </a:solidFill>
                <a:latin typeface="Yu Gothic" pitchFamily="34" charset="0"/>
                <a:ea typeface="Yu Gothic" pitchFamily="34" charset="-122"/>
                <a:cs typeface="Yu Gothic" pitchFamily="34" charset="-120"/>
              </a:rPr>
              <a:t>お客様の流れ</a:t>
            </a:r>
            <a:endParaRPr lang="en-US" sz="1000" dirty="0"/>
          </a:p>
        </p:txBody>
      </p:sp>
      <p:sp>
        <p:nvSpPr>
          <p:cNvPr id="5" name="Shape 3"/>
          <p:cNvSpPr/>
          <p:nvPr/>
        </p:nvSpPr>
        <p:spPr>
          <a:xfrm>
            <a:off x="457200" y="685800"/>
            <a:ext cx="109728" cy="502920"/>
          </a:xfrm>
          <a:prstGeom prst="rect">
            <a:avLst/>
          </a:prstGeom>
          <a:solidFill>
            <a:srgbClr val="E8740C"/>
          </a:solidFill>
          <a:ln w="12700">
            <a:solidFill>
              <a:srgbClr val="E8740C"/>
            </a:solidFill>
            <a:prstDash val="solid"/>
          </a:ln>
        </p:spPr>
      </p:sp>
      <p:sp>
        <p:nvSpPr>
          <p:cNvPr id="6" name="Text 4"/>
          <p:cNvSpPr/>
          <p:nvPr/>
        </p:nvSpPr>
        <p:spPr>
          <a:xfrm>
            <a:off x="685800" y="640080"/>
            <a:ext cx="8229600" cy="594360"/>
          </a:xfrm>
          <a:prstGeom prst="rect">
            <a:avLst/>
          </a:prstGeom>
          <a:noFill/>
          <a:ln/>
        </p:spPr>
        <p:txBody>
          <a:bodyPr wrap="square" lIns="0" tIns="0" rIns="0" bIns="0" rtlCol="0" anchor="ctr"/>
          <a:lstStyle/>
          <a:p>
            <a:pPr algn="l" indent="0" marL="0">
              <a:buNone/>
            </a:pPr>
            <a:r>
              <a:rPr lang="en-US" sz="2600" b="1" dirty="0">
                <a:solidFill>
                  <a:srgbClr val="2A1700"/>
                </a:solidFill>
                <a:latin typeface="Yu Gothic" pitchFamily="34" charset="0"/>
                <a:ea typeface="Yu Gothic" pitchFamily="34" charset="-122"/>
                <a:cs typeface="Yu Gothic" pitchFamily="34" charset="-120"/>
              </a:rPr>
              <a:t>動画視聴から見学会予約まで、自然なストーリー</a:t>
            </a:r>
            <a:endParaRPr lang="en-US" sz="2600" dirty="0"/>
          </a:p>
        </p:txBody>
      </p:sp>
      <p:sp>
        <p:nvSpPr>
          <p:cNvPr id="7" name="Text 5"/>
          <p:cNvSpPr/>
          <p:nvPr/>
        </p:nvSpPr>
        <p:spPr>
          <a:xfrm>
            <a:off x="685800" y="1207008"/>
            <a:ext cx="8229600" cy="274320"/>
          </a:xfrm>
          <a:prstGeom prst="rect">
            <a:avLst/>
          </a:prstGeom>
          <a:noFill/>
          <a:ln/>
        </p:spPr>
        <p:txBody>
          <a:bodyPr wrap="square" lIns="0" tIns="0" rIns="0" bIns="0" rtlCol="0" anchor="ctr"/>
          <a:lstStyle/>
          <a:p>
            <a:pPr algn="l" indent="0" marL="0">
              <a:buNone/>
            </a:pPr>
            <a:r>
              <a:rPr lang="en-US" sz="1200" dirty="0">
                <a:solidFill>
                  <a:srgbClr val="6B5A47"/>
                </a:solidFill>
                <a:latin typeface="Yu Gothic" pitchFamily="34" charset="0"/>
                <a:ea typeface="Yu Gothic" pitchFamily="34" charset="-122"/>
                <a:cs typeface="Yu Gothic" pitchFamily="34" charset="-120"/>
              </a:rPr>
              <a:t>平均2〜4週間をかけて、じっくり検討されます</a:t>
            </a:r>
            <a:endParaRPr lang="en-US" sz="1200" dirty="0"/>
          </a:p>
        </p:txBody>
      </p:sp>
      <p:sp>
        <p:nvSpPr>
          <p:cNvPr id="8" name="Shape 6"/>
          <p:cNvSpPr/>
          <p:nvPr/>
        </p:nvSpPr>
        <p:spPr>
          <a:xfrm>
            <a:off x="640080" y="1728216"/>
            <a:ext cx="329184" cy="329184"/>
          </a:xfrm>
          <a:prstGeom prst="ellipse">
            <a:avLst/>
          </a:prstGeom>
          <a:solidFill>
            <a:srgbClr val="E8740C"/>
          </a:solidFill>
          <a:ln w="12700">
            <a:solidFill>
              <a:srgbClr val="E8740C"/>
            </a:solidFill>
            <a:prstDash val="solid"/>
          </a:ln>
        </p:spPr>
      </p:sp>
      <p:sp>
        <p:nvSpPr>
          <p:cNvPr id="9" name="Text 7"/>
          <p:cNvSpPr/>
          <p:nvPr/>
        </p:nvSpPr>
        <p:spPr>
          <a:xfrm>
            <a:off x="640080" y="1728216"/>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1</a:t>
            </a:r>
            <a:endParaRPr lang="en-US" sz="1400" dirty="0"/>
          </a:p>
        </p:txBody>
      </p:sp>
      <p:sp>
        <p:nvSpPr>
          <p:cNvPr id="10" name="Shape 8"/>
          <p:cNvSpPr/>
          <p:nvPr/>
        </p:nvSpPr>
        <p:spPr>
          <a:xfrm>
            <a:off x="804672" y="2057400"/>
            <a:ext cx="0" cy="393192"/>
          </a:xfrm>
          <a:prstGeom prst="line">
            <a:avLst/>
          </a:prstGeom>
          <a:noFill/>
          <a:ln w="12700">
            <a:solidFill>
              <a:srgbClr val="E8740C"/>
            </a:solidFill>
            <a:prstDash val="dash"/>
          </a:ln>
        </p:spPr>
      </p:sp>
      <p:sp>
        <p:nvSpPr>
          <p:cNvPr id="11" name="Text 9"/>
          <p:cNvSpPr/>
          <p:nvPr/>
        </p:nvSpPr>
        <p:spPr>
          <a:xfrm>
            <a:off x="1143000" y="1691640"/>
            <a:ext cx="5029200" cy="402336"/>
          </a:xfrm>
          <a:prstGeom prst="rect">
            <a:avLst/>
          </a:prstGeom>
          <a:noFill/>
          <a:ln/>
        </p:spPr>
        <p:txBody>
          <a:bodyPr wrap="square" lIns="0" tIns="0" rIns="0" bIns="0" rtlCol="0" anchor="ctr"/>
          <a:lstStyle/>
          <a:p>
            <a:pPr algn="l" indent="0" marL="0">
              <a:buNone/>
            </a:pPr>
            <a:r>
              <a:rPr lang="en-US" sz="1300" b="1" dirty="0">
                <a:solidFill>
                  <a:srgbClr val="2A1700"/>
                </a:solidFill>
                <a:latin typeface="Yu Gothic" pitchFamily="34" charset="0"/>
                <a:ea typeface="Yu Gothic" pitchFamily="34" charset="-122"/>
                <a:cs typeface="Yu Gothic" pitchFamily="34" charset="-120"/>
              </a:rPr>
              <a:t>YouTubeで動画視聴</a:t>
            </a:r>
            <a:endParaRPr lang="en-US" sz="1300" dirty="0"/>
          </a:p>
        </p:txBody>
      </p:sp>
      <p:sp>
        <p:nvSpPr>
          <p:cNvPr id="12" name="Text 10"/>
          <p:cNvSpPr/>
          <p:nvPr/>
        </p:nvSpPr>
        <p:spPr>
          <a:xfrm>
            <a:off x="6217920" y="1691640"/>
            <a:ext cx="2468880" cy="402336"/>
          </a:xfrm>
          <a:prstGeom prst="rect">
            <a:avLst/>
          </a:prstGeom>
          <a:noFill/>
          <a:ln/>
        </p:spPr>
        <p:txBody>
          <a:bodyPr wrap="square" lIns="0" tIns="0" rIns="0" bIns="0" rtlCol="0" anchor="ctr"/>
          <a:lstStyle/>
          <a:p>
            <a:pPr algn="r" indent="0" marL="0">
              <a:buNone/>
            </a:pPr>
            <a:r>
              <a:rPr lang="en-US" sz="1100" i="1" dirty="0">
                <a:solidFill>
                  <a:srgbClr val="E8740C"/>
                </a:solidFill>
                <a:latin typeface="Yu Gothic" pitchFamily="34" charset="0"/>
                <a:ea typeface="Yu Gothic" pitchFamily="34" charset="-122"/>
                <a:cs typeface="Yu Gothic" pitchFamily="34" charset="-120"/>
              </a:rPr>
              <a:t>「こんな家がいいな」</a:t>
            </a:r>
            <a:endParaRPr lang="en-US" sz="1100" dirty="0"/>
          </a:p>
        </p:txBody>
      </p:sp>
      <p:sp>
        <p:nvSpPr>
          <p:cNvPr id="13" name="Shape 11"/>
          <p:cNvSpPr/>
          <p:nvPr/>
        </p:nvSpPr>
        <p:spPr>
          <a:xfrm>
            <a:off x="640080" y="2139696"/>
            <a:ext cx="329184" cy="329184"/>
          </a:xfrm>
          <a:prstGeom prst="ellipse">
            <a:avLst/>
          </a:prstGeom>
          <a:solidFill>
            <a:srgbClr val="E8740C"/>
          </a:solidFill>
          <a:ln w="12700">
            <a:solidFill>
              <a:srgbClr val="E8740C"/>
            </a:solidFill>
            <a:prstDash val="solid"/>
          </a:ln>
        </p:spPr>
      </p:sp>
      <p:sp>
        <p:nvSpPr>
          <p:cNvPr id="14" name="Text 12"/>
          <p:cNvSpPr/>
          <p:nvPr/>
        </p:nvSpPr>
        <p:spPr>
          <a:xfrm>
            <a:off x="640080" y="2139696"/>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2</a:t>
            </a:r>
            <a:endParaRPr lang="en-US" sz="1400" dirty="0"/>
          </a:p>
        </p:txBody>
      </p:sp>
      <p:sp>
        <p:nvSpPr>
          <p:cNvPr id="15" name="Shape 13"/>
          <p:cNvSpPr/>
          <p:nvPr/>
        </p:nvSpPr>
        <p:spPr>
          <a:xfrm>
            <a:off x="804672" y="2468880"/>
            <a:ext cx="0" cy="393192"/>
          </a:xfrm>
          <a:prstGeom prst="line">
            <a:avLst/>
          </a:prstGeom>
          <a:noFill/>
          <a:ln w="12700">
            <a:solidFill>
              <a:srgbClr val="E8740C"/>
            </a:solidFill>
            <a:prstDash val="dash"/>
          </a:ln>
        </p:spPr>
      </p:sp>
      <p:sp>
        <p:nvSpPr>
          <p:cNvPr id="16" name="Text 14"/>
          <p:cNvSpPr/>
          <p:nvPr/>
        </p:nvSpPr>
        <p:spPr>
          <a:xfrm>
            <a:off x="1143000" y="2103120"/>
            <a:ext cx="5029200" cy="402336"/>
          </a:xfrm>
          <a:prstGeom prst="rect">
            <a:avLst/>
          </a:prstGeom>
          <a:noFill/>
          <a:ln/>
        </p:spPr>
        <p:txBody>
          <a:bodyPr wrap="square" lIns="0" tIns="0" rIns="0" bIns="0" rtlCol="0" anchor="ctr"/>
          <a:lstStyle/>
          <a:p>
            <a:pPr algn="l" indent="0" marL="0">
              <a:buNone/>
            </a:pPr>
            <a:r>
              <a:rPr lang="en-US" sz="1300" b="1" dirty="0">
                <a:solidFill>
                  <a:srgbClr val="2A1700"/>
                </a:solidFill>
                <a:latin typeface="Yu Gothic" pitchFamily="34" charset="0"/>
                <a:ea typeface="Yu Gothic" pitchFamily="34" charset="-122"/>
                <a:cs typeface="Yu Gothic" pitchFamily="34" charset="-120"/>
              </a:rPr>
              <a:t>サイトで施工事例を閲覧</a:t>
            </a:r>
            <a:endParaRPr lang="en-US" sz="1300" dirty="0"/>
          </a:p>
        </p:txBody>
      </p:sp>
      <p:sp>
        <p:nvSpPr>
          <p:cNvPr id="17" name="Text 15"/>
          <p:cNvSpPr/>
          <p:nvPr/>
        </p:nvSpPr>
        <p:spPr>
          <a:xfrm>
            <a:off x="6217920" y="2103120"/>
            <a:ext cx="2468880" cy="402336"/>
          </a:xfrm>
          <a:prstGeom prst="rect">
            <a:avLst/>
          </a:prstGeom>
          <a:noFill/>
          <a:ln/>
        </p:spPr>
        <p:txBody>
          <a:bodyPr wrap="square" lIns="0" tIns="0" rIns="0" bIns="0" rtlCol="0" anchor="ctr"/>
          <a:lstStyle/>
          <a:p>
            <a:pPr algn="r" indent="0" marL="0">
              <a:buNone/>
            </a:pPr>
            <a:r>
              <a:rPr lang="en-US" sz="1100" i="1" dirty="0">
                <a:solidFill>
                  <a:srgbClr val="E8740C"/>
                </a:solidFill>
                <a:latin typeface="Yu Gothic" pitchFamily="34" charset="0"/>
                <a:ea typeface="Yu Gothic" pitchFamily="34" charset="-122"/>
                <a:cs typeface="Yu Gothic" pitchFamily="34" charset="-120"/>
              </a:rPr>
              <a:t>「もっと知りたい」</a:t>
            </a:r>
            <a:endParaRPr lang="en-US" sz="1100" dirty="0"/>
          </a:p>
        </p:txBody>
      </p:sp>
      <p:sp>
        <p:nvSpPr>
          <p:cNvPr id="18" name="Shape 16"/>
          <p:cNvSpPr/>
          <p:nvPr/>
        </p:nvSpPr>
        <p:spPr>
          <a:xfrm>
            <a:off x="640080" y="2551176"/>
            <a:ext cx="329184" cy="329184"/>
          </a:xfrm>
          <a:prstGeom prst="ellipse">
            <a:avLst/>
          </a:prstGeom>
          <a:solidFill>
            <a:srgbClr val="E8740C"/>
          </a:solidFill>
          <a:ln w="12700">
            <a:solidFill>
              <a:srgbClr val="E8740C"/>
            </a:solidFill>
            <a:prstDash val="solid"/>
          </a:ln>
        </p:spPr>
      </p:sp>
      <p:sp>
        <p:nvSpPr>
          <p:cNvPr id="19" name="Text 17"/>
          <p:cNvSpPr/>
          <p:nvPr/>
        </p:nvSpPr>
        <p:spPr>
          <a:xfrm>
            <a:off x="640080" y="2551176"/>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3</a:t>
            </a:r>
            <a:endParaRPr lang="en-US" sz="1400" dirty="0"/>
          </a:p>
        </p:txBody>
      </p:sp>
      <p:sp>
        <p:nvSpPr>
          <p:cNvPr id="20" name="Shape 18"/>
          <p:cNvSpPr/>
          <p:nvPr/>
        </p:nvSpPr>
        <p:spPr>
          <a:xfrm>
            <a:off x="804672" y="2880360"/>
            <a:ext cx="0" cy="393192"/>
          </a:xfrm>
          <a:prstGeom prst="line">
            <a:avLst/>
          </a:prstGeom>
          <a:noFill/>
          <a:ln w="12700">
            <a:solidFill>
              <a:srgbClr val="E8740C"/>
            </a:solidFill>
            <a:prstDash val="dash"/>
          </a:ln>
        </p:spPr>
      </p:sp>
      <p:sp>
        <p:nvSpPr>
          <p:cNvPr id="21" name="Text 19"/>
          <p:cNvSpPr/>
          <p:nvPr/>
        </p:nvSpPr>
        <p:spPr>
          <a:xfrm>
            <a:off x="1143000" y="2514600"/>
            <a:ext cx="5029200" cy="402336"/>
          </a:xfrm>
          <a:prstGeom prst="rect">
            <a:avLst/>
          </a:prstGeom>
          <a:noFill/>
          <a:ln/>
        </p:spPr>
        <p:txBody>
          <a:bodyPr wrap="square" lIns="0" tIns="0" rIns="0" bIns="0" rtlCol="0" anchor="ctr"/>
          <a:lstStyle/>
          <a:p>
            <a:pPr algn="l" indent="0" marL="0">
              <a:buNone/>
            </a:pPr>
            <a:r>
              <a:rPr lang="en-US" sz="1300" b="1" dirty="0">
                <a:solidFill>
                  <a:srgbClr val="2A1700"/>
                </a:solidFill>
                <a:latin typeface="Yu Gothic" pitchFamily="34" charset="0"/>
                <a:ea typeface="Yu Gothic" pitchFamily="34" charset="-122"/>
                <a:cs typeface="Yu Gothic" pitchFamily="34" charset="-120"/>
              </a:rPr>
              <a:t>無料会員登録 + カタログDL</a:t>
            </a:r>
            <a:endParaRPr lang="en-US" sz="1300" dirty="0"/>
          </a:p>
        </p:txBody>
      </p:sp>
      <p:sp>
        <p:nvSpPr>
          <p:cNvPr id="22" name="Text 20"/>
          <p:cNvSpPr/>
          <p:nvPr/>
        </p:nvSpPr>
        <p:spPr>
          <a:xfrm>
            <a:off x="6217920" y="2514600"/>
            <a:ext cx="2468880" cy="402336"/>
          </a:xfrm>
          <a:prstGeom prst="rect">
            <a:avLst/>
          </a:prstGeom>
          <a:noFill/>
          <a:ln/>
        </p:spPr>
        <p:txBody>
          <a:bodyPr wrap="square" lIns="0" tIns="0" rIns="0" bIns="0" rtlCol="0" anchor="ctr"/>
          <a:lstStyle/>
          <a:p>
            <a:pPr algn="r" indent="0" marL="0">
              <a:buNone/>
            </a:pPr>
            <a:r>
              <a:rPr lang="en-US" sz="1100" i="1" dirty="0">
                <a:solidFill>
                  <a:srgbClr val="E8740C"/>
                </a:solidFill>
                <a:latin typeface="Yu Gothic" pitchFamily="34" charset="0"/>
                <a:ea typeface="Yu Gothic" pitchFamily="34" charset="-122"/>
                <a:cs typeface="Yu Gothic" pitchFamily="34" charset="-120"/>
              </a:rPr>
              <a:t>「自分に合う工務店は？」</a:t>
            </a:r>
            <a:endParaRPr lang="en-US" sz="1100" dirty="0"/>
          </a:p>
        </p:txBody>
      </p:sp>
      <p:sp>
        <p:nvSpPr>
          <p:cNvPr id="23" name="Shape 21"/>
          <p:cNvSpPr/>
          <p:nvPr/>
        </p:nvSpPr>
        <p:spPr>
          <a:xfrm>
            <a:off x="640080" y="2962656"/>
            <a:ext cx="329184" cy="329184"/>
          </a:xfrm>
          <a:prstGeom prst="ellipse">
            <a:avLst/>
          </a:prstGeom>
          <a:solidFill>
            <a:srgbClr val="E8740C"/>
          </a:solidFill>
          <a:ln w="12700">
            <a:solidFill>
              <a:srgbClr val="E8740C"/>
            </a:solidFill>
            <a:prstDash val="solid"/>
          </a:ln>
        </p:spPr>
      </p:sp>
      <p:sp>
        <p:nvSpPr>
          <p:cNvPr id="24" name="Text 22"/>
          <p:cNvSpPr/>
          <p:nvPr/>
        </p:nvSpPr>
        <p:spPr>
          <a:xfrm>
            <a:off x="640080" y="2962656"/>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4</a:t>
            </a:r>
            <a:endParaRPr lang="en-US" sz="1400" dirty="0"/>
          </a:p>
        </p:txBody>
      </p:sp>
      <p:sp>
        <p:nvSpPr>
          <p:cNvPr id="25" name="Shape 23"/>
          <p:cNvSpPr/>
          <p:nvPr/>
        </p:nvSpPr>
        <p:spPr>
          <a:xfrm>
            <a:off x="804672" y="3291840"/>
            <a:ext cx="0" cy="393192"/>
          </a:xfrm>
          <a:prstGeom prst="line">
            <a:avLst/>
          </a:prstGeom>
          <a:noFill/>
          <a:ln w="12700">
            <a:solidFill>
              <a:srgbClr val="E8740C"/>
            </a:solidFill>
            <a:prstDash val="dash"/>
          </a:ln>
        </p:spPr>
      </p:sp>
      <p:sp>
        <p:nvSpPr>
          <p:cNvPr id="26" name="Text 24"/>
          <p:cNvSpPr/>
          <p:nvPr/>
        </p:nvSpPr>
        <p:spPr>
          <a:xfrm>
            <a:off x="1143000" y="2926080"/>
            <a:ext cx="5029200" cy="402336"/>
          </a:xfrm>
          <a:prstGeom prst="rect">
            <a:avLst/>
          </a:prstGeom>
          <a:noFill/>
          <a:ln/>
        </p:spPr>
        <p:txBody>
          <a:bodyPr wrap="square" lIns="0" tIns="0" rIns="0" bIns="0" rtlCol="0" anchor="ctr"/>
          <a:lstStyle/>
          <a:p>
            <a:pPr algn="l" indent="0" marL="0">
              <a:buNone/>
            </a:pPr>
            <a:r>
              <a:rPr lang="en-US" sz="1300" b="1" dirty="0">
                <a:solidFill>
                  <a:srgbClr val="2A1700"/>
                </a:solidFill>
                <a:latin typeface="Yu Gothic" pitchFamily="34" charset="0"/>
                <a:ea typeface="Yu Gothic" pitchFamily="34" charset="-122"/>
                <a:cs typeface="Yu Gothic" pitchFamily="34" charset="-120"/>
              </a:rPr>
              <a:t>AI家づくり診断（2分）</a:t>
            </a:r>
            <a:endParaRPr lang="en-US" sz="1300" dirty="0"/>
          </a:p>
        </p:txBody>
      </p:sp>
      <p:sp>
        <p:nvSpPr>
          <p:cNvPr id="27" name="Text 25"/>
          <p:cNvSpPr/>
          <p:nvPr/>
        </p:nvSpPr>
        <p:spPr>
          <a:xfrm>
            <a:off x="6217920" y="2926080"/>
            <a:ext cx="2468880" cy="402336"/>
          </a:xfrm>
          <a:prstGeom prst="rect">
            <a:avLst/>
          </a:prstGeom>
          <a:noFill/>
          <a:ln/>
        </p:spPr>
        <p:txBody>
          <a:bodyPr wrap="square" lIns="0" tIns="0" rIns="0" bIns="0" rtlCol="0" anchor="ctr"/>
          <a:lstStyle/>
          <a:p>
            <a:pPr algn="r" indent="0" marL="0">
              <a:buNone/>
            </a:pPr>
            <a:r>
              <a:rPr lang="en-US" sz="1100" i="1" dirty="0">
                <a:solidFill>
                  <a:srgbClr val="E8740C"/>
                </a:solidFill>
                <a:latin typeface="Yu Gothic" pitchFamily="34" charset="0"/>
                <a:ea typeface="Yu Gothic" pitchFamily="34" charset="-122"/>
                <a:cs typeface="Yu Gothic" pitchFamily="34" charset="-120"/>
              </a:rPr>
              <a:t>相性の良い3社を提案</a:t>
            </a:r>
            <a:endParaRPr lang="en-US" sz="1100" dirty="0"/>
          </a:p>
        </p:txBody>
      </p:sp>
      <p:sp>
        <p:nvSpPr>
          <p:cNvPr id="28" name="Shape 26"/>
          <p:cNvSpPr/>
          <p:nvPr/>
        </p:nvSpPr>
        <p:spPr>
          <a:xfrm>
            <a:off x="640080" y="3374136"/>
            <a:ext cx="329184" cy="329184"/>
          </a:xfrm>
          <a:prstGeom prst="ellipse">
            <a:avLst/>
          </a:prstGeom>
          <a:solidFill>
            <a:srgbClr val="E8740C"/>
          </a:solidFill>
          <a:ln w="12700">
            <a:solidFill>
              <a:srgbClr val="E8740C"/>
            </a:solidFill>
            <a:prstDash val="solid"/>
          </a:ln>
        </p:spPr>
      </p:sp>
      <p:sp>
        <p:nvSpPr>
          <p:cNvPr id="29" name="Text 27"/>
          <p:cNvSpPr/>
          <p:nvPr/>
        </p:nvSpPr>
        <p:spPr>
          <a:xfrm>
            <a:off x="640080" y="3374136"/>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5</a:t>
            </a:r>
            <a:endParaRPr lang="en-US" sz="1400" dirty="0"/>
          </a:p>
        </p:txBody>
      </p:sp>
      <p:sp>
        <p:nvSpPr>
          <p:cNvPr id="30" name="Shape 28"/>
          <p:cNvSpPr/>
          <p:nvPr/>
        </p:nvSpPr>
        <p:spPr>
          <a:xfrm>
            <a:off x="804672" y="3703320"/>
            <a:ext cx="0" cy="393192"/>
          </a:xfrm>
          <a:prstGeom prst="line">
            <a:avLst/>
          </a:prstGeom>
          <a:noFill/>
          <a:ln w="12700">
            <a:solidFill>
              <a:srgbClr val="E8740C"/>
            </a:solidFill>
            <a:prstDash val="dash"/>
          </a:ln>
        </p:spPr>
      </p:sp>
      <p:sp>
        <p:nvSpPr>
          <p:cNvPr id="31" name="Text 29"/>
          <p:cNvSpPr/>
          <p:nvPr/>
        </p:nvSpPr>
        <p:spPr>
          <a:xfrm>
            <a:off x="1143000" y="3337560"/>
            <a:ext cx="5029200" cy="402336"/>
          </a:xfrm>
          <a:prstGeom prst="rect">
            <a:avLst/>
          </a:prstGeom>
          <a:noFill/>
          <a:ln/>
        </p:spPr>
        <p:txBody>
          <a:bodyPr wrap="square" lIns="0" tIns="0" rIns="0" bIns="0" rtlCol="0" anchor="ctr"/>
          <a:lstStyle/>
          <a:p>
            <a:pPr algn="l" indent="0" marL="0">
              <a:buNone/>
            </a:pPr>
            <a:r>
              <a:rPr lang="en-US" sz="1300" b="1" dirty="0">
                <a:solidFill>
                  <a:srgbClr val="2A1700"/>
                </a:solidFill>
                <a:latin typeface="Yu Gothic" pitchFamily="34" charset="0"/>
                <a:ea typeface="Yu Gothic" pitchFamily="34" charset="-122"/>
                <a:cs typeface="Yu Gothic" pitchFamily="34" charset="-120"/>
              </a:rPr>
              <a:t>工務店ページで詳細確認</a:t>
            </a:r>
            <a:endParaRPr lang="en-US" sz="1300" dirty="0"/>
          </a:p>
        </p:txBody>
      </p:sp>
      <p:sp>
        <p:nvSpPr>
          <p:cNvPr id="32" name="Text 30"/>
          <p:cNvSpPr/>
          <p:nvPr/>
        </p:nvSpPr>
        <p:spPr>
          <a:xfrm>
            <a:off x="6217920" y="3337560"/>
            <a:ext cx="2468880" cy="402336"/>
          </a:xfrm>
          <a:prstGeom prst="rect">
            <a:avLst/>
          </a:prstGeom>
          <a:noFill/>
          <a:ln/>
        </p:spPr>
        <p:txBody>
          <a:bodyPr wrap="square" lIns="0" tIns="0" rIns="0" bIns="0" rtlCol="0" anchor="ctr"/>
          <a:lstStyle/>
          <a:p>
            <a:pPr algn="r" indent="0" marL="0">
              <a:buNone/>
            </a:pPr>
            <a:r>
              <a:rPr lang="en-US" sz="1100" i="1" dirty="0">
                <a:solidFill>
                  <a:srgbClr val="E8740C"/>
                </a:solidFill>
                <a:latin typeface="Yu Gothic" pitchFamily="34" charset="0"/>
                <a:ea typeface="Yu Gothic" pitchFamily="34" charset="-122"/>
                <a:cs typeface="Yu Gothic" pitchFamily="34" charset="-120"/>
              </a:rPr>
              <a:t>「この会社なら会いたい」</a:t>
            </a:r>
            <a:endParaRPr lang="en-US" sz="1100" dirty="0"/>
          </a:p>
        </p:txBody>
      </p:sp>
      <p:sp>
        <p:nvSpPr>
          <p:cNvPr id="33" name="Shape 31"/>
          <p:cNvSpPr/>
          <p:nvPr/>
        </p:nvSpPr>
        <p:spPr>
          <a:xfrm>
            <a:off x="640080" y="3785616"/>
            <a:ext cx="329184" cy="329184"/>
          </a:xfrm>
          <a:prstGeom prst="ellipse">
            <a:avLst/>
          </a:prstGeom>
          <a:solidFill>
            <a:srgbClr val="E8740C"/>
          </a:solidFill>
          <a:ln w="12700">
            <a:solidFill>
              <a:srgbClr val="E8740C"/>
            </a:solidFill>
            <a:prstDash val="solid"/>
          </a:ln>
        </p:spPr>
      </p:sp>
      <p:sp>
        <p:nvSpPr>
          <p:cNvPr id="34" name="Text 32"/>
          <p:cNvSpPr/>
          <p:nvPr/>
        </p:nvSpPr>
        <p:spPr>
          <a:xfrm>
            <a:off x="640080" y="3785616"/>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6</a:t>
            </a:r>
            <a:endParaRPr lang="en-US" sz="1400" dirty="0"/>
          </a:p>
        </p:txBody>
      </p:sp>
      <p:sp>
        <p:nvSpPr>
          <p:cNvPr id="35" name="Shape 33"/>
          <p:cNvSpPr/>
          <p:nvPr/>
        </p:nvSpPr>
        <p:spPr>
          <a:xfrm>
            <a:off x="804672" y="4114800"/>
            <a:ext cx="0" cy="393192"/>
          </a:xfrm>
          <a:prstGeom prst="line">
            <a:avLst/>
          </a:prstGeom>
          <a:noFill/>
          <a:ln w="12700">
            <a:solidFill>
              <a:srgbClr val="E8740C"/>
            </a:solidFill>
            <a:prstDash val="dash"/>
          </a:ln>
        </p:spPr>
      </p:sp>
      <p:sp>
        <p:nvSpPr>
          <p:cNvPr id="36" name="Text 34"/>
          <p:cNvSpPr/>
          <p:nvPr/>
        </p:nvSpPr>
        <p:spPr>
          <a:xfrm>
            <a:off x="1143000" y="3749040"/>
            <a:ext cx="5029200" cy="402336"/>
          </a:xfrm>
          <a:prstGeom prst="rect">
            <a:avLst/>
          </a:prstGeom>
          <a:noFill/>
          <a:ln/>
        </p:spPr>
        <p:txBody>
          <a:bodyPr wrap="square" lIns="0" tIns="0" rIns="0" bIns="0" rtlCol="0" anchor="ctr"/>
          <a:lstStyle/>
          <a:p>
            <a:pPr algn="l" indent="0" marL="0">
              <a:buNone/>
            </a:pPr>
            <a:r>
              <a:rPr lang="en-US" sz="1300" b="1" dirty="0">
                <a:solidFill>
                  <a:srgbClr val="2A1700"/>
                </a:solidFill>
                <a:latin typeface="Yu Gothic" pitchFamily="34" charset="0"/>
                <a:ea typeface="Yu Gothic" pitchFamily="34" charset="-122"/>
                <a:cs typeface="Yu Gothic" pitchFamily="34" charset="-120"/>
              </a:rPr>
              <a:t>見学会予約（希望を事前登録）</a:t>
            </a:r>
            <a:endParaRPr lang="en-US" sz="1300" dirty="0"/>
          </a:p>
        </p:txBody>
      </p:sp>
      <p:sp>
        <p:nvSpPr>
          <p:cNvPr id="37" name="Text 35"/>
          <p:cNvSpPr/>
          <p:nvPr/>
        </p:nvSpPr>
        <p:spPr>
          <a:xfrm>
            <a:off x="6217920" y="3749040"/>
            <a:ext cx="2468880" cy="402336"/>
          </a:xfrm>
          <a:prstGeom prst="rect">
            <a:avLst/>
          </a:prstGeom>
          <a:noFill/>
          <a:ln/>
        </p:spPr>
        <p:txBody>
          <a:bodyPr wrap="square" lIns="0" tIns="0" rIns="0" bIns="0" rtlCol="0" anchor="ctr"/>
          <a:lstStyle/>
          <a:p>
            <a:pPr algn="r" indent="0" marL="0">
              <a:buNone/>
            </a:pPr>
            <a:r>
              <a:rPr lang="en-US" sz="1100" i="1" dirty="0">
                <a:solidFill>
                  <a:srgbClr val="E8740C"/>
                </a:solidFill>
                <a:latin typeface="Yu Gothic" pitchFamily="34" charset="0"/>
                <a:ea typeface="Yu Gothic" pitchFamily="34" charset="-122"/>
                <a:cs typeface="Yu Gothic" pitchFamily="34" charset="-120"/>
              </a:rPr>
              <a:t>「担当者と初対面」へ</a:t>
            </a:r>
            <a:endParaRPr lang="en-US" sz="1100" dirty="0"/>
          </a:p>
        </p:txBody>
      </p:sp>
      <p:sp>
        <p:nvSpPr>
          <p:cNvPr id="38" name="Shape 36"/>
          <p:cNvSpPr/>
          <p:nvPr/>
        </p:nvSpPr>
        <p:spPr>
          <a:xfrm>
            <a:off x="640080" y="4197096"/>
            <a:ext cx="329184" cy="329184"/>
          </a:xfrm>
          <a:prstGeom prst="ellipse">
            <a:avLst/>
          </a:prstGeom>
          <a:solidFill>
            <a:srgbClr val="E8740C"/>
          </a:solidFill>
          <a:ln w="12700">
            <a:solidFill>
              <a:srgbClr val="E8740C"/>
            </a:solidFill>
            <a:prstDash val="solid"/>
          </a:ln>
        </p:spPr>
      </p:sp>
      <p:sp>
        <p:nvSpPr>
          <p:cNvPr id="39" name="Text 37"/>
          <p:cNvSpPr/>
          <p:nvPr/>
        </p:nvSpPr>
        <p:spPr>
          <a:xfrm>
            <a:off x="640080" y="4197096"/>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7</a:t>
            </a:r>
            <a:endParaRPr lang="en-US" sz="1400" dirty="0"/>
          </a:p>
        </p:txBody>
      </p:sp>
      <p:sp>
        <p:nvSpPr>
          <p:cNvPr id="40" name="Text 38"/>
          <p:cNvSpPr/>
          <p:nvPr/>
        </p:nvSpPr>
        <p:spPr>
          <a:xfrm>
            <a:off x="1143000" y="4160520"/>
            <a:ext cx="5029200" cy="402336"/>
          </a:xfrm>
          <a:prstGeom prst="rect">
            <a:avLst/>
          </a:prstGeom>
          <a:noFill/>
          <a:ln/>
        </p:spPr>
        <p:txBody>
          <a:bodyPr wrap="square" lIns="0" tIns="0" rIns="0" bIns="0" rtlCol="0" anchor="ctr"/>
          <a:lstStyle/>
          <a:p>
            <a:pPr algn="l" indent="0" marL="0">
              <a:buNone/>
            </a:pPr>
            <a:r>
              <a:rPr lang="en-US" sz="1300" b="1" dirty="0">
                <a:solidFill>
                  <a:srgbClr val="2A1700"/>
                </a:solidFill>
                <a:latin typeface="Yu Gothic" pitchFamily="34" charset="0"/>
                <a:ea typeface="Yu Gothic" pitchFamily="34" charset="-122"/>
                <a:cs typeface="Yu Gothic" pitchFamily="34" charset="-120"/>
              </a:rPr>
              <a:t>工務店様と初めての対面</a:t>
            </a:r>
            <a:endParaRPr lang="en-US" sz="1300" dirty="0"/>
          </a:p>
        </p:txBody>
      </p:sp>
      <p:sp>
        <p:nvSpPr>
          <p:cNvPr id="41" name="Text 39"/>
          <p:cNvSpPr/>
          <p:nvPr/>
        </p:nvSpPr>
        <p:spPr>
          <a:xfrm>
            <a:off x="6217920" y="4160520"/>
            <a:ext cx="2468880" cy="402336"/>
          </a:xfrm>
          <a:prstGeom prst="rect">
            <a:avLst/>
          </a:prstGeom>
          <a:noFill/>
          <a:ln/>
        </p:spPr>
        <p:txBody>
          <a:bodyPr wrap="square" lIns="0" tIns="0" rIns="0" bIns="0" rtlCol="0" anchor="ctr"/>
          <a:lstStyle/>
          <a:p>
            <a:pPr algn="r" indent="0" marL="0">
              <a:buNone/>
            </a:pPr>
            <a:r>
              <a:rPr lang="en-US" sz="1100" i="1" dirty="0">
                <a:solidFill>
                  <a:srgbClr val="E8740C"/>
                </a:solidFill>
                <a:latin typeface="Yu Gothic" pitchFamily="34" charset="0"/>
                <a:ea typeface="Yu Gothic" pitchFamily="34" charset="-122"/>
                <a:cs typeface="Yu Gothic" pitchFamily="34" charset="-120"/>
              </a:rPr>
              <a:t>心を寄せた状態で来場</a:t>
            </a:r>
            <a:endParaRPr lang="en-US" sz="1100" dirty="0"/>
          </a:p>
        </p:txBody>
      </p:sp>
      <p:sp>
        <p:nvSpPr>
          <p:cNvPr id="42" name="Shape 40"/>
          <p:cNvSpPr/>
          <p:nvPr/>
        </p:nvSpPr>
        <p:spPr>
          <a:xfrm>
            <a:off x="365760" y="4823460"/>
            <a:ext cx="8412480" cy="0"/>
          </a:xfrm>
          <a:prstGeom prst="line">
            <a:avLst/>
          </a:prstGeom>
          <a:noFill/>
          <a:ln w="9525">
            <a:solidFill>
              <a:srgbClr val="EBDFD0"/>
            </a:solidFill>
            <a:prstDash val="solid"/>
          </a:ln>
        </p:spPr>
      </p:sp>
      <p:sp>
        <p:nvSpPr>
          <p:cNvPr id="43" name="Text 41"/>
          <p:cNvSpPr/>
          <p:nvPr/>
        </p:nvSpPr>
        <p:spPr>
          <a:xfrm>
            <a:off x="365760" y="4850892"/>
            <a:ext cx="4572000" cy="274320"/>
          </a:xfrm>
          <a:prstGeom prst="rect">
            <a:avLst/>
          </a:prstGeom>
          <a:noFill/>
          <a:ln/>
        </p:spPr>
        <p:txBody>
          <a:bodyPr wrap="square" lIns="0" tIns="0" rIns="0" bIns="0" rtlCol="0" anchor="ctr"/>
          <a:lstStyle/>
          <a:p>
            <a:pPr algn="l" indent="0" marL="0">
              <a:buNone/>
            </a:pPr>
            <a:r>
              <a:rPr lang="en-US" sz="900" dirty="0">
                <a:solidFill>
                  <a:srgbClr val="6B5A47"/>
                </a:solidFill>
                <a:latin typeface="Yu Gothic" pitchFamily="34" charset="0"/>
                <a:ea typeface="Yu Gothic" pitchFamily="34" charset="-122"/>
                <a:cs typeface="Yu Gothic" pitchFamily="34" charset="-120"/>
              </a:rPr>
              <a:t>ぺいほーむ ポータルサイト</a:t>
            </a:r>
            <a:endParaRPr lang="en-US" sz="900" dirty="0"/>
          </a:p>
        </p:txBody>
      </p:sp>
      <p:sp>
        <p:nvSpPr>
          <p:cNvPr id="44" name="Text 42"/>
          <p:cNvSpPr/>
          <p:nvPr/>
        </p:nvSpPr>
        <p:spPr>
          <a:xfrm>
            <a:off x="4206240" y="4850892"/>
            <a:ext cx="4572000" cy="274320"/>
          </a:xfrm>
          <a:prstGeom prst="rect">
            <a:avLst/>
          </a:prstGeom>
          <a:noFill/>
          <a:ln/>
        </p:spPr>
        <p:txBody>
          <a:bodyPr wrap="square" lIns="0" tIns="0" rIns="0" bIns="0" rtlCol="0" anchor="ctr"/>
          <a:lstStyle/>
          <a:p>
            <a:pPr algn="r" indent="0" marL="0">
              <a:buNone/>
            </a:pPr>
            <a:r>
              <a:rPr lang="en-US" sz="900" i="1" dirty="0">
                <a:solidFill>
                  <a:srgbClr val="6B5A47"/>
                </a:solidFill>
                <a:latin typeface="Yu Gothic" pitchFamily="34" charset="0"/>
                <a:ea typeface="Yu Gothic" pitchFamily="34" charset="-122"/>
                <a:cs typeface="Yu Gothic" pitchFamily="34" charset="-120"/>
              </a:rPr>
              <a:t>本気の出会いを、誠実に。</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8740C"/>
          </a:solidFill>
          <a:ln w="12700">
            <a:solidFill>
              <a:srgbClr val="E8740C"/>
            </a:solidFill>
            <a:prstDash val="solid"/>
          </a:ln>
        </p:spPr>
      </p:sp>
      <p:sp>
        <p:nvSpPr>
          <p:cNvPr id="3" name="Text 1"/>
          <p:cNvSpPr/>
          <p:nvPr/>
        </p:nvSpPr>
        <p:spPr>
          <a:xfrm>
            <a:off x="365760" y="182880"/>
            <a:ext cx="1097280" cy="274320"/>
          </a:xfrm>
          <a:prstGeom prst="rect">
            <a:avLst/>
          </a:prstGeom>
          <a:noFill/>
          <a:ln/>
        </p:spPr>
        <p:txBody>
          <a:bodyPr wrap="square" lIns="0" tIns="0" rIns="0" bIns="0" rtlCol="0" anchor="ctr"/>
          <a:lstStyle/>
          <a:p>
            <a:pPr algn="l" indent="0" marL="0">
              <a:buNone/>
            </a:pPr>
            <a:r>
              <a:rPr lang="en-US" sz="1000" b="1" dirty="0">
                <a:solidFill>
                  <a:srgbClr val="E8740C"/>
                </a:solidFill>
                <a:latin typeface="Yu Gothic" pitchFamily="34" charset="0"/>
                <a:ea typeface="Yu Gothic" pitchFamily="34" charset="-122"/>
                <a:cs typeface="Yu Gothic" pitchFamily="34" charset="-120"/>
              </a:rPr>
              <a:t>14 / 20</a:t>
            </a:r>
            <a:endParaRPr lang="en-US" sz="1000" dirty="0"/>
          </a:p>
        </p:txBody>
      </p:sp>
      <p:sp>
        <p:nvSpPr>
          <p:cNvPr id="4" name="Text 2"/>
          <p:cNvSpPr/>
          <p:nvPr/>
        </p:nvSpPr>
        <p:spPr>
          <a:xfrm>
            <a:off x="1554480" y="182880"/>
            <a:ext cx="7223760" cy="274320"/>
          </a:xfrm>
          <a:prstGeom prst="rect">
            <a:avLst/>
          </a:prstGeom>
          <a:noFill/>
          <a:ln/>
        </p:spPr>
        <p:txBody>
          <a:bodyPr wrap="square" lIns="0" tIns="0" rIns="0" bIns="0" rtlCol="0" anchor="ctr"/>
          <a:lstStyle/>
          <a:p>
            <a:pPr algn="r" indent="0" marL="0">
              <a:buNone/>
            </a:pPr>
            <a:r>
              <a:rPr lang="en-US" sz="1000" dirty="0">
                <a:solidFill>
                  <a:srgbClr val="6B5A47"/>
                </a:solidFill>
                <a:latin typeface="Yu Gothic" pitchFamily="34" charset="0"/>
                <a:ea typeface="Yu Gothic" pitchFamily="34" charset="-122"/>
                <a:cs typeface="Yu Gothic" pitchFamily="34" charset="-120"/>
              </a:rPr>
              <a:t>工務店様にできること</a:t>
            </a:r>
            <a:endParaRPr lang="en-US" sz="1000" dirty="0"/>
          </a:p>
        </p:txBody>
      </p:sp>
      <p:sp>
        <p:nvSpPr>
          <p:cNvPr id="5" name="Shape 3"/>
          <p:cNvSpPr/>
          <p:nvPr/>
        </p:nvSpPr>
        <p:spPr>
          <a:xfrm>
            <a:off x="457200" y="685800"/>
            <a:ext cx="109728" cy="502920"/>
          </a:xfrm>
          <a:prstGeom prst="rect">
            <a:avLst/>
          </a:prstGeom>
          <a:solidFill>
            <a:srgbClr val="E8740C"/>
          </a:solidFill>
          <a:ln w="12700">
            <a:solidFill>
              <a:srgbClr val="E8740C"/>
            </a:solidFill>
            <a:prstDash val="solid"/>
          </a:ln>
        </p:spPr>
      </p:sp>
      <p:sp>
        <p:nvSpPr>
          <p:cNvPr id="6" name="Text 4"/>
          <p:cNvSpPr/>
          <p:nvPr/>
        </p:nvSpPr>
        <p:spPr>
          <a:xfrm>
            <a:off x="685800" y="640080"/>
            <a:ext cx="8229600" cy="594360"/>
          </a:xfrm>
          <a:prstGeom prst="rect">
            <a:avLst/>
          </a:prstGeom>
          <a:noFill/>
          <a:ln/>
        </p:spPr>
        <p:txBody>
          <a:bodyPr wrap="square" lIns="0" tIns="0" rIns="0" bIns="0" rtlCol="0" anchor="ctr"/>
          <a:lstStyle/>
          <a:p>
            <a:pPr algn="l" indent="0" marL="0">
              <a:buNone/>
            </a:pPr>
            <a:r>
              <a:rPr lang="en-US" sz="2600" b="1" dirty="0">
                <a:solidFill>
                  <a:srgbClr val="2A1700"/>
                </a:solidFill>
                <a:latin typeface="Yu Gothic" pitchFamily="34" charset="0"/>
                <a:ea typeface="Yu Gothic" pitchFamily="34" charset="-122"/>
                <a:cs typeface="Yu Gothic" pitchFamily="34" charset="-120"/>
              </a:rPr>
              <a:t>専用の管理画面をご用意しております</a:t>
            </a:r>
            <a:endParaRPr lang="en-US" sz="2600" dirty="0"/>
          </a:p>
        </p:txBody>
      </p:sp>
      <p:sp>
        <p:nvSpPr>
          <p:cNvPr id="7" name="Text 5"/>
          <p:cNvSpPr/>
          <p:nvPr/>
        </p:nvSpPr>
        <p:spPr>
          <a:xfrm>
            <a:off x="685800" y="1207008"/>
            <a:ext cx="8229600" cy="274320"/>
          </a:xfrm>
          <a:prstGeom prst="rect">
            <a:avLst/>
          </a:prstGeom>
          <a:noFill/>
          <a:ln/>
        </p:spPr>
        <p:txBody>
          <a:bodyPr wrap="square" lIns="0" tIns="0" rIns="0" bIns="0" rtlCol="0" anchor="ctr"/>
          <a:lstStyle/>
          <a:p>
            <a:pPr algn="l" indent="0" marL="0">
              <a:buNone/>
            </a:pPr>
            <a:r>
              <a:rPr lang="en-US" sz="1200" dirty="0">
                <a:solidFill>
                  <a:srgbClr val="6B5A47"/>
                </a:solidFill>
                <a:latin typeface="Yu Gothic" pitchFamily="34" charset="0"/>
                <a:ea typeface="Yu Gothic" pitchFamily="34" charset="-122"/>
                <a:cs typeface="Yu Gothic" pitchFamily="34" charset="-120"/>
              </a:rPr>
              <a:t>パソコンからもスマートフォンからもご利用いただけます</a:t>
            </a:r>
            <a:endParaRPr lang="en-US" sz="1200" dirty="0"/>
          </a:p>
        </p:txBody>
      </p:sp>
      <p:sp>
        <p:nvSpPr>
          <p:cNvPr id="8" name="Shape 6"/>
          <p:cNvSpPr/>
          <p:nvPr/>
        </p:nvSpPr>
        <p:spPr>
          <a:xfrm>
            <a:off x="457200" y="1691640"/>
            <a:ext cx="2011680" cy="1261872"/>
          </a:xfrm>
          <a:prstGeom prst="rect">
            <a:avLst/>
          </a:prstGeom>
          <a:solidFill>
            <a:srgbClr val="FFF8F0"/>
          </a:solidFill>
          <a:ln w="12700">
            <a:solidFill>
              <a:srgbClr val="EBDFD0"/>
            </a:solidFill>
            <a:prstDash val="solid"/>
          </a:ln>
        </p:spPr>
      </p:sp>
      <p:sp>
        <p:nvSpPr>
          <p:cNvPr id="9" name="Shape 7"/>
          <p:cNvSpPr/>
          <p:nvPr/>
        </p:nvSpPr>
        <p:spPr>
          <a:xfrm>
            <a:off x="457200" y="1691640"/>
            <a:ext cx="2011680" cy="54864"/>
          </a:xfrm>
          <a:prstGeom prst="rect">
            <a:avLst/>
          </a:prstGeom>
          <a:solidFill>
            <a:srgbClr val="E8740C"/>
          </a:solidFill>
          <a:ln w="12700">
            <a:solidFill>
              <a:srgbClr val="E8740C"/>
            </a:solidFill>
            <a:prstDash val="solid"/>
          </a:ln>
        </p:spPr>
      </p:sp>
      <p:sp>
        <p:nvSpPr>
          <p:cNvPr id="10" name="Text 8"/>
          <p:cNvSpPr/>
          <p:nvPr/>
        </p:nvSpPr>
        <p:spPr>
          <a:xfrm>
            <a:off x="566928" y="1828800"/>
            <a:ext cx="1792224" cy="365760"/>
          </a:xfrm>
          <a:prstGeom prst="rect">
            <a:avLst/>
          </a:prstGeom>
          <a:noFill/>
          <a:ln/>
        </p:spPr>
        <p:txBody>
          <a:bodyPr wrap="square" lIns="0" tIns="0" rIns="0" bIns="0" rtlCol="0" anchor="ctr"/>
          <a:lstStyle/>
          <a:p>
            <a:pPr algn="l" indent="0" marL="0">
              <a:buNone/>
            </a:pPr>
            <a:r>
              <a:rPr lang="en-US" sz="1200" b="1" dirty="0">
                <a:solidFill>
                  <a:srgbClr val="2A1700"/>
                </a:solidFill>
                <a:latin typeface="Yu Gothic" pitchFamily="34" charset="0"/>
                <a:ea typeface="Yu Gothic" pitchFamily="34" charset="-122"/>
                <a:cs typeface="Yu Gothic" pitchFamily="34" charset="-120"/>
              </a:rPr>
              <a:t>掲載情報の編集</a:t>
            </a:r>
            <a:endParaRPr lang="en-US" sz="1200" dirty="0"/>
          </a:p>
        </p:txBody>
      </p:sp>
      <p:sp>
        <p:nvSpPr>
          <p:cNvPr id="11" name="Text 9"/>
          <p:cNvSpPr/>
          <p:nvPr/>
        </p:nvSpPr>
        <p:spPr>
          <a:xfrm>
            <a:off x="566928" y="2194560"/>
            <a:ext cx="1792224" cy="713232"/>
          </a:xfrm>
          <a:prstGeom prst="rect">
            <a:avLst/>
          </a:prstGeom>
          <a:noFill/>
          <a:ln/>
        </p:spPr>
        <p:txBody>
          <a:bodyPr wrap="square" lIns="0" tIns="0" rIns="0" bIns="0" rtlCol="0" anchor="t"/>
          <a:lstStyle/>
          <a:p>
            <a:pPr algn="l" indent="0" marL="0">
              <a:buNone/>
            </a:pPr>
            <a:r>
              <a:rPr lang="en-US" sz="950" dirty="0">
                <a:solidFill>
                  <a:srgbClr val="3D2200"/>
                </a:solidFill>
                <a:latin typeface="Yu Gothic" pitchFamily="34" charset="0"/>
                <a:ea typeface="Yu Gothic" pitchFamily="34" charset="-122"/>
                <a:cs typeface="Yu Gothic" pitchFamily="34" charset="-120"/>
              </a:rPr>
              <a:t>会社紹介・強み・対応エリア・坪単価を自由に更新</a:t>
            </a:r>
            <a:endParaRPr lang="en-US" sz="950" dirty="0"/>
          </a:p>
        </p:txBody>
      </p:sp>
      <p:sp>
        <p:nvSpPr>
          <p:cNvPr id="12" name="Shape 10"/>
          <p:cNvSpPr/>
          <p:nvPr/>
        </p:nvSpPr>
        <p:spPr>
          <a:xfrm>
            <a:off x="2542032" y="1691640"/>
            <a:ext cx="2011680" cy="1261872"/>
          </a:xfrm>
          <a:prstGeom prst="rect">
            <a:avLst/>
          </a:prstGeom>
          <a:solidFill>
            <a:srgbClr val="FFF8F0"/>
          </a:solidFill>
          <a:ln w="12700">
            <a:solidFill>
              <a:srgbClr val="EBDFD0"/>
            </a:solidFill>
            <a:prstDash val="solid"/>
          </a:ln>
        </p:spPr>
      </p:sp>
      <p:sp>
        <p:nvSpPr>
          <p:cNvPr id="13" name="Shape 11"/>
          <p:cNvSpPr/>
          <p:nvPr/>
        </p:nvSpPr>
        <p:spPr>
          <a:xfrm>
            <a:off x="2542032" y="1691640"/>
            <a:ext cx="2011680" cy="54864"/>
          </a:xfrm>
          <a:prstGeom prst="rect">
            <a:avLst/>
          </a:prstGeom>
          <a:solidFill>
            <a:srgbClr val="E8740C"/>
          </a:solidFill>
          <a:ln w="12700">
            <a:solidFill>
              <a:srgbClr val="E8740C"/>
            </a:solidFill>
            <a:prstDash val="solid"/>
          </a:ln>
        </p:spPr>
      </p:sp>
      <p:sp>
        <p:nvSpPr>
          <p:cNvPr id="14" name="Text 12"/>
          <p:cNvSpPr/>
          <p:nvPr/>
        </p:nvSpPr>
        <p:spPr>
          <a:xfrm>
            <a:off x="2651760" y="1828800"/>
            <a:ext cx="1792224" cy="365760"/>
          </a:xfrm>
          <a:prstGeom prst="rect">
            <a:avLst/>
          </a:prstGeom>
          <a:noFill/>
          <a:ln/>
        </p:spPr>
        <p:txBody>
          <a:bodyPr wrap="square" lIns="0" tIns="0" rIns="0" bIns="0" rtlCol="0" anchor="ctr"/>
          <a:lstStyle/>
          <a:p>
            <a:pPr algn="l" indent="0" marL="0">
              <a:buNone/>
            </a:pPr>
            <a:r>
              <a:rPr lang="en-US" sz="1200" b="1" dirty="0">
                <a:solidFill>
                  <a:srgbClr val="2A1700"/>
                </a:solidFill>
                <a:latin typeface="Yu Gothic" pitchFamily="34" charset="0"/>
                <a:ea typeface="Yu Gothic" pitchFamily="34" charset="-122"/>
                <a:cs typeface="Yu Gothic" pitchFamily="34" charset="-120"/>
              </a:rPr>
              <a:t>ご予約・反響の確認</a:t>
            </a:r>
            <a:endParaRPr lang="en-US" sz="1200" dirty="0"/>
          </a:p>
        </p:txBody>
      </p:sp>
      <p:sp>
        <p:nvSpPr>
          <p:cNvPr id="15" name="Text 13"/>
          <p:cNvSpPr/>
          <p:nvPr/>
        </p:nvSpPr>
        <p:spPr>
          <a:xfrm>
            <a:off x="2651760" y="2194560"/>
            <a:ext cx="1792224" cy="713232"/>
          </a:xfrm>
          <a:prstGeom prst="rect">
            <a:avLst/>
          </a:prstGeom>
          <a:noFill/>
          <a:ln/>
        </p:spPr>
        <p:txBody>
          <a:bodyPr wrap="square" lIns="0" tIns="0" rIns="0" bIns="0" rtlCol="0" anchor="t"/>
          <a:lstStyle/>
          <a:p>
            <a:pPr algn="l" indent="0" marL="0">
              <a:buNone/>
            </a:pPr>
            <a:r>
              <a:rPr lang="en-US" sz="950" dirty="0">
                <a:solidFill>
                  <a:srgbClr val="3D2200"/>
                </a:solidFill>
                <a:latin typeface="Yu Gothic" pitchFamily="34" charset="0"/>
                <a:ea typeface="Yu Gothic" pitchFamily="34" charset="-122"/>
                <a:cs typeface="Yu Gothic" pitchFamily="34" charset="-120"/>
              </a:rPr>
              <a:t>見学会予約・お問い合わせを一覧で把握</a:t>
            </a:r>
            <a:endParaRPr lang="en-US" sz="950" dirty="0"/>
          </a:p>
        </p:txBody>
      </p:sp>
      <p:sp>
        <p:nvSpPr>
          <p:cNvPr id="16" name="Shape 14"/>
          <p:cNvSpPr/>
          <p:nvPr/>
        </p:nvSpPr>
        <p:spPr>
          <a:xfrm>
            <a:off x="4626864" y="1691640"/>
            <a:ext cx="2011680" cy="1261872"/>
          </a:xfrm>
          <a:prstGeom prst="rect">
            <a:avLst/>
          </a:prstGeom>
          <a:solidFill>
            <a:srgbClr val="FFF8F0"/>
          </a:solidFill>
          <a:ln w="12700">
            <a:solidFill>
              <a:srgbClr val="EBDFD0"/>
            </a:solidFill>
            <a:prstDash val="solid"/>
          </a:ln>
        </p:spPr>
      </p:sp>
      <p:sp>
        <p:nvSpPr>
          <p:cNvPr id="17" name="Shape 15"/>
          <p:cNvSpPr/>
          <p:nvPr/>
        </p:nvSpPr>
        <p:spPr>
          <a:xfrm>
            <a:off x="4626864" y="1691640"/>
            <a:ext cx="2011680" cy="54864"/>
          </a:xfrm>
          <a:prstGeom prst="rect">
            <a:avLst/>
          </a:prstGeom>
          <a:solidFill>
            <a:srgbClr val="E8740C"/>
          </a:solidFill>
          <a:ln w="12700">
            <a:solidFill>
              <a:srgbClr val="E8740C"/>
            </a:solidFill>
            <a:prstDash val="solid"/>
          </a:ln>
        </p:spPr>
      </p:sp>
      <p:sp>
        <p:nvSpPr>
          <p:cNvPr id="18" name="Text 16"/>
          <p:cNvSpPr/>
          <p:nvPr/>
        </p:nvSpPr>
        <p:spPr>
          <a:xfrm>
            <a:off x="4736592" y="1828800"/>
            <a:ext cx="1792224" cy="365760"/>
          </a:xfrm>
          <a:prstGeom prst="rect">
            <a:avLst/>
          </a:prstGeom>
          <a:noFill/>
          <a:ln/>
        </p:spPr>
        <p:txBody>
          <a:bodyPr wrap="square" lIns="0" tIns="0" rIns="0" bIns="0" rtlCol="0" anchor="ctr"/>
          <a:lstStyle/>
          <a:p>
            <a:pPr algn="l" indent="0" marL="0">
              <a:buNone/>
            </a:pPr>
            <a:r>
              <a:rPr lang="en-US" sz="1200" b="1" dirty="0">
                <a:solidFill>
                  <a:srgbClr val="2A1700"/>
                </a:solidFill>
                <a:latin typeface="Yu Gothic" pitchFamily="34" charset="0"/>
                <a:ea typeface="Yu Gothic" pitchFamily="34" charset="-122"/>
                <a:cs typeface="Yu Gothic" pitchFamily="34" charset="-120"/>
              </a:rPr>
              <a:t>お客様の希望を事前把握</a:t>
            </a:r>
            <a:endParaRPr lang="en-US" sz="1200" dirty="0"/>
          </a:p>
        </p:txBody>
      </p:sp>
      <p:sp>
        <p:nvSpPr>
          <p:cNvPr id="19" name="Text 17"/>
          <p:cNvSpPr/>
          <p:nvPr/>
        </p:nvSpPr>
        <p:spPr>
          <a:xfrm>
            <a:off x="4736592" y="2194560"/>
            <a:ext cx="1792224" cy="713232"/>
          </a:xfrm>
          <a:prstGeom prst="rect">
            <a:avLst/>
          </a:prstGeom>
          <a:noFill/>
          <a:ln/>
        </p:spPr>
        <p:txBody>
          <a:bodyPr wrap="square" lIns="0" tIns="0" rIns="0" bIns="0" rtlCol="0" anchor="t"/>
          <a:lstStyle/>
          <a:p>
            <a:pPr algn="l" indent="0" marL="0">
              <a:buNone/>
            </a:pPr>
            <a:r>
              <a:rPr lang="en-US" sz="950" dirty="0">
                <a:solidFill>
                  <a:srgbClr val="3D2200"/>
                </a:solidFill>
                <a:latin typeface="Yu Gothic" pitchFamily="34" charset="0"/>
                <a:ea typeface="Yu Gothic" pitchFamily="34" charset="-122"/>
                <a:cs typeface="Yu Gothic" pitchFamily="34" charset="-120"/>
              </a:rPr>
              <a:t>来場目的・連絡希望時間・予算を予約時点で確認</a:t>
            </a:r>
            <a:endParaRPr lang="en-US" sz="950" dirty="0"/>
          </a:p>
        </p:txBody>
      </p:sp>
      <p:sp>
        <p:nvSpPr>
          <p:cNvPr id="20" name="Shape 18"/>
          <p:cNvSpPr/>
          <p:nvPr/>
        </p:nvSpPr>
        <p:spPr>
          <a:xfrm>
            <a:off x="6711696" y="1691640"/>
            <a:ext cx="2011680" cy="1261872"/>
          </a:xfrm>
          <a:prstGeom prst="rect">
            <a:avLst/>
          </a:prstGeom>
          <a:solidFill>
            <a:srgbClr val="FFF8F0"/>
          </a:solidFill>
          <a:ln w="12700">
            <a:solidFill>
              <a:srgbClr val="EBDFD0"/>
            </a:solidFill>
            <a:prstDash val="solid"/>
          </a:ln>
        </p:spPr>
      </p:sp>
      <p:sp>
        <p:nvSpPr>
          <p:cNvPr id="21" name="Shape 19"/>
          <p:cNvSpPr/>
          <p:nvPr/>
        </p:nvSpPr>
        <p:spPr>
          <a:xfrm>
            <a:off x="6711696" y="1691640"/>
            <a:ext cx="2011680" cy="54864"/>
          </a:xfrm>
          <a:prstGeom prst="rect">
            <a:avLst/>
          </a:prstGeom>
          <a:solidFill>
            <a:srgbClr val="E8740C"/>
          </a:solidFill>
          <a:ln w="12700">
            <a:solidFill>
              <a:srgbClr val="E8740C"/>
            </a:solidFill>
            <a:prstDash val="solid"/>
          </a:ln>
        </p:spPr>
      </p:sp>
      <p:sp>
        <p:nvSpPr>
          <p:cNvPr id="22" name="Text 20"/>
          <p:cNvSpPr/>
          <p:nvPr/>
        </p:nvSpPr>
        <p:spPr>
          <a:xfrm>
            <a:off x="6821424" y="1828800"/>
            <a:ext cx="1792224" cy="365760"/>
          </a:xfrm>
          <a:prstGeom prst="rect">
            <a:avLst/>
          </a:prstGeom>
          <a:noFill/>
          <a:ln/>
        </p:spPr>
        <p:txBody>
          <a:bodyPr wrap="square" lIns="0" tIns="0" rIns="0" bIns="0" rtlCol="0" anchor="ctr"/>
          <a:lstStyle/>
          <a:p>
            <a:pPr algn="l" indent="0" marL="0">
              <a:buNone/>
            </a:pPr>
            <a:r>
              <a:rPr lang="en-US" sz="1200" b="1" dirty="0">
                <a:solidFill>
                  <a:srgbClr val="2A1700"/>
                </a:solidFill>
                <a:latin typeface="Yu Gothic" pitchFamily="34" charset="0"/>
                <a:ea typeface="Yu Gothic" pitchFamily="34" charset="-122"/>
                <a:cs typeface="Yu Gothic" pitchFamily="34" charset="-120"/>
              </a:rPr>
              <a:t>見学会の登録・管理</a:t>
            </a:r>
            <a:endParaRPr lang="en-US" sz="1200" dirty="0"/>
          </a:p>
        </p:txBody>
      </p:sp>
      <p:sp>
        <p:nvSpPr>
          <p:cNvPr id="23" name="Text 21"/>
          <p:cNvSpPr/>
          <p:nvPr/>
        </p:nvSpPr>
        <p:spPr>
          <a:xfrm>
            <a:off x="6821424" y="2194560"/>
            <a:ext cx="1792224" cy="713232"/>
          </a:xfrm>
          <a:prstGeom prst="rect">
            <a:avLst/>
          </a:prstGeom>
          <a:noFill/>
          <a:ln/>
        </p:spPr>
        <p:txBody>
          <a:bodyPr wrap="square" lIns="0" tIns="0" rIns="0" bIns="0" rtlCol="0" anchor="t"/>
          <a:lstStyle/>
          <a:p>
            <a:pPr algn="l" indent="0" marL="0">
              <a:buNone/>
            </a:pPr>
            <a:r>
              <a:rPr lang="en-US" sz="950" dirty="0">
                <a:solidFill>
                  <a:srgbClr val="3D2200"/>
                </a:solidFill>
                <a:latin typeface="Yu Gothic" pitchFamily="34" charset="0"/>
                <a:ea typeface="Yu Gothic" pitchFamily="34" charset="-122"/>
                <a:cs typeface="Yu Gothic" pitchFamily="34" charset="-120"/>
              </a:rPr>
              <a:t>日程・会場・定員を登録するとサイトに自動掲載</a:t>
            </a:r>
            <a:endParaRPr lang="en-US" sz="950" dirty="0"/>
          </a:p>
        </p:txBody>
      </p:sp>
      <p:sp>
        <p:nvSpPr>
          <p:cNvPr id="24" name="Shape 22"/>
          <p:cNvSpPr/>
          <p:nvPr/>
        </p:nvSpPr>
        <p:spPr>
          <a:xfrm>
            <a:off x="457200" y="3063240"/>
            <a:ext cx="2011680" cy="1261872"/>
          </a:xfrm>
          <a:prstGeom prst="rect">
            <a:avLst/>
          </a:prstGeom>
          <a:solidFill>
            <a:srgbClr val="FFF8F0"/>
          </a:solidFill>
          <a:ln w="12700">
            <a:solidFill>
              <a:srgbClr val="EBDFD0"/>
            </a:solidFill>
            <a:prstDash val="solid"/>
          </a:ln>
        </p:spPr>
      </p:sp>
      <p:sp>
        <p:nvSpPr>
          <p:cNvPr id="25" name="Shape 23"/>
          <p:cNvSpPr/>
          <p:nvPr/>
        </p:nvSpPr>
        <p:spPr>
          <a:xfrm>
            <a:off x="457200" y="3063240"/>
            <a:ext cx="2011680" cy="54864"/>
          </a:xfrm>
          <a:prstGeom prst="rect">
            <a:avLst/>
          </a:prstGeom>
          <a:solidFill>
            <a:srgbClr val="E8740C"/>
          </a:solidFill>
          <a:ln w="12700">
            <a:solidFill>
              <a:srgbClr val="E8740C"/>
            </a:solidFill>
            <a:prstDash val="solid"/>
          </a:ln>
        </p:spPr>
      </p:sp>
      <p:sp>
        <p:nvSpPr>
          <p:cNvPr id="26" name="Text 24"/>
          <p:cNvSpPr/>
          <p:nvPr/>
        </p:nvSpPr>
        <p:spPr>
          <a:xfrm>
            <a:off x="566928" y="3200400"/>
            <a:ext cx="1792224" cy="365760"/>
          </a:xfrm>
          <a:prstGeom prst="rect">
            <a:avLst/>
          </a:prstGeom>
          <a:noFill/>
          <a:ln/>
        </p:spPr>
        <p:txBody>
          <a:bodyPr wrap="square" lIns="0" tIns="0" rIns="0" bIns="0" rtlCol="0" anchor="ctr"/>
          <a:lstStyle/>
          <a:p>
            <a:pPr algn="l" indent="0" marL="0">
              <a:buNone/>
            </a:pPr>
            <a:r>
              <a:rPr lang="en-US" sz="1200" b="1" dirty="0">
                <a:solidFill>
                  <a:srgbClr val="2A1700"/>
                </a:solidFill>
                <a:latin typeface="Yu Gothic" pitchFamily="34" charset="0"/>
                <a:ea typeface="Yu Gothic" pitchFamily="34" charset="-122"/>
                <a:cs typeface="Yu Gothic" pitchFamily="34" charset="-120"/>
              </a:rPr>
              <a:t>施工事例の追加</a:t>
            </a:r>
            <a:endParaRPr lang="en-US" sz="1200" dirty="0"/>
          </a:p>
        </p:txBody>
      </p:sp>
      <p:sp>
        <p:nvSpPr>
          <p:cNvPr id="27" name="Text 25"/>
          <p:cNvSpPr/>
          <p:nvPr/>
        </p:nvSpPr>
        <p:spPr>
          <a:xfrm>
            <a:off x="566928" y="3566160"/>
            <a:ext cx="1792224" cy="713232"/>
          </a:xfrm>
          <a:prstGeom prst="rect">
            <a:avLst/>
          </a:prstGeom>
          <a:noFill/>
          <a:ln/>
        </p:spPr>
        <p:txBody>
          <a:bodyPr wrap="square" lIns="0" tIns="0" rIns="0" bIns="0" rtlCol="0" anchor="t"/>
          <a:lstStyle/>
          <a:p>
            <a:pPr algn="l" indent="0" marL="0">
              <a:buNone/>
            </a:pPr>
            <a:r>
              <a:rPr lang="en-US" sz="950" dirty="0">
                <a:solidFill>
                  <a:srgbClr val="3D2200"/>
                </a:solidFill>
                <a:latin typeface="Yu Gothic" pitchFamily="34" charset="0"/>
                <a:ea typeface="Yu Gothic" pitchFamily="34" charset="-122"/>
                <a:cs typeface="Yu Gothic" pitchFamily="34" charset="-120"/>
              </a:rPr>
              <a:t>写真・間取り・総額を入力するだけで公開完了</a:t>
            </a:r>
            <a:endParaRPr lang="en-US" sz="950" dirty="0"/>
          </a:p>
        </p:txBody>
      </p:sp>
      <p:sp>
        <p:nvSpPr>
          <p:cNvPr id="28" name="Shape 26"/>
          <p:cNvSpPr/>
          <p:nvPr/>
        </p:nvSpPr>
        <p:spPr>
          <a:xfrm>
            <a:off x="2542032" y="3063240"/>
            <a:ext cx="2011680" cy="1261872"/>
          </a:xfrm>
          <a:prstGeom prst="rect">
            <a:avLst/>
          </a:prstGeom>
          <a:solidFill>
            <a:srgbClr val="FFF8F0"/>
          </a:solidFill>
          <a:ln w="12700">
            <a:solidFill>
              <a:srgbClr val="EBDFD0"/>
            </a:solidFill>
            <a:prstDash val="solid"/>
          </a:ln>
        </p:spPr>
      </p:sp>
      <p:sp>
        <p:nvSpPr>
          <p:cNvPr id="29" name="Shape 27"/>
          <p:cNvSpPr/>
          <p:nvPr/>
        </p:nvSpPr>
        <p:spPr>
          <a:xfrm>
            <a:off x="2542032" y="3063240"/>
            <a:ext cx="2011680" cy="54864"/>
          </a:xfrm>
          <a:prstGeom prst="rect">
            <a:avLst/>
          </a:prstGeom>
          <a:solidFill>
            <a:srgbClr val="E8740C"/>
          </a:solidFill>
          <a:ln w="12700">
            <a:solidFill>
              <a:srgbClr val="E8740C"/>
            </a:solidFill>
            <a:prstDash val="solid"/>
          </a:ln>
        </p:spPr>
      </p:sp>
      <p:sp>
        <p:nvSpPr>
          <p:cNvPr id="30" name="Text 28"/>
          <p:cNvSpPr/>
          <p:nvPr/>
        </p:nvSpPr>
        <p:spPr>
          <a:xfrm>
            <a:off x="2651760" y="3200400"/>
            <a:ext cx="1792224" cy="365760"/>
          </a:xfrm>
          <a:prstGeom prst="rect">
            <a:avLst/>
          </a:prstGeom>
          <a:noFill/>
          <a:ln/>
        </p:spPr>
        <p:txBody>
          <a:bodyPr wrap="square" lIns="0" tIns="0" rIns="0" bIns="0" rtlCol="0" anchor="ctr"/>
          <a:lstStyle/>
          <a:p>
            <a:pPr algn="l" indent="0" marL="0">
              <a:buNone/>
            </a:pPr>
            <a:r>
              <a:rPr lang="en-US" sz="1200" b="1" dirty="0">
                <a:solidFill>
                  <a:srgbClr val="2A1700"/>
                </a:solidFill>
                <a:latin typeface="Yu Gothic" pitchFamily="34" charset="0"/>
                <a:ea typeface="Yu Gothic" pitchFamily="34" charset="-122"/>
                <a:cs typeface="Yu Gothic" pitchFamily="34" charset="-120"/>
              </a:rPr>
              <a:t>匿名質問への回答</a:t>
            </a:r>
            <a:endParaRPr lang="en-US" sz="1200" dirty="0"/>
          </a:p>
        </p:txBody>
      </p:sp>
      <p:sp>
        <p:nvSpPr>
          <p:cNvPr id="31" name="Text 29"/>
          <p:cNvSpPr/>
          <p:nvPr/>
        </p:nvSpPr>
        <p:spPr>
          <a:xfrm>
            <a:off x="2651760" y="3566160"/>
            <a:ext cx="1792224" cy="713232"/>
          </a:xfrm>
          <a:prstGeom prst="rect">
            <a:avLst/>
          </a:prstGeom>
          <a:noFill/>
          <a:ln/>
        </p:spPr>
        <p:txBody>
          <a:bodyPr wrap="square" lIns="0" tIns="0" rIns="0" bIns="0" rtlCol="0" anchor="t"/>
          <a:lstStyle/>
          <a:p>
            <a:pPr algn="l" indent="0" marL="0">
              <a:buNone/>
            </a:pPr>
            <a:r>
              <a:rPr lang="en-US" sz="950" dirty="0">
                <a:solidFill>
                  <a:srgbClr val="3D2200"/>
                </a:solidFill>
                <a:latin typeface="Yu Gothic" pitchFamily="34" charset="0"/>
                <a:ea typeface="Yu Gothic" pitchFamily="34" charset="-122"/>
                <a:cs typeface="Yu Gothic" pitchFamily="34" charset="-120"/>
              </a:rPr>
              <a:t>お客様からの匿名質問にダッシュボードで直接返信</a:t>
            </a:r>
            <a:endParaRPr lang="en-US" sz="950" dirty="0"/>
          </a:p>
        </p:txBody>
      </p:sp>
      <p:sp>
        <p:nvSpPr>
          <p:cNvPr id="32" name="Shape 30"/>
          <p:cNvSpPr/>
          <p:nvPr/>
        </p:nvSpPr>
        <p:spPr>
          <a:xfrm>
            <a:off x="4626864" y="3063240"/>
            <a:ext cx="2011680" cy="1261872"/>
          </a:xfrm>
          <a:prstGeom prst="rect">
            <a:avLst/>
          </a:prstGeom>
          <a:solidFill>
            <a:srgbClr val="FFF8F0"/>
          </a:solidFill>
          <a:ln w="12700">
            <a:solidFill>
              <a:srgbClr val="EBDFD0"/>
            </a:solidFill>
            <a:prstDash val="solid"/>
          </a:ln>
        </p:spPr>
      </p:sp>
      <p:sp>
        <p:nvSpPr>
          <p:cNvPr id="33" name="Shape 31"/>
          <p:cNvSpPr/>
          <p:nvPr/>
        </p:nvSpPr>
        <p:spPr>
          <a:xfrm>
            <a:off x="4626864" y="3063240"/>
            <a:ext cx="2011680" cy="54864"/>
          </a:xfrm>
          <a:prstGeom prst="rect">
            <a:avLst/>
          </a:prstGeom>
          <a:solidFill>
            <a:srgbClr val="E8740C"/>
          </a:solidFill>
          <a:ln w="12700">
            <a:solidFill>
              <a:srgbClr val="E8740C"/>
            </a:solidFill>
            <a:prstDash val="solid"/>
          </a:ln>
        </p:spPr>
      </p:sp>
      <p:sp>
        <p:nvSpPr>
          <p:cNvPr id="34" name="Text 32"/>
          <p:cNvSpPr/>
          <p:nvPr/>
        </p:nvSpPr>
        <p:spPr>
          <a:xfrm>
            <a:off x="4736592" y="3200400"/>
            <a:ext cx="1792224" cy="365760"/>
          </a:xfrm>
          <a:prstGeom prst="rect">
            <a:avLst/>
          </a:prstGeom>
          <a:noFill/>
          <a:ln/>
        </p:spPr>
        <p:txBody>
          <a:bodyPr wrap="square" lIns="0" tIns="0" rIns="0" bIns="0" rtlCol="0" anchor="ctr"/>
          <a:lstStyle/>
          <a:p>
            <a:pPr algn="l" indent="0" marL="0">
              <a:buNone/>
            </a:pPr>
            <a:r>
              <a:rPr lang="en-US" sz="1200" b="1" dirty="0">
                <a:solidFill>
                  <a:srgbClr val="2A1700"/>
                </a:solidFill>
                <a:latin typeface="Yu Gothic" pitchFamily="34" charset="0"/>
                <a:ea typeface="Yu Gothic" pitchFamily="34" charset="-122"/>
                <a:cs typeface="Yu Gothic" pitchFamily="34" charset="-120"/>
              </a:rPr>
              <a:t>月次レポート</a:t>
            </a:r>
            <a:endParaRPr lang="en-US" sz="1200" dirty="0"/>
          </a:p>
        </p:txBody>
      </p:sp>
      <p:sp>
        <p:nvSpPr>
          <p:cNvPr id="35" name="Text 33"/>
          <p:cNvSpPr/>
          <p:nvPr/>
        </p:nvSpPr>
        <p:spPr>
          <a:xfrm>
            <a:off x="4736592" y="3566160"/>
            <a:ext cx="1792224" cy="713232"/>
          </a:xfrm>
          <a:prstGeom prst="rect">
            <a:avLst/>
          </a:prstGeom>
          <a:noFill/>
          <a:ln/>
        </p:spPr>
        <p:txBody>
          <a:bodyPr wrap="square" lIns="0" tIns="0" rIns="0" bIns="0" rtlCol="0" anchor="t"/>
          <a:lstStyle/>
          <a:p>
            <a:pPr algn="l" indent="0" marL="0">
              <a:buNone/>
            </a:pPr>
            <a:r>
              <a:rPr lang="en-US" sz="950" dirty="0">
                <a:solidFill>
                  <a:srgbClr val="3D2200"/>
                </a:solidFill>
                <a:latin typeface="Yu Gothic" pitchFamily="34" charset="0"/>
                <a:ea typeface="Yu Gothic" pitchFamily="34" charset="-122"/>
                <a:cs typeface="Yu Gothic" pitchFamily="34" charset="-120"/>
              </a:rPr>
              <a:t>反響数・成約数・推移を自動でレポート化</a:t>
            </a:r>
            <a:endParaRPr lang="en-US" sz="950" dirty="0"/>
          </a:p>
        </p:txBody>
      </p:sp>
      <p:sp>
        <p:nvSpPr>
          <p:cNvPr id="36" name="Shape 34"/>
          <p:cNvSpPr/>
          <p:nvPr/>
        </p:nvSpPr>
        <p:spPr>
          <a:xfrm>
            <a:off x="6711696" y="3063240"/>
            <a:ext cx="2011680" cy="1261872"/>
          </a:xfrm>
          <a:prstGeom prst="rect">
            <a:avLst/>
          </a:prstGeom>
          <a:solidFill>
            <a:srgbClr val="FFF8F0"/>
          </a:solidFill>
          <a:ln w="12700">
            <a:solidFill>
              <a:srgbClr val="EBDFD0"/>
            </a:solidFill>
            <a:prstDash val="solid"/>
          </a:ln>
        </p:spPr>
      </p:sp>
      <p:sp>
        <p:nvSpPr>
          <p:cNvPr id="37" name="Shape 35"/>
          <p:cNvSpPr/>
          <p:nvPr/>
        </p:nvSpPr>
        <p:spPr>
          <a:xfrm>
            <a:off x="6711696" y="3063240"/>
            <a:ext cx="2011680" cy="54864"/>
          </a:xfrm>
          <a:prstGeom prst="rect">
            <a:avLst/>
          </a:prstGeom>
          <a:solidFill>
            <a:srgbClr val="E8740C"/>
          </a:solidFill>
          <a:ln w="12700">
            <a:solidFill>
              <a:srgbClr val="E8740C"/>
            </a:solidFill>
            <a:prstDash val="solid"/>
          </a:ln>
        </p:spPr>
      </p:sp>
      <p:sp>
        <p:nvSpPr>
          <p:cNvPr id="38" name="Text 36"/>
          <p:cNvSpPr/>
          <p:nvPr/>
        </p:nvSpPr>
        <p:spPr>
          <a:xfrm>
            <a:off x="6821424" y="3200400"/>
            <a:ext cx="1792224" cy="365760"/>
          </a:xfrm>
          <a:prstGeom prst="rect">
            <a:avLst/>
          </a:prstGeom>
          <a:noFill/>
          <a:ln/>
        </p:spPr>
        <p:txBody>
          <a:bodyPr wrap="square" lIns="0" tIns="0" rIns="0" bIns="0" rtlCol="0" anchor="ctr"/>
          <a:lstStyle/>
          <a:p>
            <a:pPr algn="l" indent="0" marL="0">
              <a:buNone/>
            </a:pPr>
            <a:r>
              <a:rPr lang="en-US" sz="1200" b="1" dirty="0">
                <a:solidFill>
                  <a:srgbClr val="2A1700"/>
                </a:solidFill>
                <a:latin typeface="Yu Gothic" pitchFamily="34" charset="0"/>
                <a:ea typeface="Yu Gothic" pitchFamily="34" charset="-122"/>
                <a:cs typeface="Yu Gothic" pitchFamily="34" charset="-120"/>
              </a:rPr>
              <a:t>動画の埋め込み管理</a:t>
            </a:r>
            <a:endParaRPr lang="en-US" sz="1200" dirty="0"/>
          </a:p>
        </p:txBody>
      </p:sp>
      <p:sp>
        <p:nvSpPr>
          <p:cNvPr id="39" name="Text 37"/>
          <p:cNvSpPr/>
          <p:nvPr/>
        </p:nvSpPr>
        <p:spPr>
          <a:xfrm>
            <a:off x="6821424" y="3566160"/>
            <a:ext cx="1792224" cy="713232"/>
          </a:xfrm>
          <a:prstGeom prst="rect">
            <a:avLst/>
          </a:prstGeom>
          <a:noFill/>
          <a:ln/>
        </p:spPr>
        <p:txBody>
          <a:bodyPr wrap="square" lIns="0" tIns="0" rIns="0" bIns="0" rtlCol="0" anchor="t"/>
          <a:lstStyle/>
          <a:p>
            <a:pPr algn="l" indent="0" marL="0">
              <a:buNone/>
            </a:pPr>
            <a:r>
              <a:rPr lang="en-US" sz="950" dirty="0">
                <a:solidFill>
                  <a:srgbClr val="3D2200"/>
                </a:solidFill>
                <a:latin typeface="Yu Gothic" pitchFamily="34" charset="0"/>
                <a:ea typeface="Yu Gothic" pitchFamily="34" charset="-122"/>
                <a:cs typeface="Yu Gothic" pitchFamily="34" charset="-120"/>
              </a:rPr>
              <a:t>ぺいほーむ制作のルームツアー動画を自由に配置</a:t>
            </a:r>
            <a:endParaRPr lang="en-US" sz="950" dirty="0"/>
          </a:p>
        </p:txBody>
      </p:sp>
      <p:sp>
        <p:nvSpPr>
          <p:cNvPr id="40" name="Text 38"/>
          <p:cNvSpPr/>
          <p:nvPr/>
        </p:nvSpPr>
        <p:spPr>
          <a:xfrm>
            <a:off x="457200" y="4526280"/>
            <a:ext cx="8229600" cy="320040"/>
          </a:xfrm>
          <a:prstGeom prst="rect">
            <a:avLst/>
          </a:prstGeom>
          <a:noFill/>
          <a:ln/>
        </p:spPr>
        <p:txBody>
          <a:bodyPr wrap="square" lIns="0" tIns="0" rIns="0" bIns="0" rtlCol="0" anchor="ctr"/>
          <a:lstStyle/>
          <a:p>
            <a:pPr algn="ctr" indent="0" marL="0">
              <a:buNone/>
            </a:pPr>
            <a:r>
              <a:rPr lang="en-US" sz="1100" i="1" dirty="0">
                <a:solidFill>
                  <a:srgbClr val="6B5A47"/>
                </a:solidFill>
                <a:latin typeface="Yu Gothic" pitchFamily="34" charset="0"/>
                <a:ea typeface="Yu Gothic" pitchFamily="34" charset="-122"/>
                <a:cs typeface="Yu Gothic" pitchFamily="34" charset="-120"/>
              </a:rPr>
              <a:t>ご契約後、ぺいほーむ担当者が画面を見ながら一緒に初期設定をお手伝いいたします。</a:t>
            </a:r>
            <a:endParaRPr lang="en-US" sz="1100" dirty="0"/>
          </a:p>
        </p:txBody>
      </p:sp>
      <p:sp>
        <p:nvSpPr>
          <p:cNvPr id="41" name="Shape 39"/>
          <p:cNvSpPr/>
          <p:nvPr/>
        </p:nvSpPr>
        <p:spPr>
          <a:xfrm>
            <a:off x="365760" y="4823460"/>
            <a:ext cx="8412480" cy="0"/>
          </a:xfrm>
          <a:prstGeom prst="line">
            <a:avLst/>
          </a:prstGeom>
          <a:noFill/>
          <a:ln w="9525">
            <a:solidFill>
              <a:srgbClr val="EBDFD0"/>
            </a:solidFill>
            <a:prstDash val="solid"/>
          </a:ln>
        </p:spPr>
      </p:sp>
      <p:sp>
        <p:nvSpPr>
          <p:cNvPr id="42" name="Text 40"/>
          <p:cNvSpPr/>
          <p:nvPr/>
        </p:nvSpPr>
        <p:spPr>
          <a:xfrm>
            <a:off x="365760" y="4850892"/>
            <a:ext cx="4572000" cy="274320"/>
          </a:xfrm>
          <a:prstGeom prst="rect">
            <a:avLst/>
          </a:prstGeom>
          <a:noFill/>
          <a:ln/>
        </p:spPr>
        <p:txBody>
          <a:bodyPr wrap="square" lIns="0" tIns="0" rIns="0" bIns="0" rtlCol="0" anchor="ctr"/>
          <a:lstStyle/>
          <a:p>
            <a:pPr algn="l" indent="0" marL="0">
              <a:buNone/>
            </a:pPr>
            <a:r>
              <a:rPr lang="en-US" sz="900" dirty="0">
                <a:solidFill>
                  <a:srgbClr val="6B5A47"/>
                </a:solidFill>
                <a:latin typeface="Yu Gothic" pitchFamily="34" charset="0"/>
                <a:ea typeface="Yu Gothic" pitchFamily="34" charset="-122"/>
                <a:cs typeface="Yu Gothic" pitchFamily="34" charset="-120"/>
              </a:rPr>
              <a:t>ぺいほーむ ポータルサイト</a:t>
            </a:r>
            <a:endParaRPr lang="en-US" sz="900" dirty="0"/>
          </a:p>
        </p:txBody>
      </p:sp>
      <p:sp>
        <p:nvSpPr>
          <p:cNvPr id="43" name="Text 41"/>
          <p:cNvSpPr/>
          <p:nvPr/>
        </p:nvSpPr>
        <p:spPr>
          <a:xfrm>
            <a:off x="4206240" y="4850892"/>
            <a:ext cx="4572000" cy="274320"/>
          </a:xfrm>
          <a:prstGeom prst="rect">
            <a:avLst/>
          </a:prstGeom>
          <a:noFill/>
          <a:ln/>
        </p:spPr>
        <p:txBody>
          <a:bodyPr wrap="square" lIns="0" tIns="0" rIns="0" bIns="0" rtlCol="0" anchor="ctr"/>
          <a:lstStyle/>
          <a:p>
            <a:pPr algn="r" indent="0" marL="0">
              <a:buNone/>
            </a:pPr>
            <a:r>
              <a:rPr lang="en-US" sz="900" i="1" dirty="0">
                <a:solidFill>
                  <a:srgbClr val="6B5A47"/>
                </a:solidFill>
                <a:latin typeface="Yu Gothic" pitchFamily="34" charset="0"/>
                <a:ea typeface="Yu Gothic" pitchFamily="34" charset="-122"/>
                <a:cs typeface="Yu Gothic" pitchFamily="34" charset="-120"/>
              </a:rPr>
              <a:t>本気の出会いを、誠実に。</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8740C"/>
          </a:solidFill>
          <a:ln w="12700">
            <a:solidFill>
              <a:srgbClr val="E8740C"/>
            </a:solidFill>
            <a:prstDash val="solid"/>
          </a:ln>
        </p:spPr>
      </p:sp>
      <p:sp>
        <p:nvSpPr>
          <p:cNvPr id="3" name="Text 1"/>
          <p:cNvSpPr/>
          <p:nvPr/>
        </p:nvSpPr>
        <p:spPr>
          <a:xfrm>
            <a:off x="365760" y="182880"/>
            <a:ext cx="1097280" cy="274320"/>
          </a:xfrm>
          <a:prstGeom prst="rect">
            <a:avLst/>
          </a:prstGeom>
          <a:noFill/>
          <a:ln/>
        </p:spPr>
        <p:txBody>
          <a:bodyPr wrap="square" lIns="0" tIns="0" rIns="0" bIns="0" rtlCol="0" anchor="ctr"/>
          <a:lstStyle/>
          <a:p>
            <a:pPr algn="l" indent="0" marL="0">
              <a:buNone/>
            </a:pPr>
            <a:r>
              <a:rPr lang="en-US" sz="1000" b="1" dirty="0">
                <a:solidFill>
                  <a:srgbClr val="E8740C"/>
                </a:solidFill>
                <a:latin typeface="Yu Gothic" pitchFamily="34" charset="0"/>
                <a:ea typeface="Yu Gothic" pitchFamily="34" charset="-122"/>
                <a:cs typeface="Yu Gothic" pitchFamily="34" charset="-120"/>
              </a:rPr>
              <a:t>15 / 20</a:t>
            </a:r>
            <a:endParaRPr lang="en-US" sz="1000" dirty="0"/>
          </a:p>
        </p:txBody>
      </p:sp>
      <p:sp>
        <p:nvSpPr>
          <p:cNvPr id="4" name="Text 2"/>
          <p:cNvSpPr/>
          <p:nvPr/>
        </p:nvSpPr>
        <p:spPr>
          <a:xfrm>
            <a:off x="1554480" y="182880"/>
            <a:ext cx="7223760" cy="274320"/>
          </a:xfrm>
          <a:prstGeom prst="rect">
            <a:avLst/>
          </a:prstGeom>
          <a:noFill/>
          <a:ln/>
        </p:spPr>
        <p:txBody>
          <a:bodyPr wrap="square" lIns="0" tIns="0" rIns="0" bIns="0" rtlCol="0" anchor="ctr"/>
          <a:lstStyle/>
          <a:p>
            <a:pPr algn="r" indent="0" marL="0">
              <a:buNone/>
            </a:pPr>
            <a:r>
              <a:rPr lang="en-US" sz="1000" dirty="0">
                <a:solidFill>
                  <a:srgbClr val="6B5A47"/>
                </a:solidFill>
                <a:latin typeface="Yu Gothic" pitchFamily="34" charset="0"/>
                <a:ea typeface="Yu Gothic" pitchFamily="34" charset="-122"/>
                <a:cs typeface="Yu Gothic" pitchFamily="34" charset="-120"/>
              </a:rPr>
              <a:t>料金体系の考え方</a:t>
            </a:r>
            <a:endParaRPr lang="en-US" sz="1000" dirty="0"/>
          </a:p>
        </p:txBody>
      </p:sp>
      <p:sp>
        <p:nvSpPr>
          <p:cNvPr id="5" name="Shape 3"/>
          <p:cNvSpPr/>
          <p:nvPr/>
        </p:nvSpPr>
        <p:spPr>
          <a:xfrm>
            <a:off x="457200" y="685800"/>
            <a:ext cx="109728" cy="502920"/>
          </a:xfrm>
          <a:prstGeom prst="rect">
            <a:avLst/>
          </a:prstGeom>
          <a:solidFill>
            <a:srgbClr val="E8740C"/>
          </a:solidFill>
          <a:ln w="12700">
            <a:solidFill>
              <a:srgbClr val="E8740C"/>
            </a:solidFill>
            <a:prstDash val="solid"/>
          </a:ln>
        </p:spPr>
      </p:sp>
      <p:sp>
        <p:nvSpPr>
          <p:cNvPr id="6" name="Text 4"/>
          <p:cNvSpPr/>
          <p:nvPr/>
        </p:nvSpPr>
        <p:spPr>
          <a:xfrm>
            <a:off x="685800" y="640080"/>
            <a:ext cx="8229600" cy="594360"/>
          </a:xfrm>
          <a:prstGeom prst="rect">
            <a:avLst/>
          </a:prstGeom>
          <a:noFill/>
          <a:ln/>
        </p:spPr>
        <p:txBody>
          <a:bodyPr wrap="square" lIns="0" tIns="0" rIns="0" bIns="0" rtlCol="0" anchor="ctr"/>
          <a:lstStyle/>
          <a:p>
            <a:pPr algn="l" indent="0" marL="0">
              <a:buNone/>
            </a:pPr>
            <a:r>
              <a:rPr lang="en-US" sz="2600" b="1" dirty="0">
                <a:solidFill>
                  <a:srgbClr val="2A1700"/>
                </a:solidFill>
                <a:latin typeface="Yu Gothic" pitchFamily="34" charset="0"/>
                <a:ea typeface="Yu Gothic" pitchFamily="34" charset="-122"/>
                <a:cs typeface="Yu Gothic" pitchFamily="34" charset="-120"/>
              </a:rPr>
              <a:t>「成果が出た分だけ」の完全成果報酬</a:t>
            </a:r>
            <a:endParaRPr lang="en-US" sz="2600" dirty="0"/>
          </a:p>
        </p:txBody>
      </p:sp>
      <p:sp>
        <p:nvSpPr>
          <p:cNvPr id="7" name="Text 5"/>
          <p:cNvSpPr/>
          <p:nvPr/>
        </p:nvSpPr>
        <p:spPr>
          <a:xfrm>
            <a:off x="685800" y="1207008"/>
            <a:ext cx="8229600" cy="274320"/>
          </a:xfrm>
          <a:prstGeom prst="rect">
            <a:avLst/>
          </a:prstGeom>
          <a:noFill/>
          <a:ln/>
        </p:spPr>
        <p:txBody>
          <a:bodyPr wrap="square" lIns="0" tIns="0" rIns="0" bIns="0" rtlCol="0" anchor="ctr"/>
          <a:lstStyle/>
          <a:p>
            <a:pPr algn="l" indent="0" marL="0">
              <a:buNone/>
            </a:pPr>
            <a:r>
              <a:rPr lang="en-US" sz="1200" dirty="0">
                <a:solidFill>
                  <a:srgbClr val="6B5A47"/>
                </a:solidFill>
                <a:latin typeface="Yu Gothic" pitchFamily="34" charset="0"/>
                <a:ea typeface="Yu Gothic" pitchFamily="34" charset="-122"/>
                <a:cs typeface="Yu Gothic" pitchFamily="34" charset="-120"/>
              </a:rPr>
              <a:t>払い損が原理的に発生しない仕組みです</a:t>
            </a:r>
            <a:endParaRPr lang="en-US" sz="1200" dirty="0"/>
          </a:p>
        </p:txBody>
      </p:sp>
      <p:sp>
        <p:nvSpPr>
          <p:cNvPr id="8" name="Shape 6"/>
          <p:cNvSpPr/>
          <p:nvPr/>
        </p:nvSpPr>
        <p:spPr>
          <a:xfrm>
            <a:off x="457200" y="1691640"/>
            <a:ext cx="4160520" cy="2880360"/>
          </a:xfrm>
          <a:prstGeom prst="rect">
            <a:avLst/>
          </a:prstGeom>
          <a:solidFill>
            <a:srgbClr val="FFF8F0"/>
          </a:solidFill>
          <a:ln w="12700">
            <a:solidFill>
              <a:srgbClr val="EBDFD0"/>
            </a:solidFill>
            <a:prstDash val="solid"/>
          </a:ln>
        </p:spPr>
      </p:sp>
      <p:sp>
        <p:nvSpPr>
          <p:cNvPr id="9" name="Text 7"/>
          <p:cNvSpPr/>
          <p:nvPr/>
        </p:nvSpPr>
        <p:spPr>
          <a:xfrm>
            <a:off x="594360" y="1783080"/>
            <a:ext cx="3840480" cy="320040"/>
          </a:xfrm>
          <a:prstGeom prst="rect">
            <a:avLst/>
          </a:prstGeom>
          <a:noFill/>
          <a:ln/>
        </p:spPr>
        <p:txBody>
          <a:bodyPr wrap="square" lIns="0" tIns="0" rIns="0" bIns="0" rtlCol="0" anchor="ctr"/>
          <a:lstStyle/>
          <a:p>
            <a:pPr algn="l" indent="0" marL="0">
              <a:buNone/>
            </a:pPr>
            <a:r>
              <a:rPr lang="en-US" sz="1200" spc="200" kern="0" dirty="0">
                <a:solidFill>
                  <a:srgbClr val="6B5A47"/>
                </a:solidFill>
                <a:latin typeface="Yu Gothic" pitchFamily="34" charset="0"/>
                <a:ea typeface="Yu Gothic" pitchFamily="34" charset="-122"/>
                <a:cs typeface="Yu Gothic" pitchFamily="34" charset="-120"/>
              </a:rPr>
              <a:t>すべて無料</a:t>
            </a:r>
            <a:endParaRPr lang="en-US" sz="1200" dirty="0"/>
          </a:p>
        </p:txBody>
      </p:sp>
      <p:sp>
        <p:nvSpPr>
          <p:cNvPr id="10" name="Text 8"/>
          <p:cNvSpPr/>
          <p:nvPr/>
        </p:nvSpPr>
        <p:spPr>
          <a:xfrm>
            <a:off x="594360" y="2103120"/>
            <a:ext cx="3840480" cy="685800"/>
          </a:xfrm>
          <a:prstGeom prst="rect">
            <a:avLst/>
          </a:prstGeom>
          <a:noFill/>
          <a:ln/>
        </p:spPr>
        <p:txBody>
          <a:bodyPr wrap="square" lIns="0" tIns="0" rIns="0" bIns="0" rtlCol="0" anchor="ctr"/>
          <a:lstStyle/>
          <a:p>
            <a:pPr algn="l" indent="0" marL="0">
              <a:buNone/>
            </a:pPr>
            <a:r>
              <a:rPr lang="en-US" sz="4800" b="1" dirty="0">
                <a:solidFill>
                  <a:srgbClr val="E8740C"/>
                </a:solidFill>
                <a:latin typeface="Yu Gothic" pitchFamily="34" charset="0"/>
                <a:ea typeface="Yu Gothic" pitchFamily="34" charset="-122"/>
                <a:cs typeface="Yu Gothic" pitchFamily="34" charset="-120"/>
              </a:rPr>
              <a:t>0円</a:t>
            </a:r>
            <a:endParaRPr lang="en-US" sz="4800" dirty="0"/>
          </a:p>
        </p:txBody>
      </p:sp>
      <p:sp>
        <p:nvSpPr>
          <p:cNvPr id="11" name="Shape 9"/>
          <p:cNvSpPr/>
          <p:nvPr/>
        </p:nvSpPr>
        <p:spPr>
          <a:xfrm>
            <a:off x="594360" y="2852928"/>
            <a:ext cx="914400" cy="0"/>
          </a:xfrm>
          <a:prstGeom prst="line">
            <a:avLst/>
          </a:prstGeom>
          <a:noFill/>
          <a:ln w="25400">
            <a:solidFill>
              <a:srgbClr val="E8740C"/>
            </a:solidFill>
            <a:prstDash val="solid"/>
          </a:ln>
        </p:spPr>
      </p:sp>
      <p:sp>
        <p:nvSpPr>
          <p:cNvPr id="12" name="Text 10"/>
          <p:cNvSpPr/>
          <p:nvPr/>
        </p:nvSpPr>
        <p:spPr>
          <a:xfrm>
            <a:off x="685800" y="3017520"/>
            <a:ext cx="3749040" cy="1508760"/>
          </a:xfrm>
          <a:prstGeom prst="rect">
            <a:avLst/>
          </a:prstGeom>
          <a:noFill/>
          <a:ln/>
        </p:spPr>
        <p:txBody>
          <a:bodyPr wrap="square" lIns="0" tIns="0" rIns="0" bIns="0" rtlCol="0" anchor="t"/>
          <a:lstStyle/>
          <a:p>
            <a:pPr algn="l" marL="342900" indent="-342900">
              <a:spcAft>
                <a:spcPts val="400"/>
              </a:spcAft>
              <a:buSzPct val="100000"/>
              <a:buChar char="●"/>
            </a:pPr>
            <a:r>
              <a:rPr lang="en-US" sz="1100" dirty="0">
                <a:solidFill>
                  <a:srgbClr val="3D2200"/>
                </a:solidFill>
                <a:latin typeface="Yu Gothic" pitchFamily="34" charset="0"/>
                <a:ea typeface="Yu Gothic" pitchFamily="34" charset="-122"/>
                <a:cs typeface="Yu Gothic" pitchFamily="34" charset="-120"/>
              </a:rPr>
              <a:t>初期費用</a:t>
            </a:r>
            <a:endParaRPr lang="en-US" sz="1100" dirty="0"/>
          </a:p>
          <a:p>
            <a:pPr algn="l" marL="342900" indent="-342900">
              <a:spcAft>
                <a:spcPts val="400"/>
              </a:spcAft>
              <a:buSzPct val="100000"/>
              <a:buChar char="●"/>
            </a:pPr>
            <a:r>
              <a:rPr lang="en-US" sz="1100" dirty="0">
                <a:solidFill>
                  <a:srgbClr val="3D2200"/>
                </a:solidFill>
                <a:latin typeface="Yu Gothic" pitchFamily="34" charset="0"/>
                <a:ea typeface="Yu Gothic" pitchFamily="34" charset="-122"/>
                <a:cs typeface="Yu Gothic" pitchFamily="34" charset="-120"/>
              </a:rPr>
              <a:t>月額掲載料</a:t>
            </a:r>
            <a:endParaRPr lang="en-US" sz="1100" dirty="0"/>
          </a:p>
          <a:p>
            <a:pPr algn="l" marL="342900" indent="-342900">
              <a:spcAft>
                <a:spcPts val="400"/>
              </a:spcAft>
              <a:buSzPct val="100000"/>
              <a:buChar char="●"/>
            </a:pPr>
            <a:r>
              <a:rPr lang="en-US" sz="1100" dirty="0">
                <a:solidFill>
                  <a:srgbClr val="3D2200"/>
                </a:solidFill>
                <a:latin typeface="Yu Gothic" pitchFamily="34" charset="0"/>
                <a:ea typeface="Yu Gothic" pitchFamily="34" charset="-122"/>
                <a:cs typeface="Yu Gothic" pitchFamily="34" charset="-120"/>
              </a:rPr>
              <a:t>ルームツアー動画の撮影・編集費</a:t>
            </a:r>
            <a:endParaRPr lang="en-US" sz="1100" dirty="0"/>
          </a:p>
          <a:p>
            <a:pPr algn="l" marL="342900" indent="-342900">
              <a:spcAft>
                <a:spcPts val="400"/>
              </a:spcAft>
              <a:buSzPct val="100000"/>
              <a:buChar char="●"/>
            </a:pPr>
            <a:r>
              <a:rPr lang="en-US" sz="1100" dirty="0">
                <a:solidFill>
                  <a:srgbClr val="3D2200"/>
                </a:solidFill>
                <a:latin typeface="Yu Gothic" pitchFamily="34" charset="0"/>
                <a:ea typeface="Yu Gothic" pitchFamily="34" charset="-122"/>
                <a:cs typeface="Yu Gothic" pitchFamily="34" charset="-120"/>
              </a:rPr>
              <a:t>施工事例・お客様の声の掲載料</a:t>
            </a:r>
            <a:endParaRPr lang="en-US" sz="1100" dirty="0"/>
          </a:p>
          <a:p>
            <a:pPr algn="l" marL="342900" indent="-342900">
              <a:spcAft>
                <a:spcPts val="400"/>
              </a:spcAft>
              <a:buSzPct val="100000"/>
              <a:buChar char="●"/>
            </a:pPr>
            <a:r>
              <a:rPr lang="en-US" sz="1100" dirty="0">
                <a:solidFill>
                  <a:srgbClr val="3D2200"/>
                </a:solidFill>
                <a:latin typeface="Yu Gothic" pitchFamily="34" charset="0"/>
                <a:ea typeface="Yu Gothic" pitchFamily="34" charset="-122"/>
                <a:cs typeface="Yu Gothic" pitchFamily="34" charset="-120"/>
              </a:rPr>
              <a:t>管理画面のご利用料</a:t>
            </a:r>
            <a:endParaRPr lang="en-US" sz="1100" dirty="0"/>
          </a:p>
        </p:txBody>
      </p:sp>
      <p:sp>
        <p:nvSpPr>
          <p:cNvPr id="13" name="Shape 11"/>
          <p:cNvSpPr/>
          <p:nvPr/>
        </p:nvSpPr>
        <p:spPr>
          <a:xfrm>
            <a:off x="4846320" y="1691640"/>
            <a:ext cx="3840480" cy="2880360"/>
          </a:xfrm>
          <a:prstGeom prst="rect">
            <a:avLst/>
          </a:prstGeom>
          <a:solidFill>
            <a:srgbClr val="E8740C"/>
          </a:solidFill>
          <a:ln w="12700">
            <a:solidFill>
              <a:srgbClr val="E8740C"/>
            </a:solidFill>
            <a:prstDash val="solid"/>
          </a:ln>
        </p:spPr>
      </p:sp>
      <p:sp>
        <p:nvSpPr>
          <p:cNvPr id="14" name="Text 12"/>
          <p:cNvSpPr/>
          <p:nvPr/>
        </p:nvSpPr>
        <p:spPr>
          <a:xfrm>
            <a:off x="4983480" y="1783080"/>
            <a:ext cx="3566160" cy="320040"/>
          </a:xfrm>
          <a:prstGeom prst="rect">
            <a:avLst/>
          </a:prstGeom>
          <a:noFill/>
          <a:ln/>
        </p:spPr>
        <p:txBody>
          <a:bodyPr wrap="square" lIns="0" tIns="0" rIns="0" bIns="0" rtlCol="0" anchor="ctr"/>
          <a:lstStyle/>
          <a:p>
            <a:pPr algn="l" indent="0" marL="0">
              <a:buNone/>
            </a:pPr>
            <a:r>
              <a:rPr lang="en-US" sz="1200" spc="200" kern="0" dirty="0">
                <a:solidFill>
                  <a:srgbClr val="FFFFFF"/>
                </a:solidFill>
                <a:latin typeface="Yu Gothic" pitchFamily="34" charset="0"/>
                <a:ea typeface="Yu Gothic" pitchFamily="34" charset="-122"/>
                <a:cs typeface="Yu Gothic" pitchFamily="34" charset="-120"/>
              </a:rPr>
              <a:t>ご負担があるのは</a:t>
            </a:r>
            <a:endParaRPr lang="en-US" sz="1200" dirty="0"/>
          </a:p>
        </p:txBody>
      </p:sp>
      <p:sp>
        <p:nvSpPr>
          <p:cNvPr id="15" name="Text 13"/>
          <p:cNvSpPr/>
          <p:nvPr/>
        </p:nvSpPr>
        <p:spPr>
          <a:xfrm>
            <a:off x="4983480" y="2103120"/>
            <a:ext cx="3566160" cy="868680"/>
          </a:xfrm>
          <a:prstGeom prst="rect">
            <a:avLst/>
          </a:prstGeom>
          <a:noFill/>
          <a:ln/>
        </p:spPr>
        <p:txBody>
          <a:bodyPr wrap="square" lIns="0" tIns="0" rIns="0" bIns="0" rtlCol="0" anchor="ctr"/>
          <a:lstStyle/>
          <a:p>
            <a:pPr algn="l" indent="0" marL="0">
              <a:spcAft>
                <a:spcPts val="200"/>
              </a:spcAft>
              <a:buNone/>
            </a:pPr>
            <a:r>
              <a:rPr lang="en-US" sz="2400" b="1" dirty="0">
                <a:solidFill>
                  <a:srgbClr val="FFFFFF"/>
                </a:solidFill>
                <a:latin typeface="Yu Gothic" pitchFamily="34" charset="0"/>
                <a:ea typeface="Yu Gothic" pitchFamily="34" charset="-122"/>
                <a:cs typeface="Yu Gothic" pitchFamily="34" charset="-120"/>
              </a:rPr>
              <a:t>見学会予約</a:t>
            </a:r>
            <a:endParaRPr lang="en-US" sz="2400" dirty="0"/>
          </a:p>
          <a:p>
            <a:pPr algn="l" indent="0" marL="0">
              <a:spcAft>
                <a:spcPts val="200"/>
              </a:spcAft>
              <a:buNone/>
            </a:pPr>
            <a:r>
              <a:rPr lang="en-US" sz="2400" b="1" dirty="0">
                <a:solidFill>
                  <a:srgbClr val="FFFFFF"/>
                </a:solidFill>
                <a:latin typeface="Yu Gothic" pitchFamily="34" charset="0"/>
                <a:ea typeface="Yu Gothic" pitchFamily="34" charset="-122"/>
                <a:cs typeface="Yu Gothic" pitchFamily="34" charset="-120"/>
              </a:rPr>
              <a:t>が発生した時だけ</a:t>
            </a:r>
            <a:endParaRPr lang="en-US" sz="2400" dirty="0"/>
          </a:p>
        </p:txBody>
      </p:sp>
      <p:sp>
        <p:nvSpPr>
          <p:cNvPr id="16" name="Shape 14"/>
          <p:cNvSpPr/>
          <p:nvPr/>
        </p:nvSpPr>
        <p:spPr>
          <a:xfrm>
            <a:off x="4983480" y="3035808"/>
            <a:ext cx="914400" cy="0"/>
          </a:xfrm>
          <a:prstGeom prst="line">
            <a:avLst/>
          </a:prstGeom>
          <a:noFill/>
          <a:ln w="25400">
            <a:solidFill>
              <a:srgbClr val="FFFFFF"/>
            </a:solidFill>
            <a:prstDash val="solid"/>
          </a:ln>
        </p:spPr>
      </p:sp>
      <p:sp>
        <p:nvSpPr>
          <p:cNvPr id="17" name="Text 15"/>
          <p:cNvSpPr/>
          <p:nvPr/>
        </p:nvSpPr>
        <p:spPr>
          <a:xfrm>
            <a:off x="4983480" y="3200400"/>
            <a:ext cx="3566160" cy="1325880"/>
          </a:xfrm>
          <a:prstGeom prst="rect">
            <a:avLst/>
          </a:prstGeom>
          <a:noFill/>
          <a:ln/>
        </p:spPr>
        <p:txBody>
          <a:bodyPr wrap="square" lIns="0" tIns="0" rIns="0" bIns="0" rtlCol="0" anchor="t"/>
          <a:lstStyle/>
          <a:p>
            <a:pPr algn="l" indent="0" marL="0">
              <a:spcAft>
                <a:spcPts val="200"/>
              </a:spcAft>
              <a:buNone/>
            </a:pPr>
            <a:r>
              <a:rPr lang="en-US" sz="1100" dirty="0">
                <a:solidFill>
                  <a:srgbClr val="FFFFFF"/>
                </a:solidFill>
                <a:latin typeface="Yu Gothic" pitchFamily="34" charset="0"/>
                <a:ea typeface="Yu Gothic" pitchFamily="34" charset="-122"/>
                <a:cs typeface="Yu Gothic" pitchFamily="34" charset="-120"/>
              </a:rPr>
              <a:t>実際にお客様が見学会予約をされた時点で</a:t>
            </a:r>
            <a:endParaRPr lang="en-US" sz="1100" dirty="0"/>
          </a:p>
          <a:p>
            <a:pPr algn="l" indent="0" marL="0">
              <a:spcAft>
                <a:spcPts val="200"/>
              </a:spcAft>
              <a:buNone/>
            </a:pPr>
            <a:r>
              <a:rPr lang="en-US" sz="1100" dirty="0">
                <a:solidFill>
                  <a:srgbClr val="FFFFFF"/>
                </a:solidFill>
                <a:latin typeface="Yu Gothic" pitchFamily="34" charset="0"/>
                <a:ea typeface="Yu Gothic" pitchFamily="34" charset="-122"/>
                <a:cs typeface="Yu Gothic" pitchFamily="34" charset="-120"/>
              </a:rPr>
              <a:t>初めて費用が発生します。</a:t>
            </a:r>
            <a:endParaRPr lang="en-US" sz="1100" dirty="0"/>
          </a:p>
          <a:p>
            <a:pPr algn="l" indent="0" marL="0">
              <a:spcAft>
                <a:spcPts val="200"/>
              </a:spcAft>
              <a:buNone/>
            </a:pPr>
            <a:r>
              <a:rPr lang="en-US" sz="600" dirty="0">
                <a:solidFill>
                  <a:srgbClr val="FFFFFF"/>
                </a:solidFill>
                <a:latin typeface="Yu Gothic" pitchFamily="34" charset="0"/>
                <a:ea typeface="Yu Gothic" pitchFamily="34" charset="-122"/>
                <a:cs typeface="Yu Gothic" pitchFamily="34" charset="-120"/>
              </a:rPr>
              <a:t> </a:t>
            </a:r>
            <a:endParaRPr lang="en-US" sz="1100" dirty="0"/>
          </a:p>
          <a:p>
            <a:pPr algn="l" indent="0" marL="0">
              <a:spcAft>
                <a:spcPts val="200"/>
              </a:spcAft>
              <a:buNone/>
            </a:pPr>
            <a:r>
              <a:rPr lang="en-US" sz="1100" b="1" dirty="0">
                <a:solidFill>
                  <a:srgbClr val="FFFFFF"/>
                </a:solidFill>
                <a:latin typeface="Yu Gothic" pitchFamily="34" charset="0"/>
                <a:ea typeface="Yu Gothic" pitchFamily="34" charset="-122"/>
                <a:cs typeface="Yu Gothic" pitchFamily="34" charset="-120"/>
              </a:rPr>
              <a:t>「反響ゼロの月に払い損」は起こりません。</a:t>
            </a:r>
            <a:endParaRPr lang="en-US" sz="1100" dirty="0"/>
          </a:p>
        </p:txBody>
      </p:sp>
      <p:sp>
        <p:nvSpPr>
          <p:cNvPr id="18" name="Shape 16"/>
          <p:cNvSpPr/>
          <p:nvPr/>
        </p:nvSpPr>
        <p:spPr>
          <a:xfrm>
            <a:off x="365760" y="4823460"/>
            <a:ext cx="8412480" cy="0"/>
          </a:xfrm>
          <a:prstGeom prst="line">
            <a:avLst/>
          </a:prstGeom>
          <a:noFill/>
          <a:ln w="9525">
            <a:solidFill>
              <a:srgbClr val="EBDFD0"/>
            </a:solidFill>
            <a:prstDash val="solid"/>
          </a:ln>
        </p:spPr>
      </p:sp>
      <p:sp>
        <p:nvSpPr>
          <p:cNvPr id="19" name="Text 17"/>
          <p:cNvSpPr/>
          <p:nvPr/>
        </p:nvSpPr>
        <p:spPr>
          <a:xfrm>
            <a:off x="365760" y="4850892"/>
            <a:ext cx="4572000" cy="274320"/>
          </a:xfrm>
          <a:prstGeom prst="rect">
            <a:avLst/>
          </a:prstGeom>
          <a:noFill/>
          <a:ln/>
        </p:spPr>
        <p:txBody>
          <a:bodyPr wrap="square" lIns="0" tIns="0" rIns="0" bIns="0" rtlCol="0" anchor="ctr"/>
          <a:lstStyle/>
          <a:p>
            <a:pPr algn="l" indent="0" marL="0">
              <a:buNone/>
            </a:pPr>
            <a:r>
              <a:rPr lang="en-US" sz="900" dirty="0">
                <a:solidFill>
                  <a:srgbClr val="6B5A47"/>
                </a:solidFill>
                <a:latin typeface="Yu Gothic" pitchFamily="34" charset="0"/>
                <a:ea typeface="Yu Gothic" pitchFamily="34" charset="-122"/>
                <a:cs typeface="Yu Gothic" pitchFamily="34" charset="-120"/>
              </a:rPr>
              <a:t>ぺいほーむ ポータルサイト</a:t>
            </a:r>
            <a:endParaRPr lang="en-US" sz="900" dirty="0"/>
          </a:p>
        </p:txBody>
      </p:sp>
      <p:sp>
        <p:nvSpPr>
          <p:cNvPr id="20" name="Text 18"/>
          <p:cNvSpPr/>
          <p:nvPr/>
        </p:nvSpPr>
        <p:spPr>
          <a:xfrm>
            <a:off x="4206240" y="4850892"/>
            <a:ext cx="4572000" cy="274320"/>
          </a:xfrm>
          <a:prstGeom prst="rect">
            <a:avLst/>
          </a:prstGeom>
          <a:noFill/>
          <a:ln/>
        </p:spPr>
        <p:txBody>
          <a:bodyPr wrap="square" lIns="0" tIns="0" rIns="0" bIns="0" rtlCol="0" anchor="ctr"/>
          <a:lstStyle/>
          <a:p>
            <a:pPr algn="r" indent="0" marL="0">
              <a:buNone/>
            </a:pPr>
            <a:r>
              <a:rPr lang="en-US" sz="900" i="1" dirty="0">
                <a:solidFill>
                  <a:srgbClr val="6B5A47"/>
                </a:solidFill>
                <a:latin typeface="Yu Gothic" pitchFamily="34" charset="0"/>
                <a:ea typeface="Yu Gothic" pitchFamily="34" charset="-122"/>
                <a:cs typeface="Yu Gothic" pitchFamily="34" charset="-120"/>
              </a:rPr>
              <a:t>本気の出会いを、誠実に。</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8740C"/>
          </a:solidFill>
          <a:ln w="12700">
            <a:solidFill>
              <a:srgbClr val="E8740C"/>
            </a:solidFill>
            <a:prstDash val="solid"/>
          </a:ln>
        </p:spPr>
      </p:sp>
      <p:sp>
        <p:nvSpPr>
          <p:cNvPr id="3" name="Text 1"/>
          <p:cNvSpPr/>
          <p:nvPr/>
        </p:nvSpPr>
        <p:spPr>
          <a:xfrm>
            <a:off x="365760" y="182880"/>
            <a:ext cx="1097280" cy="274320"/>
          </a:xfrm>
          <a:prstGeom prst="rect">
            <a:avLst/>
          </a:prstGeom>
          <a:noFill/>
          <a:ln/>
        </p:spPr>
        <p:txBody>
          <a:bodyPr wrap="square" lIns="0" tIns="0" rIns="0" bIns="0" rtlCol="0" anchor="ctr"/>
          <a:lstStyle/>
          <a:p>
            <a:pPr algn="l" indent="0" marL="0">
              <a:buNone/>
            </a:pPr>
            <a:r>
              <a:rPr lang="en-US" sz="1000" b="1" dirty="0">
                <a:solidFill>
                  <a:srgbClr val="E8740C"/>
                </a:solidFill>
                <a:latin typeface="Yu Gothic" pitchFamily="34" charset="0"/>
                <a:ea typeface="Yu Gothic" pitchFamily="34" charset="-122"/>
                <a:cs typeface="Yu Gothic" pitchFamily="34" charset="-120"/>
              </a:rPr>
              <a:t>16 / 20</a:t>
            </a:r>
            <a:endParaRPr lang="en-US" sz="1000" dirty="0"/>
          </a:p>
        </p:txBody>
      </p:sp>
      <p:sp>
        <p:nvSpPr>
          <p:cNvPr id="4" name="Text 2"/>
          <p:cNvSpPr/>
          <p:nvPr/>
        </p:nvSpPr>
        <p:spPr>
          <a:xfrm>
            <a:off x="1554480" y="182880"/>
            <a:ext cx="7223760" cy="274320"/>
          </a:xfrm>
          <a:prstGeom prst="rect">
            <a:avLst/>
          </a:prstGeom>
          <a:noFill/>
          <a:ln/>
        </p:spPr>
        <p:txBody>
          <a:bodyPr wrap="square" lIns="0" tIns="0" rIns="0" bIns="0" rtlCol="0" anchor="ctr"/>
          <a:lstStyle/>
          <a:p>
            <a:pPr algn="r" indent="0" marL="0">
              <a:buNone/>
            </a:pPr>
            <a:r>
              <a:rPr lang="en-US" sz="1000" dirty="0">
                <a:solidFill>
                  <a:srgbClr val="6B5A47"/>
                </a:solidFill>
                <a:latin typeface="Yu Gothic" pitchFamily="34" charset="0"/>
                <a:ea typeface="Yu Gothic" pitchFamily="34" charset="-122"/>
                <a:cs typeface="Yu Gothic" pitchFamily="34" charset="-120"/>
              </a:rPr>
              <a:t>リリース時の料金プラン</a:t>
            </a:r>
            <a:endParaRPr lang="en-US" sz="1000" dirty="0"/>
          </a:p>
        </p:txBody>
      </p:sp>
      <p:sp>
        <p:nvSpPr>
          <p:cNvPr id="5" name="Shape 3"/>
          <p:cNvSpPr/>
          <p:nvPr/>
        </p:nvSpPr>
        <p:spPr>
          <a:xfrm>
            <a:off x="457200" y="685800"/>
            <a:ext cx="109728" cy="502920"/>
          </a:xfrm>
          <a:prstGeom prst="rect">
            <a:avLst/>
          </a:prstGeom>
          <a:solidFill>
            <a:srgbClr val="E8740C"/>
          </a:solidFill>
          <a:ln w="12700">
            <a:solidFill>
              <a:srgbClr val="E8740C"/>
            </a:solidFill>
            <a:prstDash val="solid"/>
          </a:ln>
        </p:spPr>
      </p:sp>
      <p:sp>
        <p:nvSpPr>
          <p:cNvPr id="6" name="Text 4"/>
          <p:cNvSpPr/>
          <p:nvPr/>
        </p:nvSpPr>
        <p:spPr>
          <a:xfrm>
            <a:off x="685800" y="640080"/>
            <a:ext cx="8229600" cy="594360"/>
          </a:xfrm>
          <a:prstGeom prst="rect">
            <a:avLst/>
          </a:prstGeom>
          <a:noFill/>
          <a:ln/>
        </p:spPr>
        <p:txBody>
          <a:bodyPr wrap="square" lIns="0" tIns="0" rIns="0" bIns="0" rtlCol="0" anchor="ctr"/>
          <a:lstStyle/>
          <a:p>
            <a:pPr algn="l" indent="0" marL="0">
              <a:buNone/>
            </a:pPr>
            <a:r>
              <a:rPr lang="en-US" sz="2600" b="1" dirty="0">
                <a:solidFill>
                  <a:srgbClr val="2A1700"/>
                </a:solidFill>
                <a:latin typeface="Yu Gothic" pitchFamily="34" charset="0"/>
                <a:ea typeface="Yu Gothic" pitchFamily="34" charset="-122"/>
                <a:cs typeface="Yu Gothic" pitchFamily="34" charset="-120"/>
              </a:rPr>
              <a:t>リリース時の料金（先行パートナー10社様）</a:t>
            </a:r>
            <a:endParaRPr lang="en-US" sz="2600" dirty="0"/>
          </a:p>
        </p:txBody>
      </p:sp>
      <p:sp>
        <p:nvSpPr>
          <p:cNvPr id="7" name="Text 5"/>
          <p:cNvSpPr/>
          <p:nvPr/>
        </p:nvSpPr>
        <p:spPr>
          <a:xfrm>
            <a:off x="685800" y="1207008"/>
            <a:ext cx="8229600" cy="274320"/>
          </a:xfrm>
          <a:prstGeom prst="rect">
            <a:avLst/>
          </a:prstGeom>
          <a:noFill/>
          <a:ln/>
        </p:spPr>
        <p:txBody>
          <a:bodyPr wrap="square" lIns="0" tIns="0" rIns="0" bIns="0" rtlCol="0" anchor="ctr"/>
          <a:lstStyle/>
          <a:p>
            <a:pPr algn="l" indent="0" marL="0">
              <a:buNone/>
            </a:pPr>
            <a:r>
              <a:rPr lang="en-US" sz="1200" dirty="0">
                <a:solidFill>
                  <a:srgbClr val="6B5A47"/>
                </a:solidFill>
                <a:latin typeface="Yu Gothic" pitchFamily="34" charset="0"/>
                <a:ea typeface="Yu Gothic" pitchFamily="34" charset="-122"/>
                <a:cs typeface="Yu Gothic" pitchFamily="34" charset="-120"/>
              </a:rPr>
              <a:t>M0-M6 の実績作り期間は、最もリスクの少ない条件でご参画いただけます</a:t>
            </a:r>
            <a:endParaRPr lang="en-US" sz="1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4754880" cy="2560320"/>
        </p:xfrm>
        <a:graphic>
          <a:graphicData uri="http://schemas.openxmlformats.org/drawingml/2006/table">
            <a:tbl>
              <a:tblPr/>
              <a:tblGrid>
                <a:gridCol w="2560320"/>
                <a:gridCol w="2194560"/>
              </a:tblGrid>
              <a:tr h="420624">
                <a:tc>
                  <a:txBody>
                    <a:bodyPr/>
                    <a:lstStyle/>
                    <a:p>
                      <a:pPr algn="ctr" indent="0" marL="0">
                        <a:buNone/>
                      </a:pPr>
                      <a:r>
                        <a:rPr lang="en-US" sz="1100" b="1" dirty="0">
                          <a:solidFill>
                            <a:srgbClr val="FFFFFF"/>
                          </a:solidFill>
                          <a:latin typeface="Yu Gothic" pitchFamily="34" charset="0"/>
                          <a:ea typeface="Yu Gothic" pitchFamily="34" charset="-122"/>
                          <a:cs typeface="Yu Gothic" pitchFamily="34" charset="-120"/>
                        </a:rPr>
                        <a:t>項目</a:t>
                      </a:r>
                      <a:endParaRPr lang="en-US" sz="1100" dirty="0">
                        <a:latin typeface="Yu Gothic" charset="0"/>
                        <a:ea typeface="Yu Gothic" charset="0"/>
                        <a:cs typeface="Yu Gothic" charset="0"/>
                      </a:endParaRPr>
                    </a:p>
                  </a:txBody>
                  <a:tcPr marL="91440" marR="91440" marT="91440" marB="91440" anchor="ctr">
                    <a:lnL w="6350" cap="flat" cmpd="sng" algn="ctr">
                      <a:solidFill>
                        <a:srgbClr val="EBDFD0"/>
                      </a:solidFill>
                      <a:prstDash val="solid"/>
                      <a:round/>
                      <a:headEnd type="none" w="med" len="med"/>
                      <a:tailEnd type="none" w="med" len="med"/>
                    </a:lnL>
                    <a:lnR w="6350" cap="flat" cmpd="sng" algn="ctr">
                      <a:solidFill>
                        <a:srgbClr val="EBDFD0"/>
                      </a:solidFill>
                      <a:prstDash val="solid"/>
                      <a:round/>
                      <a:headEnd type="none" w="med" len="med"/>
                      <a:tailEnd type="none" w="med" len="med"/>
                    </a:lnR>
                    <a:lnT w="6350" cap="flat" cmpd="sng" algn="ctr">
                      <a:solidFill>
                        <a:srgbClr val="EBDFD0"/>
                      </a:solidFill>
                      <a:prstDash val="solid"/>
                      <a:round/>
                      <a:headEnd type="none" w="med" len="med"/>
                      <a:tailEnd type="none" w="med" len="med"/>
                    </a:lnT>
                    <a:lnB w="6350" cap="flat" cmpd="sng" algn="ctr">
                      <a:solidFill>
                        <a:srgbClr val="EBDFD0"/>
                      </a:solidFill>
                      <a:prstDash val="solid"/>
                      <a:round/>
                      <a:headEnd type="none" w="med" len="med"/>
                      <a:tailEnd type="none" w="med" len="med"/>
                    </a:lnB>
                    <a:solidFill>
                      <a:srgbClr val="2A1700"/>
                    </a:solidFill>
                  </a:tcPr>
                </a:tc>
                <a:tc>
                  <a:txBody>
                    <a:bodyPr/>
                    <a:lstStyle/>
                    <a:p>
                      <a:pPr algn="ctr" indent="0" marL="0">
                        <a:buNone/>
                      </a:pPr>
                      <a:r>
                        <a:rPr lang="en-US" sz="1100" b="1" dirty="0">
                          <a:solidFill>
                            <a:srgbClr val="FFFFFF"/>
                          </a:solidFill>
                          <a:latin typeface="Yu Gothic" pitchFamily="34" charset="0"/>
                          <a:ea typeface="Yu Gothic" pitchFamily="34" charset="-122"/>
                          <a:cs typeface="Yu Gothic" pitchFamily="34" charset="-120"/>
                        </a:rPr>
                        <a:t>料金</a:t>
                      </a:r>
                      <a:endParaRPr lang="en-US" sz="1100" dirty="0">
                        <a:latin typeface="Yu Gothic" charset="0"/>
                        <a:ea typeface="Yu Gothic" charset="0"/>
                        <a:cs typeface="Yu Gothic" charset="0"/>
                      </a:endParaRPr>
                    </a:p>
                  </a:txBody>
                  <a:tcPr marL="91440" marR="91440" marT="91440" marB="91440" anchor="ctr">
                    <a:lnL w="6350" cap="flat" cmpd="sng" algn="ctr">
                      <a:solidFill>
                        <a:srgbClr val="EBDFD0"/>
                      </a:solidFill>
                      <a:prstDash val="solid"/>
                      <a:round/>
                      <a:headEnd type="none" w="med" len="med"/>
                      <a:tailEnd type="none" w="med" len="med"/>
                    </a:lnL>
                    <a:lnR w="6350" cap="flat" cmpd="sng" algn="ctr">
                      <a:solidFill>
                        <a:srgbClr val="EBDFD0"/>
                      </a:solidFill>
                      <a:prstDash val="solid"/>
                      <a:round/>
                      <a:headEnd type="none" w="med" len="med"/>
                      <a:tailEnd type="none" w="med" len="med"/>
                    </a:lnR>
                    <a:lnT w="6350" cap="flat" cmpd="sng" algn="ctr">
                      <a:solidFill>
                        <a:srgbClr val="EBDFD0"/>
                      </a:solidFill>
                      <a:prstDash val="solid"/>
                      <a:round/>
                      <a:headEnd type="none" w="med" len="med"/>
                      <a:tailEnd type="none" w="med" len="med"/>
                    </a:lnT>
                    <a:lnB w="6350" cap="flat" cmpd="sng" algn="ctr">
                      <a:solidFill>
                        <a:srgbClr val="EBDFD0"/>
                      </a:solidFill>
                      <a:prstDash val="solid"/>
                      <a:round/>
                      <a:headEnd type="none" w="med" len="med"/>
                      <a:tailEnd type="none" w="med" len="med"/>
                    </a:lnB>
                    <a:solidFill>
                      <a:srgbClr val="2A1700"/>
                    </a:solidFill>
                  </a:tcPr>
                </a:tc>
              </a:tr>
              <a:tr h="420624">
                <a:tc>
                  <a:txBody>
                    <a:bodyPr/>
                    <a:lstStyle/>
                    <a:p>
                      <a:pPr indent="0" marL="0">
                        <a:buNone/>
                      </a:pPr>
                      <a:r>
                        <a:rPr lang="en-US" sz="1100" dirty="0">
                          <a:solidFill>
                            <a:srgbClr val="3D2200"/>
                          </a:solidFill>
                          <a:latin typeface="Yu Gothic" pitchFamily="34" charset="0"/>
                          <a:ea typeface="Yu Gothic" pitchFamily="34" charset="-122"/>
                          <a:cs typeface="Yu Gothic" pitchFamily="34" charset="-120"/>
                        </a:rPr>
                        <a:t>初期費用</a:t>
                      </a:r>
                      <a:endParaRPr lang="en-US" sz="1100" dirty="0">
                        <a:latin typeface="Yu Gothic" charset="0"/>
                        <a:ea typeface="Yu Gothic" charset="0"/>
                        <a:cs typeface="Yu Gothic" charset="0"/>
                      </a:endParaRPr>
                    </a:p>
                  </a:txBody>
                  <a:tcPr marL="91440" marR="91440" marT="91440" marB="91440" anchor="ctr">
                    <a:lnL w="6350" cap="flat" cmpd="sng" algn="ctr">
                      <a:solidFill>
                        <a:srgbClr val="EBDFD0"/>
                      </a:solidFill>
                      <a:prstDash val="solid"/>
                      <a:round/>
                      <a:headEnd type="none" w="med" len="med"/>
                      <a:tailEnd type="none" w="med" len="med"/>
                    </a:lnL>
                    <a:lnR w="6350" cap="flat" cmpd="sng" algn="ctr">
                      <a:solidFill>
                        <a:srgbClr val="EBDFD0"/>
                      </a:solidFill>
                      <a:prstDash val="solid"/>
                      <a:round/>
                      <a:headEnd type="none" w="med" len="med"/>
                      <a:tailEnd type="none" w="med" len="med"/>
                    </a:lnR>
                    <a:lnT w="6350" cap="flat" cmpd="sng" algn="ctr">
                      <a:solidFill>
                        <a:srgbClr val="EBDFD0"/>
                      </a:solidFill>
                      <a:prstDash val="solid"/>
                      <a:round/>
                      <a:headEnd type="none" w="med" len="med"/>
                      <a:tailEnd type="none" w="med" len="med"/>
                    </a:lnT>
                    <a:lnB w="6350" cap="flat" cmpd="sng" algn="ctr">
                      <a:solidFill>
                        <a:srgbClr val="EBDFD0"/>
                      </a:solidFill>
                      <a:prstDash val="solid"/>
                      <a:round/>
                      <a:headEnd type="none" w="med" len="med"/>
                      <a:tailEnd type="none" w="med" len="med"/>
                    </a:lnB>
                    <a:solidFill>
                      <a:srgbClr val="FFF8F0"/>
                    </a:solidFill>
                  </a:tcPr>
                </a:tc>
                <a:tc>
                  <a:txBody>
                    <a:bodyPr/>
                    <a:lstStyle/>
                    <a:p>
                      <a:pPr algn="ctr" indent="0" marL="0">
                        <a:buNone/>
                      </a:pPr>
                      <a:r>
                        <a:rPr lang="en-US" sz="1300" b="1" dirty="0">
                          <a:solidFill>
                            <a:srgbClr val="E8740C"/>
                          </a:solidFill>
                          <a:latin typeface="Yu Gothic" pitchFamily="34" charset="0"/>
                          <a:ea typeface="Yu Gothic" pitchFamily="34" charset="-122"/>
                          <a:cs typeface="Yu Gothic" pitchFamily="34" charset="-120"/>
                        </a:rPr>
                        <a:t>無料</a:t>
                      </a:r>
                      <a:endParaRPr lang="en-US" sz="1300" dirty="0">
                        <a:latin typeface="Yu Gothic" charset="0"/>
                        <a:ea typeface="Yu Gothic" charset="0"/>
                        <a:cs typeface="Yu Gothic" charset="0"/>
                      </a:endParaRPr>
                    </a:p>
                  </a:txBody>
                  <a:tcPr marL="91440" marR="91440" marT="91440" marB="91440" anchor="ctr">
                    <a:lnL w="6350" cap="flat" cmpd="sng" algn="ctr">
                      <a:solidFill>
                        <a:srgbClr val="EBDFD0"/>
                      </a:solidFill>
                      <a:prstDash val="solid"/>
                      <a:round/>
                      <a:headEnd type="none" w="med" len="med"/>
                      <a:tailEnd type="none" w="med" len="med"/>
                    </a:lnL>
                    <a:lnR w="6350" cap="flat" cmpd="sng" algn="ctr">
                      <a:solidFill>
                        <a:srgbClr val="EBDFD0"/>
                      </a:solidFill>
                      <a:prstDash val="solid"/>
                      <a:round/>
                      <a:headEnd type="none" w="med" len="med"/>
                      <a:tailEnd type="none" w="med" len="med"/>
                    </a:lnR>
                    <a:lnT w="6350" cap="flat" cmpd="sng" algn="ctr">
                      <a:solidFill>
                        <a:srgbClr val="EBDFD0"/>
                      </a:solidFill>
                      <a:prstDash val="solid"/>
                      <a:round/>
                      <a:headEnd type="none" w="med" len="med"/>
                      <a:tailEnd type="none" w="med" len="med"/>
                    </a:lnT>
                    <a:lnB w="6350" cap="flat" cmpd="sng" algn="ctr">
                      <a:solidFill>
                        <a:srgbClr val="EBDFD0"/>
                      </a:solidFill>
                      <a:prstDash val="solid"/>
                      <a:round/>
                      <a:headEnd type="none" w="med" len="med"/>
                      <a:tailEnd type="none" w="med" len="med"/>
                    </a:lnB>
                  </a:tcPr>
                </a:tc>
              </a:tr>
              <a:tr h="420624">
                <a:tc>
                  <a:txBody>
                    <a:bodyPr/>
                    <a:lstStyle/>
                    <a:p>
                      <a:pPr indent="0" marL="0">
                        <a:buNone/>
                      </a:pPr>
                      <a:r>
                        <a:rPr lang="en-US" sz="1100" dirty="0">
                          <a:solidFill>
                            <a:srgbClr val="3D2200"/>
                          </a:solidFill>
                          <a:latin typeface="Yu Gothic" pitchFamily="34" charset="0"/>
                          <a:ea typeface="Yu Gothic" pitchFamily="34" charset="-122"/>
                          <a:cs typeface="Yu Gothic" pitchFamily="34" charset="-120"/>
                        </a:rPr>
                        <a:t>月額費用</a:t>
                      </a:r>
                      <a:endParaRPr lang="en-US" sz="1100" dirty="0">
                        <a:latin typeface="Yu Gothic" charset="0"/>
                        <a:ea typeface="Yu Gothic" charset="0"/>
                        <a:cs typeface="Yu Gothic" charset="0"/>
                      </a:endParaRPr>
                    </a:p>
                  </a:txBody>
                  <a:tcPr marL="91440" marR="91440" marT="91440" marB="91440" anchor="ctr">
                    <a:lnL w="6350" cap="flat" cmpd="sng" algn="ctr">
                      <a:solidFill>
                        <a:srgbClr val="EBDFD0"/>
                      </a:solidFill>
                      <a:prstDash val="solid"/>
                      <a:round/>
                      <a:headEnd type="none" w="med" len="med"/>
                      <a:tailEnd type="none" w="med" len="med"/>
                    </a:lnL>
                    <a:lnR w="6350" cap="flat" cmpd="sng" algn="ctr">
                      <a:solidFill>
                        <a:srgbClr val="EBDFD0"/>
                      </a:solidFill>
                      <a:prstDash val="solid"/>
                      <a:round/>
                      <a:headEnd type="none" w="med" len="med"/>
                      <a:tailEnd type="none" w="med" len="med"/>
                    </a:lnR>
                    <a:lnT w="6350" cap="flat" cmpd="sng" algn="ctr">
                      <a:solidFill>
                        <a:srgbClr val="EBDFD0"/>
                      </a:solidFill>
                      <a:prstDash val="solid"/>
                      <a:round/>
                      <a:headEnd type="none" w="med" len="med"/>
                      <a:tailEnd type="none" w="med" len="med"/>
                    </a:lnT>
                    <a:lnB w="6350" cap="flat" cmpd="sng" algn="ctr">
                      <a:solidFill>
                        <a:srgbClr val="EBDFD0"/>
                      </a:solidFill>
                      <a:prstDash val="solid"/>
                      <a:round/>
                      <a:headEnd type="none" w="med" len="med"/>
                      <a:tailEnd type="none" w="med" len="med"/>
                    </a:lnB>
                    <a:solidFill>
                      <a:srgbClr val="FFF8F0"/>
                    </a:solidFill>
                  </a:tcPr>
                </a:tc>
                <a:tc>
                  <a:txBody>
                    <a:bodyPr/>
                    <a:lstStyle/>
                    <a:p>
                      <a:pPr algn="ctr" indent="0" marL="0">
                        <a:buNone/>
                      </a:pPr>
                      <a:r>
                        <a:rPr lang="en-US" sz="1300" b="1" dirty="0">
                          <a:solidFill>
                            <a:srgbClr val="E8740C"/>
                          </a:solidFill>
                          <a:latin typeface="Yu Gothic" pitchFamily="34" charset="0"/>
                          <a:ea typeface="Yu Gothic" pitchFamily="34" charset="-122"/>
                          <a:cs typeface="Yu Gothic" pitchFamily="34" charset="-120"/>
                        </a:rPr>
                        <a:t>無料</a:t>
                      </a:r>
                      <a:endParaRPr lang="en-US" sz="1300" dirty="0">
                        <a:latin typeface="Yu Gothic" charset="0"/>
                        <a:ea typeface="Yu Gothic" charset="0"/>
                        <a:cs typeface="Yu Gothic" charset="0"/>
                      </a:endParaRPr>
                    </a:p>
                  </a:txBody>
                  <a:tcPr marL="91440" marR="91440" marT="91440" marB="91440" anchor="ctr">
                    <a:lnL w="6350" cap="flat" cmpd="sng" algn="ctr">
                      <a:solidFill>
                        <a:srgbClr val="EBDFD0"/>
                      </a:solidFill>
                      <a:prstDash val="solid"/>
                      <a:round/>
                      <a:headEnd type="none" w="med" len="med"/>
                      <a:tailEnd type="none" w="med" len="med"/>
                    </a:lnL>
                    <a:lnR w="6350" cap="flat" cmpd="sng" algn="ctr">
                      <a:solidFill>
                        <a:srgbClr val="EBDFD0"/>
                      </a:solidFill>
                      <a:prstDash val="solid"/>
                      <a:round/>
                      <a:headEnd type="none" w="med" len="med"/>
                      <a:tailEnd type="none" w="med" len="med"/>
                    </a:lnR>
                    <a:lnT w="6350" cap="flat" cmpd="sng" algn="ctr">
                      <a:solidFill>
                        <a:srgbClr val="EBDFD0"/>
                      </a:solidFill>
                      <a:prstDash val="solid"/>
                      <a:round/>
                      <a:headEnd type="none" w="med" len="med"/>
                      <a:tailEnd type="none" w="med" len="med"/>
                    </a:lnT>
                    <a:lnB w="6350" cap="flat" cmpd="sng" algn="ctr">
                      <a:solidFill>
                        <a:srgbClr val="EBDFD0"/>
                      </a:solidFill>
                      <a:prstDash val="solid"/>
                      <a:round/>
                      <a:headEnd type="none" w="med" len="med"/>
                      <a:tailEnd type="none" w="med" len="med"/>
                    </a:lnB>
                  </a:tcPr>
                </a:tc>
              </a:tr>
              <a:tr h="420624">
                <a:tc>
                  <a:txBody>
                    <a:bodyPr/>
                    <a:lstStyle/>
                    <a:p>
                      <a:pPr indent="0" marL="0">
                        <a:buNone/>
                      </a:pPr>
                      <a:r>
                        <a:rPr lang="en-US" sz="1100" dirty="0">
                          <a:solidFill>
                            <a:srgbClr val="3D2200"/>
                          </a:solidFill>
                          <a:latin typeface="Yu Gothic" pitchFamily="34" charset="0"/>
                          <a:ea typeface="Yu Gothic" pitchFamily="34" charset="-122"/>
                          <a:cs typeface="Yu Gothic" pitchFamily="34" charset="-120"/>
                        </a:rPr>
                        <a:t>撮影費（年1本）</a:t>
                      </a:r>
                      <a:endParaRPr lang="en-US" sz="1100" dirty="0">
                        <a:latin typeface="Yu Gothic" charset="0"/>
                        <a:ea typeface="Yu Gothic" charset="0"/>
                        <a:cs typeface="Yu Gothic" charset="0"/>
                      </a:endParaRPr>
                    </a:p>
                  </a:txBody>
                  <a:tcPr marL="91440" marR="91440" marT="91440" marB="91440" anchor="ctr">
                    <a:lnL w="6350" cap="flat" cmpd="sng" algn="ctr">
                      <a:solidFill>
                        <a:srgbClr val="EBDFD0"/>
                      </a:solidFill>
                      <a:prstDash val="solid"/>
                      <a:round/>
                      <a:headEnd type="none" w="med" len="med"/>
                      <a:tailEnd type="none" w="med" len="med"/>
                    </a:lnL>
                    <a:lnR w="6350" cap="flat" cmpd="sng" algn="ctr">
                      <a:solidFill>
                        <a:srgbClr val="EBDFD0"/>
                      </a:solidFill>
                      <a:prstDash val="solid"/>
                      <a:round/>
                      <a:headEnd type="none" w="med" len="med"/>
                      <a:tailEnd type="none" w="med" len="med"/>
                    </a:lnR>
                    <a:lnT w="6350" cap="flat" cmpd="sng" algn="ctr">
                      <a:solidFill>
                        <a:srgbClr val="EBDFD0"/>
                      </a:solidFill>
                      <a:prstDash val="solid"/>
                      <a:round/>
                      <a:headEnd type="none" w="med" len="med"/>
                      <a:tailEnd type="none" w="med" len="med"/>
                    </a:lnT>
                    <a:lnB w="6350" cap="flat" cmpd="sng" algn="ctr">
                      <a:solidFill>
                        <a:srgbClr val="EBDFD0"/>
                      </a:solidFill>
                      <a:prstDash val="solid"/>
                      <a:round/>
                      <a:headEnd type="none" w="med" len="med"/>
                      <a:tailEnd type="none" w="med" len="med"/>
                    </a:lnB>
                    <a:solidFill>
                      <a:srgbClr val="FFF8F0"/>
                    </a:solidFill>
                  </a:tcPr>
                </a:tc>
                <a:tc>
                  <a:txBody>
                    <a:bodyPr/>
                    <a:lstStyle/>
                    <a:p>
                      <a:pPr algn="ctr" indent="0" marL="0">
                        <a:buNone/>
                      </a:pPr>
                      <a:r>
                        <a:rPr lang="en-US" sz="1300" b="1" dirty="0">
                          <a:solidFill>
                            <a:srgbClr val="E8740C"/>
                          </a:solidFill>
                          <a:latin typeface="Yu Gothic" pitchFamily="34" charset="0"/>
                          <a:ea typeface="Yu Gothic" pitchFamily="34" charset="-122"/>
                          <a:cs typeface="Yu Gothic" pitchFamily="34" charset="-120"/>
                        </a:rPr>
                        <a:t>無料</a:t>
                      </a:r>
                      <a:endParaRPr lang="en-US" sz="1300" dirty="0">
                        <a:latin typeface="Yu Gothic" charset="0"/>
                        <a:ea typeface="Yu Gothic" charset="0"/>
                        <a:cs typeface="Yu Gothic" charset="0"/>
                      </a:endParaRPr>
                    </a:p>
                  </a:txBody>
                  <a:tcPr marL="91440" marR="91440" marT="91440" marB="91440" anchor="ctr">
                    <a:lnL w="6350" cap="flat" cmpd="sng" algn="ctr">
                      <a:solidFill>
                        <a:srgbClr val="EBDFD0"/>
                      </a:solidFill>
                      <a:prstDash val="solid"/>
                      <a:round/>
                      <a:headEnd type="none" w="med" len="med"/>
                      <a:tailEnd type="none" w="med" len="med"/>
                    </a:lnL>
                    <a:lnR w="6350" cap="flat" cmpd="sng" algn="ctr">
                      <a:solidFill>
                        <a:srgbClr val="EBDFD0"/>
                      </a:solidFill>
                      <a:prstDash val="solid"/>
                      <a:round/>
                      <a:headEnd type="none" w="med" len="med"/>
                      <a:tailEnd type="none" w="med" len="med"/>
                    </a:lnR>
                    <a:lnT w="6350" cap="flat" cmpd="sng" algn="ctr">
                      <a:solidFill>
                        <a:srgbClr val="EBDFD0"/>
                      </a:solidFill>
                      <a:prstDash val="solid"/>
                      <a:round/>
                      <a:headEnd type="none" w="med" len="med"/>
                      <a:tailEnd type="none" w="med" len="med"/>
                    </a:lnT>
                    <a:lnB w="6350" cap="flat" cmpd="sng" algn="ctr">
                      <a:solidFill>
                        <a:srgbClr val="EBDFD0"/>
                      </a:solidFill>
                      <a:prstDash val="solid"/>
                      <a:round/>
                      <a:headEnd type="none" w="med" len="med"/>
                      <a:tailEnd type="none" w="med" len="med"/>
                    </a:lnB>
                  </a:tcPr>
                </a:tc>
              </a:tr>
              <a:tr h="420624">
                <a:tc>
                  <a:txBody>
                    <a:bodyPr/>
                    <a:lstStyle/>
                    <a:p>
                      <a:pPr indent="0" marL="0">
                        <a:buNone/>
                      </a:pPr>
                      <a:r>
                        <a:rPr lang="en-US" sz="1100" b="1" dirty="0">
                          <a:solidFill>
                            <a:srgbClr val="2A1700"/>
                          </a:solidFill>
                          <a:latin typeface="Yu Gothic" pitchFamily="34" charset="0"/>
                          <a:ea typeface="Yu Gothic" pitchFamily="34" charset="-122"/>
                          <a:cs typeface="Yu Gothic" pitchFamily="34" charset="-120"/>
                        </a:rPr>
                        <a:t>見学会予約（ご紹介料）</a:t>
                      </a:r>
                      <a:endParaRPr lang="en-US" sz="1100" dirty="0">
                        <a:latin typeface="Yu Gothic" charset="0"/>
                        <a:ea typeface="Yu Gothic" charset="0"/>
                        <a:cs typeface="Yu Gothic" charset="0"/>
                      </a:endParaRPr>
                    </a:p>
                  </a:txBody>
                  <a:tcPr marL="91440" marR="91440" marT="91440" marB="91440" anchor="ctr">
                    <a:lnL w="6350" cap="flat" cmpd="sng" algn="ctr">
                      <a:solidFill>
                        <a:srgbClr val="EBDFD0"/>
                      </a:solidFill>
                      <a:prstDash val="solid"/>
                      <a:round/>
                      <a:headEnd type="none" w="med" len="med"/>
                      <a:tailEnd type="none" w="med" len="med"/>
                    </a:lnL>
                    <a:lnR w="6350" cap="flat" cmpd="sng" algn="ctr">
                      <a:solidFill>
                        <a:srgbClr val="EBDFD0"/>
                      </a:solidFill>
                      <a:prstDash val="solid"/>
                      <a:round/>
                      <a:headEnd type="none" w="med" len="med"/>
                      <a:tailEnd type="none" w="med" len="med"/>
                    </a:lnR>
                    <a:lnT w="6350" cap="flat" cmpd="sng" algn="ctr">
                      <a:solidFill>
                        <a:srgbClr val="EBDFD0"/>
                      </a:solidFill>
                      <a:prstDash val="solid"/>
                      <a:round/>
                      <a:headEnd type="none" w="med" len="med"/>
                      <a:tailEnd type="none" w="med" len="med"/>
                    </a:lnT>
                    <a:lnB w="6350" cap="flat" cmpd="sng" algn="ctr">
                      <a:solidFill>
                        <a:srgbClr val="EBDFD0"/>
                      </a:solidFill>
                      <a:prstDash val="solid"/>
                      <a:round/>
                      <a:headEnd type="none" w="med" len="med"/>
                      <a:tailEnd type="none" w="med" len="med"/>
                    </a:lnB>
                    <a:solidFill>
                      <a:srgbClr val="FFE8D1"/>
                    </a:solidFill>
                  </a:tcPr>
                </a:tc>
                <a:tc>
                  <a:txBody>
                    <a:bodyPr/>
                    <a:lstStyle/>
                    <a:p>
                      <a:pPr algn="ctr" indent="0" marL="0">
                        <a:buNone/>
                      </a:pPr>
                      <a:r>
                        <a:rPr lang="en-US" sz="1300" b="1" dirty="0">
                          <a:solidFill>
                            <a:srgbClr val="E8740C"/>
                          </a:solidFill>
                          <a:latin typeface="Yu Gothic" pitchFamily="34" charset="0"/>
                          <a:ea typeface="Yu Gothic" pitchFamily="34" charset="-122"/>
                          <a:cs typeface="Yu Gothic" pitchFamily="34" charset="-120"/>
                        </a:rPr>
                        <a:t>1件 50,000円（税別）</a:t>
                      </a:r>
                      <a:endParaRPr lang="en-US" sz="1300" dirty="0">
                        <a:latin typeface="Yu Gothic" charset="0"/>
                        <a:ea typeface="Yu Gothic" charset="0"/>
                        <a:cs typeface="Yu Gothic" charset="0"/>
                      </a:endParaRPr>
                    </a:p>
                  </a:txBody>
                  <a:tcPr marL="91440" marR="91440" marT="91440" marB="91440" anchor="ctr">
                    <a:lnL w="6350" cap="flat" cmpd="sng" algn="ctr">
                      <a:solidFill>
                        <a:srgbClr val="EBDFD0"/>
                      </a:solidFill>
                      <a:prstDash val="solid"/>
                      <a:round/>
                      <a:headEnd type="none" w="med" len="med"/>
                      <a:tailEnd type="none" w="med" len="med"/>
                    </a:lnL>
                    <a:lnR w="6350" cap="flat" cmpd="sng" algn="ctr">
                      <a:solidFill>
                        <a:srgbClr val="EBDFD0"/>
                      </a:solidFill>
                      <a:prstDash val="solid"/>
                      <a:round/>
                      <a:headEnd type="none" w="med" len="med"/>
                      <a:tailEnd type="none" w="med" len="med"/>
                    </a:lnR>
                    <a:lnT w="6350" cap="flat" cmpd="sng" algn="ctr">
                      <a:solidFill>
                        <a:srgbClr val="EBDFD0"/>
                      </a:solidFill>
                      <a:prstDash val="solid"/>
                      <a:round/>
                      <a:headEnd type="none" w="med" len="med"/>
                      <a:tailEnd type="none" w="med" len="med"/>
                    </a:lnT>
                    <a:lnB w="6350" cap="flat" cmpd="sng" algn="ctr">
                      <a:solidFill>
                        <a:srgbClr val="EBDFD0"/>
                      </a:solidFill>
                      <a:prstDash val="solid"/>
                      <a:round/>
                      <a:headEnd type="none" w="med" len="med"/>
                      <a:tailEnd type="none" w="med" len="med"/>
                    </a:lnB>
                    <a:solidFill>
                      <a:srgbClr val="FFE8D1"/>
                    </a:solidFill>
                  </a:tcPr>
                </a:tc>
              </a:tr>
              <a:tr h="420624">
                <a:tc>
                  <a:txBody>
                    <a:bodyPr/>
                    <a:lstStyle/>
                    <a:p>
                      <a:pPr indent="0" marL="0">
                        <a:buNone/>
                      </a:pPr>
                      <a:r>
                        <a:rPr lang="en-US" sz="1100" dirty="0">
                          <a:solidFill>
                            <a:srgbClr val="3D2200"/>
                          </a:solidFill>
                          <a:latin typeface="Yu Gothic" pitchFamily="34" charset="0"/>
                          <a:ea typeface="Yu Gothic" pitchFamily="34" charset="-122"/>
                          <a:cs typeface="Yu Gothic" pitchFamily="34" charset="-120"/>
                        </a:rPr>
                        <a:t>成約報酬</a:t>
                      </a:r>
                      <a:endParaRPr lang="en-US" sz="1100" dirty="0">
                        <a:latin typeface="Yu Gothic" charset="0"/>
                        <a:ea typeface="Yu Gothic" charset="0"/>
                        <a:cs typeface="Yu Gothic" charset="0"/>
                      </a:endParaRPr>
                    </a:p>
                  </a:txBody>
                  <a:tcPr marL="91440" marR="91440" marT="91440" marB="91440" anchor="ctr">
                    <a:lnL w="6350" cap="flat" cmpd="sng" algn="ctr">
                      <a:solidFill>
                        <a:srgbClr val="EBDFD0"/>
                      </a:solidFill>
                      <a:prstDash val="solid"/>
                      <a:round/>
                      <a:headEnd type="none" w="med" len="med"/>
                      <a:tailEnd type="none" w="med" len="med"/>
                    </a:lnL>
                    <a:lnR w="6350" cap="flat" cmpd="sng" algn="ctr">
                      <a:solidFill>
                        <a:srgbClr val="EBDFD0"/>
                      </a:solidFill>
                      <a:prstDash val="solid"/>
                      <a:round/>
                      <a:headEnd type="none" w="med" len="med"/>
                      <a:tailEnd type="none" w="med" len="med"/>
                    </a:lnR>
                    <a:lnT w="6350" cap="flat" cmpd="sng" algn="ctr">
                      <a:solidFill>
                        <a:srgbClr val="EBDFD0"/>
                      </a:solidFill>
                      <a:prstDash val="solid"/>
                      <a:round/>
                      <a:headEnd type="none" w="med" len="med"/>
                      <a:tailEnd type="none" w="med" len="med"/>
                    </a:lnT>
                    <a:lnB w="6350" cap="flat" cmpd="sng" algn="ctr">
                      <a:solidFill>
                        <a:srgbClr val="EBDFD0"/>
                      </a:solidFill>
                      <a:prstDash val="solid"/>
                      <a:round/>
                      <a:headEnd type="none" w="med" len="med"/>
                      <a:tailEnd type="none" w="med" len="med"/>
                    </a:lnB>
                    <a:solidFill>
                      <a:srgbClr val="FFF8F0"/>
                    </a:solidFill>
                  </a:tcPr>
                </a:tc>
                <a:tc>
                  <a:txBody>
                    <a:bodyPr/>
                    <a:lstStyle/>
                    <a:p>
                      <a:pPr algn="ctr" indent="0" marL="0">
                        <a:buNone/>
                      </a:pPr>
                      <a:r>
                        <a:rPr lang="en-US" sz="1300" b="1" dirty="0">
                          <a:solidFill>
                            <a:srgbClr val="E8740C"/>
                          </a:solidFill>
                          <a:latin typeface="Yu Gothic" pitchFamily="34" charset="0"/>
                          <a:ea typeface="Yu Gothic" pitchFamily="34" charset="-122"/>
                          <a:cs typeface="Yu Gothic" pitchFamily="34" charset="-120"/>
                        </a:rPr>
                        <a:t>なし</a:t>
                      </a:r>
                      <a:endParaRPr lang="en-US" sz="1300" dirty="0">
                        <a:latin typeface="Yu Gothic" charset="0"/>
                        <a:ea typeface="Yu Gothic" charset="0"/>
                        <a:cs typeface="Yu Gothic" charset="0"/>
                      </a:endParaRPr>
                    </a:p>
                  </a:txBody>
                  <a:tcPr marL="91440" marR="91440" marT="91440" marB="91440" anchor="ctr">
                    <a:lnL w="6350" cap="flat" cmpd="sng" algn="ctr">
                      <a:solidFill>
                        <a:srgbClr val="EBDFD0"/>
                      </a:solidFill>
                      <a:prstDash val="solid"/>
                      <a:round/>
                      <a:headEnd type="none" w="med" len="med"/>
                      <a:tailEnd type="none" w="med" len="med"/>
                    </a:lnL>
                    <a:lnR w="6350" cap="flat" cmpd="sng" algn="ctr">
                      <a:solidFill>
                        <a:srgbClr val="EBDFD0"/>
                      </a:solidFill>
                      <a:prstDash val="solid"/>
                      <a:round/>
                      <a:headEnd type="none" w="med" len="med"/>
                      <a:tailEnd type="none" w="med" len="med"/>
                    </a:lnR>
                    <a:lnT w="6350" cap="flat" cmpd="sng" algn="ctr">
                      <a:solidFill>
                        <a:srgbClr val="EBDFD0"/>
                      </a:solidFill>
                      <a:prstDash val="solid"/>
                      <a:round/>
                      <a:headEnd type="none" w="med" len="med"/>
                      <a:tailEnd type="none" w="med" len="med"/>
                    </a:lnT>
                    <a:lnB w="6350" cap="flat" cmpd="sng" algn="ctr">
                      <a:solidFill>
                        <a:srgbClr val="EBDFD0"/>
                      </a:solidFill>
                      <a:prstDash val="solid"/>
                      <a:round/>
                      <a:headEnd type="none" w="med" len="med"/>
                      <a:tailEnd type="none" w="med" len="med"/>
                    </a:lnB>
                  </a:tcPr>
                </a:tc>
              </a:tr>
            </a:tbl>
          </a:graphicData>
        </a:graphic>
      </p:graphicFrame>
      <p:sp>
        <p:nvSpPr>
          <p:cNvPr id="9" name="Shape 6"/>
          <p:cNvSpPr/>
          <p:nvPr/>
        </p:nvSpPr>
        <p:spPr>
          <a:xfrm>
            <a:off x="5440680" y="1691640"/>
            <a:ext cx="3246120" cy="2560320"/>
          </a:xfrm>
          <a:prstGeom prst="rect">
            <a:avLst/>
          </a:prstGeom>
          <a:solidFill>
            <a:srgbClr val="FFF8F0"/>
          </a:solidFill>
          <a:ln w="12700">
            <a:solidFill>
              <a:srgbClr val="EBDFD0"/>
            </a:solidFill>
            <a:prstDash val="solid"/>
          </a:ln>
        </p:spPr>
      </p:sp>
      <p:sp>
        <p:nvSpPr>
          <p:cNvPr id="10" name="Text 7"/>
          <p:cNvSpPr/>
          <p:nvPr/>
        </p:nvSpPr>
        <p:spPr>
          <a:xfrm>
            <a:off x="5577840" y="1783080"/>
            <a:ext cx="3017520" cy="292608"/>
          </a:xfrm>
          <a:prstGeom prst="rect">
            <a:avLst/>
          </a:prstGeom>
          <a:noFill/>
          <a:ln/>
        </p:spPr>
        <p:txBody>
          <a:bodyPr wrap="square" lIns="0" tIns="0" rIns="0" bIns="0" rtlCol="0" anchor="ctr"/>
          <a:lstStyle/>
          <a:p>
            <a:pPr algn="l" indent="0" marL="0">
              <a:buNone/>
            </a:pPr>
            <a:r>
              <a:rPr lang="en-US" sz="1100" b="1" spc="100" kern="0" dirty="0">
                <a:solidFill>
                  <a:srgbClr val="E8740C"/>
                </a:solidFill>
                <a:latin typeface="Yu Gothic" pitchFamily="34" charset="0"/>
                <a:ea typeface="Yu Gothic" pitchFamily="34" charset="-122"/>
                <a:cs typeface="Yu Gothic" pitchFamily="34" charset="-120"/>
              </a:rPr>
              <a:t>リスクゼロ設計</a:t>
            </a:r>
            <a:endParaRPr lang="en-US" sz="1100" dirty="0"/>
          </a:p>
        </p:txBody>
      </p:sp>
      <p:sp>
        <p:nvSpPr>
          <p:cNvPr id="11" name="Text 8"/>
          <p:cNvSpPr/>
          <p:nvPr/>
        </p:nvSpPr>
        <p:spPr>
          <a:xfrm>
            <a:off x="5577840" y="2057400"/>
            <a:ext cx="3017520" cy="274320"/>
          </a:xfrm>
          <a:prstGeom prst="rect">
            <a:avLst/>
          </a:prstGeom>
          <a:noFill/>
          <a:ln/>
        </p:spPr>
        <p:txBody>
          <a:bodyPr wrap="square" lIns="0" tIns="0" rIns="0" bIns="0" rtlCol="0" anchor="ctr"/>
          <a:lstStyle/>
          <a:p>
            <a:pPr algn="l" indent="0" marL="0">
              <a:buNone/>
            </a:pPr>
            <a:r>
              <a:rPr lang="en-US" sz="900" dirty="0">
                <a:solidFill>
                  <a:srgbClr val="6B5A47"/>
                </a:solidFill>
                <a:latin typeface="Yu Gothic" pitchFamily="34" charset="0"/>
                <a:ea typeface="Yu Gothic" pitchFamily="34" charset="-122"/>
                <a:cs typeface="Yu Gothic" pitchFamily="34" charset="-120"/>
              </a:rPr>
              <a:t>（実績作り期間 M0-M6）</a:t>
            </a:r>
            <a:endParaRPr lang="en-US" sz="900" dirty="0"/>
          </a:p>
        </p:txBody>
      </p:sp>
      <p:sp>
        <p:nvSpPr>
          <p:cNvPr id="12" name="Shape 9"/>
          <p:cNvSpPr/>
          <p:nvPr/>
        </p:nvSpPr>
        <p:spPr>
          <a:xfrm>
            <a:off x="5577840" y="2395728"/>
            <a:ext cx="2971800" cy="0"/>
          </a:xfrm>
          <a:prstGeom prst="line">
            <a:avLst/>
          </a:prstGeom>
          <a:noFill/>
          <a:ln w="12700">
            <a:solidFill>
              <a:srgbClr val="EBDFD0"/>
            </a:solidFill>
            <a:prstDash val="solid"/>
          </a:ln>
        </p:spPr>
      </p:sp>
      <p:sp>
        <p:nvSpPr>
          <p:cNvPr id="13" name="Text 10"/>
          <p:cNvSpPr/>
          <p:nvPr/>
        </p:nvSpPr>
        <p:spPr>
          <a:xfrm>
            <a:off x="5669280" y="2514600"/>
            <a:ext cx="2926080" cy="1691640"/>
          </a:xfrm>
          <a:prstGeom prst="rect">
            <a:avLst/>
          </a:prstGeom>
          <a:noFill/>
          <a:ln/>
        </p:spPr>
        <p:txBody>
          <a:bodyPr wrap="square" lIns="0" tIns="0" rIns="0" bIns="0" rtlCol="0" anchor="t"/>
          <a:lstStyle/>
          <a:p>
            <a:pPr algn="l" marL="342900" indent="-342900">
              <a:spcAft>
                <a:spcPts val="400"/>
              </a:spcAft>
              <a:buSzPct val="100000"/>
              <a:buChar char="●"/>
            </a:pPr>
            <a:r>
              <a:rPr lang="en-US" sz="1050" b="1" dirty="0">
                <a:solidFill>
                  <a:srgbClr val="3D2200"/>
                </a:solidFill>
                <a:latin typeface="Yu Gothic" pitchFamily="34" charset="0"/>
                <a:ea typeface="Yu Gothic" pitchFamily="34" charset="-122"/>
                <a:cs typeface="Yu Gothic" pitchFamily="34" charset="-120"/>
              </a:rPr>
              <a:t>実際のご予約発生時のみ課金</a:t>
            </a:r>
            <a:endParaRPr lang="en-US" sz="1050" dirty="0"/>
          </a:p>
          <a:p>
            <a:pPr algn="l" marL="342900" indent="-342900">
              <a:spcAft>
                <a:spcPts val="400"/>
              </a:spcAft>
              <a:buSzPct val="100000"/>
              <a:buChar char="●"/>
            </a:pPr>
            <a:r>
              <a:rPr lang="en-US" sz="1050" dirty="0">
                <a:solidFill>
                  <a:srgbClr val="3D2200"/>
                </a:solidFill>
                <a:latin typeface="Yu Gothic" pitchFamily="34" charset="0"/>
                <a:ea typeface="Yu Gothic" pitchFamily="34" charset="-122"/>
                <a:cs typeface="Yu Gothic" pitchFamily="34" charset="-120"/>
              </a:rPr>
              <a:t>掲載料・撮影費の負担ゼロ</a:t>
            </a:r>
            <a:endParaRPr lang="en-US" sz="1050" dirty="0"/>
          </a:p>
          <a:p>
            <a:pPr algn="l" marL="342900" indent="-342900">
              <a:spcAft>
                <a:spcPts val="400"/>
              </a:spcAft>
              <a:buSzPct val="100000"/>
              <a:buChar char="●"/>
            </a:pPr>
            <a:r>
              <a:rPr lang="en-US" sz="1050" dirty="0">
                <a:solidFill>
                  <a:srgbClr val="3D2200"/>
                </a:solidFill>
                <a:latin typeface="Yu Gothic" pitchFamily="34" charset="0"/>
                <a:ea typeface="Yu Gothic" pitchFamily="34" charset="-122"/>
                <a:cs typeface="Yu Gothic" pitchFamily="34" charset="-120"/>
              </a:rPr>
              <a:t>「払い損」が原理的に発生しない</a:t>
            </a:r>
            <a:endParaRPr lang="en-US" sz="1050" dirty="0"/>
          </a:p>
          <a:p>
            <a:pPr algn="l" marL="342900" indent="-342900">
              <a:spcAft>
                <a:spcPts val="400"/>
              </a:spcAft>
              <a:buSzPct val="100000"/>
              <a:buChar char="●"/>
            </a:pPr>
            <a:r>
              <a:rPr lang="en-US" sz="1050" b="1" dirty="0">
                <a:solidFill>
                  <a:srgbClr val="3D2200"/>
                </a:solidFill>
                <a:latin typeface="Yu Gothic" pitchFamily="34" charset="0"/>
                <a:ea typeface="Yu Gothic" pitchFamily="34" charset="-122"/>
                <a:cs typeface="Yu Gothic" pitchFamily="34" charset="-120"/>
              </a:rPr>
              <a:t>最初の半年で成果を確認できる</a:t>
            </a:r>
            <a:endParaRPr lang="en-US" sz="1050" dirty="0"/>
          </a:p>
        </p:txBody>
      </p:sp>
      <p:sp>
        <p:nvSpPr>
          <p:cNvPr id="14" name="Shape 11"/>
          <p:cNvSpPr/>
          <p:nvPr/>
        </p:nvSpPr>
        <p:spPr>
          <a:xfrm>
            <a:off x="457200" y="4389120"/>
            <a:ext cx="8229600" cy="594360"/>
          </a:xfrm>
          <a:prstGeom prst="rect">
            <a:avLst/>
          </a:prstGeom>
          <a:solidFill>
            <a:srgbClr val="E8740C"/>
          </a:solidFill>
          <a:ln w="12700">
            <a:solidFill>
              <a:srgbClr val="E8740C"/>
            </a:solidFill>
            <a:prstDash val="solid"/>
          </a:ln>
        </p:spPr>
      </p:sp>
      <p:sp>
        <p:nvSpPr>
          <p:cNvPr id="15" name="Text 12"/>
          <p:cNvSpPr/>
          <p:nvPr/>
        </p:nvSpPr>
        <p:spPr>
          <a:xfrm>
            <a:off x="457200" y="4389120"/>
            <a:ext cx="8229600" cy="594360"/>
          </a:xfrm>
          <a:prstGeom prst="rect">
            <a:avLst/>
          </a:prstGeom>
          <a:noFill/>
          <a:ln/>
        </p:spPr>
        <p:txBody>
          <a:bodyPr wrap="square" lIns="0" tIns="0" rIns="0" bIns="0" rtlCol="0" anchor="ctr"/>
          <a:lstStyle/>
          <a:p>
            <a:pPr algn="ctr" indent="0" marL="0">
              <a:buNone/>
            </a:pPr>
            <a:r>
              <a:rPr lang="en-US" sz="1300" dirty="0">
                <a:solidFill>
                  <a:srgbClr val="FFFFFF"/>
                </a:solidFill>
                <a:latin typeface="Yu Gothic" pitchFamily="34" charset="0"/>
                <a:ea typeface="Yu Gothic" pitchFamily="34" charset="-122"/>
                <a:cs typeface="Yu Gothic" pitchFamily="34" charset="-120"/>
              </a:rPr>
              <a:t>★ M6以降は成果確認の上、</a:t>
            </a:r>
            <a:pPr algn="ctr" indent="0" marL="0">
              <a:buNone/>
            </a:pPr>
            <a:r>
              <a:rPr lang="en-US" sz="1300" b="1" dirty="0">
                <a:solidFill>
                  <a:srgbClr val="FFFFFF"/>
                </a:solidFill>
                <a:latin typeface="Yu Gothic" pitchFamily="34" charset="0"/>
                <a:ea typeface="Yu Gothic" pitchFamily="34" charset="-122"/>
                <a:cs typeface="Yu Gothic" pitchFamily="34" charset="-120"/>
              </a:rPr>
              <a:t>先行10社様だけの特別プラン</a:t>
            </a:r>
            <a:pPr algn="ctr" indent="0" marL="0">
              <a:buNone/>
            </a:pPr>
            <a:r>
              <a:rPr lang="en-US" sz="1300" dirty="0">
                <a:solidFill>
                  <a:srgbClr val="FFFFFF"/>
                </a:solidFill>
                <a:latin typeface="Yu Gothic" pitchFamily="34" charset="0"/>
                <a:ea typeface="Yu Gothic" pitchFamily="34" charset="-122"/>
                <a:cs typeface="Yu Gothic" pitchFamily="34" charset="-120"/>
              </a:rPr>
              <a:t> をご案内 → 次ページ</a:t>
            </a:r>
            <a:endParaRPr lang="en-US" sz="1300" dirty="0"/>
          </a:p>
        </p:txBody>
      </p:sp>
      <p:sp>
        <p:nvSpPr>
          <p:cNvPr id="16" name="Shape 13"/>
          <p:cNvSpPr/>
          <p:nvPr/>
        </p:nvSpPr>
        <p:spPr>
          <a:xfrm>
            <a:off x="365760" y="4823460"/>
            <a:ext cx="8412480" cy="0"/>
          </a:xfrm>
          <a:prstGeom prst="line">
            <a:avLst/>
          </a:prstGeom>
          <a:noFill/>
          <a:ln w="9525">
            <a:solidFill>
              <a:srgbClr val="EBDFD0"/>
            </a:solidFill>
            <a:prstDash val="solid"/>
          </a:ln>
        </p:spPr>
      </p:sp>
      <p:sp>
        <p:nvSpPr>
          <p:cNvPr id="17" name="Text 14"/>
          <p:cNvSpPr/>
          <p:nvPr/>
        </p:nvSpPr>
        <p:spPr>
          <a:xfrm>
            <a:off x="365760" y="4850892"/>
            <a:ext cx="4572000" cy="274320"/>
          </a:xfrm>
          <a:prstGeom prst="rect">
            <a:avLst/>
          </a:prstGeom>
          <a:noFill/>
          <a:ln/>
        </p:spPr>
        <p:txBody>
          <a:bodyPr wrap="square" lIns="0" tIns="0" rIns="0" bIns="0" rtlCol="0" anchor="ctr"/>
          <a:lstStyle/>
          <a:p>
            <a:pPr algn="l" indent="0" marL="0">
              <a:buNone/>
            </a:pPr>
            <a:r>
              <a:rPr lang="en-US" sz="900" dirty="0">
                <a:solidFill>
                  <a:srgbClr val="6B5A47"/>
                </a:solidFill>
                <a:latin typeface="Yu Gothic" pitchFamily="34" charset="0"/>
                <a:ea typeface="Yu Gothic" pitchFamily="34" charset="-122"/>
                <a:cs typeface="Yu Gothic" pitchFamily="34" charset="-120"/>
              </a:rPr>
              <a:t>ぺいほーむ ポータルサイト</a:t>
            </a:r>
            <a:endParaRPr lang="en-US" sz="900" dirty="0"/>
          </a:p>
        </p:txBody>
      </p:sp>
      <p:sp>
        <p:nvSpPr>
          <p:cNvPr id="18" name="Text 15"/>
          <p:cNvSpPr/>
          <p:nvPr/>
        </p:nvSpPr>
        <p:spPr>
          <a:xfrm>
            <a:off x="4206240" y="4850892"/>
            <a:ext cx="4572000" cy="274320"/>
          </a:xfrm>
          <a:prstGeom prst="rect">
            <a:avLst/>
          </a:prstGeom>
          <a:noFill/>
          <a:ln/>
        </p:spPr>
        <p:txBody>
          <a:bodyPr wrap="square" lIns="0" tIns="0" rIns="0" bIns="0" rtlCol="0" anchor="ctr"/>
          <a:lstStyle/>
          <a:p>
            <a:pPr algn="r" indent="0" marL="0">
              <a:buNone/>
            </a:pPr>
            <a:r>
              <a:rPr lang="en-US" sz="900" i="1" dirty="0">
                <a:solidFill>
                  <a:srgbClr val="6B5A47"/>
                </a:solidFill>
                <a:latin typeface="Yu Gothic" pitchFamily="34" charset="0"/>
                <a:ea typeface="Yu Gothic" pitchFamily="34" charset="-122"/>
                <a:cs typeface="Yu Gothic" pitchFamily="34" charset="-120"/>
              </a:rPr>
              <a:t>本気の出会いを、誠実に。</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8740C"/>
          </a:solidFill>
          <a:ln w="12700">
            <a:solidFill>
              <a:srgbClr val="E8740C"/>
            </a:solidFill>
            <a:prstDash val="solid"/>
          </a:ln>
        </p:spPr>
      </p:sp>
      <p:sp>
        <p:nvSpPr>
          <p:cNvPr id="3" name="Text 1"/>
          <p:cNvSpPr/>
          <p:nvPr/>
        </p:nvSpPr>
        <p:spPr>
          <a:xfrm>
            <a:off x="365760" y="182880"/>
            <a:ext cx="1097280" cy="274320"/>
          </a:xfrm>
          <a:prstGeom prst="rect">
            <a:avLst/>
          </a:prstGeom>
          <a:noFill/>
          <a:ln/>
        </p:spPr>
        <p:txBody>
          <a:bodyPr wrap="square" lIns="0" tIns="0" rIns="0" bIns="0" rtlCol="0" anchor="ctr"/>
          <a:lstStyle/>
          <a:p>
            <a:pPr algn="l" indent="0" marL="0">
              <a:buNone/>
            </a:pPr>
            <a:r>
              <a:rPr lang="en-US" sz="1000" b="1" dirty="0">
                <a:solidFill>
                  <a:srgbClr val="E8740C"/>
                </a:solidFill>
                <a:latin typeface="Yu Gothic" pitchFamily="34" charset="0"/>
                <a:ea typeface="Yu Gothic" pitchFamily="34" charset="-122"/>
                <a:cs typeface="Yu Gothic" pitchFamily="34" charset="-120"/>
              </a:rPr>
              <a:t>17 / 20</a:t>
            </a:r>
            <a:endParaRPr lang="en-US" sz="1000" dirty="0"/>
          </a:p>
        </p:txBody>
      </p:sp>
      <p:sp>
        <p:nvSpPr>
          <p:cNvPr id="4" name="Text 2"/>
          <p:cNvSpPr/>
          <p:nvPr/>
        </p:nvSpPr>
        <p:spPr>
          <a:xfrm>
            <a:off x="1554480" y="182880"/>
            <a:ext cx="7223760" cy="274320"/>
          </a:xfrm>
          <a:prstGeom prst="rect">
            <a:avLst/>
          </a:prstGeom>
          <a:noFill/>
          <a:ln/>
        </p:spPr>
        <p:txBody>
          <a:bodyPr wrap="square" lIns="0" tIns="0" rIns="0" bIns="0" rtlCol="0" anchor="ctr"/>
          <a:lstStyle/>
          <a:p>
            <a:pPr algn="r" indent="0" marL="0">
              <a:buNone/>
            </a:pPr>
            <a:r>
              <a:rPr lang="en-US" sz="1000" dirty="0">
                <a:solidFill>
                  <a:srgbClr val="6B5A47"/>
                </a:solidFill>
                <a:latin typeface="Yu Gothic" pitchFamily="34" charset="0"/>
                <a:ea typeface="Yu Gothic" pitchFamily="34" charset="-122"/>
                <a:cs typeface="Yu Gothic" pitchFamily="34" charset="-120"/>
              </a:rPr>
              <a:t>段階的成長プラン</a:t>
            </a:r>
            <a:endParaRPr lang="en-US" sz="1000" dirty="0"/>
          </a:p>
        </p:txBody>
      </p:sp>
      <p:sp>
        <p:nvSpPr>
          <p:cNvPr id="5" name="Shape 3"/>
          <p:cNvSpPr/>
          <p:nvPr/>
        </p:nvSpPr>
        <p:spPr>
          <a:xfrm>
            <a:off x="457200" y="685800"/>
            <a:ext cx="109728" cy="502920"/>
          </a:xfrm>
          <a:prstGeom prst="rect">
            <a:avLst/>
          </a:prstGeom>
          <a:solidFill>
            <a:srgbClr val="E8740C"/>
          </a:solidFill>
          <a:ln w="12700">
            <a:solidFill>
              <a:srgbClr val="E8740C"/>
            </a:solidFill>
            <a:prstDash val="solid"/>
          </a:ln>
        </p:spPr>
      </p:sp>
      <p:sp>
        <p:nvSpPr>
          <p:cNvPr id="6" name="Text 4"/>
          <p:cNvSpPr/>
          <p:nvPr/>
        </p:nvSpPr>
        <p:spPr>
          <a:xfrm>
            <a:off x="685800" y="640080"/>
            <a:ext cx="8229600" cy="594360"/>
          </a:xfrm>
          <a:prstGeom prst="rect">
            <a:avLst/>
          </a:prstGeom>
          <a:noFill/>
          <a:ln/>
        </p:spPr>
        <p:txBody>
          <a:bodyPr wrap="square" lIns="0" tIns="0" rIns="0" bIns="0" rtlCol="0" anchor="ctr"/>
          <a:lstStyle/>
          <a:p>
            <a:pPr algn="l" indent="0" marL="0">
              <a:buNone/>
            </a:pPr>
            <a:r>
              <a:rPr lang="en-US" sz="2600" b="1" dirty="0">
                <a:solidFill>
                  <a:srgbClr val="2A1700"/>
                </a:solidFill>
                <a:latin typeface="Yu Gothic" pitchFamily="34" charset="0"/>
                <a:ea typeface="Yu Gothic" pitchFamily="34" charset="-122"/>
                <a:cs typeface="Yu Gothic" pitchFamily="34" charset="-120"/>
              </a:rPr>
              <a:t>ぺいほーむと共に成長する、3段階のプラン</a:t>
            </a:r>
            <a:endParaRPr lang="en-US" sz="2600" dirty="0"/>
          </a:p>
        </p:txBody>
      </p:sp>
      <p:sp>
        <p:nvSpPr>
          <p:cNvPr id="7" name="Text 5"/>
          <p:cNvSpPr/>
          <p:nvPr/>
        </p:nvSpPr>
        <p:spPr>
          <a:xfrm>
            <a:off x="685800" y="1207008"/>
            <a:ext cx="8229600" cy="274320"/>
          </a:xfrm>
          <a:prstGeom prst="rect">
            <a:avLst/>
          </a:prstGeom>
          <a:noFill/>
          <a:ln/>
        </p:spPr>
        <p:txBody>
          <a:bodyPr wrap="square" lIns="0" tIns="0" rIns="0" bIns="0" rtlCol="0" anchor="ctr"/>
          <a:lstStyle/>
          <a:p>
            <a:pPr algn="l" indent="0" marL="0">
              <a:buNone/>
            </a:pPr>
            <a:r>
              <a:rPr lang="en-US" sz="1200" dirty="0">
                <a:solidFill>
                  <a:srgbClr val="6B5A47"/>
                </a:solidFill>
                <a:latin typeface="Yu Gothic" pitchFamily="34" charset="0"/>
                <a:ea typeface="Yu Gothic" pitchFamily="34" charset="-122"/>
                <a:cs typeface="Yu Gothic" pitchFamily="34" charset="-120"/>
              </a:rPr>
              <a:t>成果を確認しながら段階的に進化 / 先行10社様は常に通常より優遇</a:t>
            </a:r>
            <a:endParaRPr lang="en-US" sz="1200" dirty="0"/>
          </a:p>
        </p:txBody>
      </p:sp>
      <p:sp>
        <p:nvSpPr>
          <p:cNvPr id="8" name="Shape 6"/>
          <p:cNvSpPr/>
          <p:nvPr/>
        </p:nvSpPr>
        <p:spPr>
          <a:xfrm>
            <a:off x="457200" y="1691640"/>
            <a:ext cx="2743200" cy="640080"/>
          </a:xfrm>
          <a:prstGeom prst="rect">
            <a:avLst/>
          </a:prstGeom>
          <a:solidFill>
            <a:srgbClr val="E8740C"/>
          </a:solidFill>
          <a:ln w="12700">
            <a:solidFill>
              <a:srgbClr val="E8740C"/>
            </a:solidFill>
            <a:prstDash val="solid"/>
          </a:ln>
        </p:spPr>
      </p:sp>
      <p:sp>
        <p:nvSpPr>
          <p:cNvPr id="9" name="Text 7"/>
          <p:cNvSpPr/>
          <p:nvPr/>
        </p:nvSpPr>
        <p:spPr>
          <a:xfrm>
            <a:off x="594360" y="1737360"/>
            <a:ext cx="1828800" cy="228600"/>
          </a:xfrm>
          <a:prstGeom prst="rect">
            <a:avLst/>
          </a:prstGeom>
          <a:noFill/>
          <a:ln/>
        </p:spPr>
        <p:txBody>
          <a:bodyPr wrap="square" lIns="0" tIns="0" rIns="0" bIns="0" rtlCol="0" anchor="ctr"/>
          <a:lstStyle/>
          <a:p>
            <a:pPr algn="l" indent="0" marL="0">
              <a:buNone/>
            </a:pPr>
            <a:r>
              <a:rPr lang="en-US" sz="1000" b="1" spc="200" kern="0" dirty="0">
                <a:solidFill>
                  <a:srgbClr val="FFFFFF"/>
                </a:solidFill>
                <a:latin typeface="Yu Gothic" pitchFamily="34" charset="0"/>
                <a:ea typeface="Yu Gothic" pitchFamily="34" charset="-122"/>
                <a:cs typeface="Yu Gothic" pitchFamily="34" charset="-120"/>
              </a:rPr>
              <a:t>Phase 1</a:t>
            </a:r>
            <a:endParaRPr lang="en-US" sz="1000" dirty="0"/>
          </a:p>
        </p:txBody>
      </p:sp>
      <p:sp>
        <p:nvSpPr>
          <p:cNvPr id="10" name="Text 8"/>
          <p:cNvSpPr/>
          <p:nvPr/>
        </p:nvSpPr>
        <p:spPr>
          <a:xfrm>
            <a:off x="2286000" y="1737360"/>
            <a:ext cx="822960" cy="228600"/>
          </a:xfrm>
          <a:prstGeom prst="rect">
            <a:avLst/>
          </a:prstGeom>
          <a:noFill/>
          <a:ln/>
        </p:spPr>
        <p:txBody>
          <a:bodyPr wrap="square" lIns="0" tIns="0" rIns="0" bIns="0" rtlCol="0" anchor="ctr"/>
          <a:lstStyle/>
          <a:p>
            <a:pPr algn="r" indent="0" marL="0">
              <a:buNone/>
            </a:pPr>
            <a:r>
              <a:rPr lang="en-US" sz="900" dirty="0">
                <a:solidFill>
                  <a:srgbClr val="FFFFFF"/>
                </a:solidFill>
                <a:latin typeface="Yu Gothic" pitchFamily="34" charset="0"/>
                <a:ea typeface="Yu Gothic" pitchFamily="34" charset="-122"/>
                <a:cs typeface="Yu Gothic" pitchFamily="34" charset="-120"/>
              </a:rPr>
              <a:t>M0-M6</a:t>
            </a:r>
            <a:endParaRPr lang="en-US" sz="900" dirty="0"/>
          </a:p>
        </p:txBody>
      </p:sp>
      <p:sp>
        <p:nvSpPr>
          <p:cNvPr id="11" name="Text 9"/>
          <p:cNvSpPr/>
          <p:nvPr/>
        </p:nvSpPr>
        <p:spPr>
          <a:xfrm>
            <a:off x="594360" y="1965960"/>
            <a:ext cx="2468880" cy="292608"/>
          </a:xfrm>
          <a:prstGeom prst="rect">
            <a:avLst/>
          </a:prstGeom>
          <a:noFill/>
          <a:ln/>
        </p:spPr>
        <p:txBody>
          <a:bodyPr wrap="square" lIns="0" tIns="0" rIns="0" bIns="0" rtlCol="0" anchor="ctr"/>
          <a:lstStyle/>
          <a:p>
            <a:pPr algn="l" indent="0" marL="0">
              <a:buNone/>
            </a:pPr>
            <a:r>
              <a:rPr lang="en-US" sz="1400" b="1" dirty="0">
                <a:solidFill>
                  <a:srgbClr val="FFFFFF"/>
                </a:solidFill>
                <a:latin typeface="Yu Gothic" pitchFamily="34" charset="0"/>
                <a:ea typeface="Yu Gothic" pitchFamily="34" charset="-122"/>
                <a:cs typeface="Yu Gothic" pitchFamily="34" charset="-120"/>
              </a:rPr>
              <a:t>実績作り期</a:t>
            </a:r>
            <a:endParaRPr lang="en-US" sz="1400" dirty="0"/>
          </a:p>
        </p:txBody>
      </p:sp>
      <p:sp>
        <p:nvSpPr>
          <p:cNvPr id="12" name="Shape 10"/>
          <p:cNvSpPr/>
          <p:nvPr/>
        </p:nvSpPr>
        <p:spPr>
          <a:xfrm>
            <a:off x="457200" y="2331720"/>
            <a:ext cx="2743200" cy="2103120"/>
          </a:xfrm>
          <a:prstGeom prst="rect">
            <a:avLst/>
          </a:prstGeom>
          <a:solidFill>
            <a:srgbClr val="FFF8F0"/>
          </a:solidFill>
          <a:ln w="12700">
            <a:solidFill>
              <a:srgbClr val="EBDFD0"/>
            </a:solidFill>
            <a:prstDash val="solid"/>
          </a:ln>
        </p:spPr>
      </p:sp>
      <p:sp>
        <p:nvSpPr>
          <p:cNvPr id="13" name="Text 11"/>
          <p:cNvSpPr/>
          <p:nvPr/>
        </p:nvSpPr>
        <p:spPr>
          <a:xfrm>
            <a:off x="594360" y="2423160"/>
            <a:ext cx="2468880" cy="256032"/>
          </a:xfrm>
          <a:prstGeom prst="rect">
            <a:avLst/>
          </a:prstGeom>
          <a:noFill/>
          <a:ln/>
        </p:spPr>
        <p:txBody>
          <a:bodyPr wrap="square" lIns="0" tIns="0" rIns="0" bIns="0" rtlCol="0" anchor="ctr"/>
          <a:lstStyle/>
          <a:p>
            <a:pPr algn="l" indent="0" marL="0">
              <a:buNone/>
            </a:pPr>
            <a:r>
              <a:rPr lang="en-US" sz="1000" i="1" dirty="0">
                <a:solidFill>
                  <a:srgbClr val="6B5A47"/>
                </a:solidFill>
                <a:latin typeface="Yu Gothic" pitchFamily="34" charset="0"/>
                <a:ea typeface="Yu Gothic" pitchFamily="34" charset="-122"/>
                <a:cs typeface="Yu Gothic" pitchFamily="34" charset="-120"/>
              </a:rPr>
              <a:t>リスクゼロで始める</a:t>
            </a:r>
            <a:endParaRPr lang="en-US" sz="1000" dirty="0"/>
          </a:p>
        </p:txBody>
      </p:sp>
      <p:sp>
        <p:nvSpPr>
          <p:cNvPr id="14" name="Shape 12"/>
          <p:cNvSpPr/>
          <p:nvPr/>
        </p:nvSpPr>
        <p:spPr>
          <a:xfrm>
            <a:off x="594360" y="2724912"/>
            <a:ext cx="548640" cy="0"/>
          </a:xfrm>
          <a:prstGeom prst="line">
            <a:avLst/>
          </a:prstGeom>
          <a:noFill/>
          <a:ln w="25400">
            <a:solidFill>
              <a:srgbClr val="E8740C"/>
            </a:solidFill>
            <a:prstDash val="solid"/>
          </a:ln>
        </p:spPr>
      </p:sp>
      <p:sp>
        <p:nvSpPr>
          <p:cNvPr id="15" name="Text 13"/>
          <p:cNvSpPr/>
          <p:nvPr/>
        </p:nvSpPr>
        <p:spPr>
          <a:xfrm>
            <a:off x="640080" y="2816352"/>
            <a:ext cx="2468880" cy="1600200"/>
          </a:xfrm>
          <a:prstGeom prst="rect">
            <a:avLst/>
          </a:prstGeom>
          <a:noFill/>
          <a:ln/>
        </p:spPr>
        <p:txBody>
          <a:bodyPr wrap="square" lIns="0" tIns="0" rIns="0" bIns="0" rtlCol="0" anchor="t"/>
          <a:lstStyle/>
          <a:p>
            <a:pPr algn="l" marL="342900" indent="-342900">
              <a:spcAft>
                <a:spcPts val="400"/>
              </a:spcAft>
              <a:buSzPct val="100000"/>
              <a:buChar char="●"/>
            </a:pPr>
            <a:r>
              <a:rPr lang="en-US" sz="1000" dirty="0">
                <a:solidFill>
                  <a:srgbClr val="3D2200"/>
                </a:solidFill>
                <a:latin typeface="Yu Gothic" pitchFamily="34" charset="0"/>
                <a:ea typeface="Yu Gothic" pitchFamily="34" charset="-122"/>
                <a:cs typeface="Yu Gothic" pitchFamily="34" charset="-120"/>
              </a:rPr>
              <a:t>月額・撮影費 無料</a:t>
            </a:r>
            <a:endParaRPr lang="en-US" sz="1000" dirty="0"/>
          </a:p>
          <a:p>
            <a:pPr algn="l" marL="342900" indent="-342900">
              <a:spcAft>
                <a:spcPts val="400"/>
              </a:spcAft>
              <a:buSzPct val="100000"/>
              <a:buChar char="●"/>
            </a:pPr>
            <a:r>
              <a:rPr lang="en-US" sz="1000" dirty="0">
                <a:solidFill>
                  <a:srgbClr val="3D2200"/>
                </a:solidFill>
                <a:latin typeface="Yu Gothic" pitchFamily="34" charset="0"/>
                <a:ea typeface="Yu Gothic" pitchFamily="34" charset="-122"/>
                <a:cs typeface="Yu Gothic" pitchFamily="34" charset="-120"/>
              </a:rPr>
              <a:t>予約¥50,000/件のみ</a:t>
            </a:r>
            <a:endParaRPr lang="en-US" sz="1000" dirty="0"/>
          </a:p>
          <a:p>
            <a:pPr algn="l" marL="342900" indent="-342900">
              <a:spcAft>
                <a:spcPts val="400"/>
              </a:spcAft>
              <a:buSzPct val="100000"/>
              <a:buChar char="●"/>
            </a:pPr>
            <a:r>
              <a:rPr lang="en-US" sz="1000" dirty="0">
                <a:solidFill>
                  <a:srgbClr val="3D2200"/>
                </a:solidFill>
                <a:latin typeface="Yu Gothic" pitchFamily="34" charset="0"/>
                <a:ea typeface="Yu Gothic" pitchFamily="34" charset="-122"/>
                <a:cs typeface="Yu Gothic" pitchFamily="34" charset="-120"/>
              </a:rPr>
              <a:t>成約報酬なし</a:t>
            </a:r>
            <a:endParaRPr lang="en-US" sz="1000" dirty="0"/>
          </a:p>
          <a:p>
            <a:pPr algn="l" marL="342900" indent="-342900">
              <a:spcAft>
                <a:spcPts val="400"/>
              </a:spcAft>
              <a:buSzPct val="100000"/>
              <a:buChar char="●"/>
            </a:pPr>
            <a:r>
              <a:rPr lang="en-US" sz="1000" dirty="0">
                <a:solidFill>
                  <a:srgbClr val="3D2200"/>
                </a:solidFill>
                <a:latin typeface="Yu Gothic" pitchFamily="34" charset="0"/>
                <a:ea typeface="Yu Gothic" pitchFamily="34" charset="-122"/>
                <a:cs typeface="Yu Gothic" pitchFamily="34" charset="-120"/>
              </a:rPr>
              <a:t>動画年1本 無料制作</a:t>
            </a:r>
            <a:endParaRPr lang="en-US" sz="1000" dirty="0"/>
          </a:p>
        </p:txBody>
      </p:sp>
      <p:sp>
        <p:nvSpPr>
          <p:cNvPr id="16" name="Shape 14"/>
          <p:cNvSpPr/>
          <p:nvPr/>
        </p:nvSpPr>
        <p:spPr>
          <a:xfrm>
            <a:off x="3246120" y="1691640"/>
            <a:ext cx="2743200" cy="640080"/>
          </a:xfrm>
          <a:prstGeom prst="rect">
            <a:avLst/>
          </a:prstGeom>
          <a:solidFill>
            <a:srgbClr val="C25D00"/>
          </a:solidFill>
          <a:ln w="12700">
            <a:solidFill>
              <a:srgbClr val="C25D00"/>
            </a:solidFill>
            <a:prstDash val="solid"/>
          </a:ln>
        </p:spPr>
      </p:sp>
      <p:sp>
        <p:nvSpPr>
          <p:cNvPr id="17" name="Text 15"/>
          <p:cNvSpPr/>
          <p:nvPr/>
        </p:nvSpPr>
        <p:spPr>
          <a:xfrm>
            <a:off x="3383280" y="1737360"/>
            <a:ext cx="1828800" cy="228600"/>
          </a:xfrm>
          <a:prstGeom prst="rect">
            <a:avLst/>
          </a:prstGeom>
          <a:noFill/>
          <a:ln/>
        </p:spPr>
        <p:txBody>
          <a:bodyPr wrap="square" lIns="0" tIns="0" rIns="0" bIns="0" rtlCol="0" anchor="ctr"/>
          <a:lstStyle/>
          <a:p>
            <a:pPr algn="l" indent="0" marL="0">
              <a:buNone/>
            </a:pPr>
            <a:r>
              <a:rPr lang="en-US" sz="1000" b="1" spc="200" kern="0" dirty="0">
                <a:solidFill>
                  <a:srgbClr val="FFFFFF"/>
                </a:solidFill>
                <a:latin typeface="Yu Gothic" pitchFamily="34" charset="0"/>
                <a:ea typeface="Yu Gothic" pitchFamily="34" charset="-122"/>
                <a:cs typeface="Yu Gothic" pitchFamily="34" charset="-120"/>
              </a:rPr>
              <a:t>Phase 2</a:t>
            </a:r>
            <a:endParaRPr lang="en-US" sz="1000" dirty="0"/>
          </a:p>
        </p:txBody>
      </p:sp>
      <p:sp>
        <p:nvSpPr>
          <p:cNvPr id="18" name="Text 16"/>
          <p:cNvSpPr/>
          <p:nvPr/>
        </p:nvSpPr>
        <p:spPr>
          <a:xfrm>
            <a:off x="5074920" y="1737360"/>
            <a:ext cx="822960" cy="228600"/>
          </a:xfrm>
          <a:prstGeom prst="rect">
            <a:avLst/>
          </a:prstGeom>
          <a:noFill/>
          <a:ln/>
        </p:spPr>
        <p:txBody>
          <a:bodyPr wrap="square" lIns="0" tIns="0" rIns="0" bIns="0" rtlCol="0" anchor="ctr"/>
          <a:lstStyle/>
          <a:p>
            <a:pPr algn="r" indent="0" marL="0">
              <a:buNone/>
            </a:pPr>
            <a:r>
              <a:rPr lang="en-US" sz="900" dirty="0">
                <a:solidFill>
                  <a:srgbClr val="FFFFFF"/>
                </a:solidFill>
                <a:latin typeface="Yu Gothic" pitchFamily="34" charset="0"/>
                <a:ea typeface="Yu Gothic" pitchFamily="34" charset="-122"/>
                <a:cs typeface="Yu Gothic" pitchFamily="34" charset="-120"/>
              </a:rPr>
              <a:t>M6-M12</a:t>
            </a:r>
            <a:endParaRPr lang="en-US" sz="900" dirty="0"/>
          </a:p>
        </p:txBody>
      </p:sp>
      <p:sp>
        <p:nvSpPr>
          <p:cNvPr id="19" name="Text 17"/>
          <p:cNvSpPr/>
          <p:nvPr/>
        </p:nvSpPr>
        <p:spPr>
          <a:xfrm>
            <a:off x="3383280" y="1965960"/>
            <a:ext cx="2468880" cy="292608"/>
          </a:xfrm>
          <a:prstGeom prst="rect">
            <a:avLst/>
          </a:prstGeom>
          <a:noFill/>
          <a:ln/>
        </p:spPr>
        <p:txBody>
          <a:bodyPr wrap="square" lIns="0" tIns="0" rIns="0" bIns="0" rtlCol="0" anchor="ctr"/>
          <a:lstStyle/>
          <a:p>
            <a:pPr algn="l" indent="0" marL="0">
              <a:buNone/>
            </a:pPr>
            <a:r>
              <a:rPr lang="en-US" sz="1400" b="1" dirty="0">
                <a:solidFill>
                  <a:srgbClr val="FFFFFF"/>
                </a:solidFill>
                <a:latin typeface="Yu Gothic" pitchFamily="34" charset="0"/>
                <a:ea typeface="Yu Gothic" pitchFamily="34" charset="-122"/>
                <a:cs typeface="Yu Gothic" pitchFamily="34" charset="-120"/>
              </a:rPr>
              <a:t>成果確認期</a:t>
            </a:r>
            <a:endParaRPr lang="en-US" sz="1400" dirty="0"/>
          </a:p>
        </p:txBody>
      </p:sp>
      <p:sp>
        <p:nvSpPr>
          <p:cNvPr id="20" name="Shape 18"/>
          <p:cNvSpPr/>
          <p:nvPr/>
        </p:nvSpPr>
        <p:spPr>
          <a:xfrm>
            <a:off x="3246120" y="2331720"/>
            <a:ext cx="2743200" cy="2103120"/>
          </a:xfrm>
          <a:prstGeom prst="rect">
            <a:avLst/>
          </a:prstGeom>
          <a:solidFill>
            <a:srgbClr val="FFF8F0"/>
          </a:solidFill>
          <a:ln w="12700">
            <a:solidFill>
              <a:srgbClr val="EBDFD0"/>
            </a:solidFill>
            <a:prstDash val="solid"/>
          </a:ln>
        </p:spPr>
      </p:sp>
      <p:sp>
        <p:nvSpPr>
          <p:cNvPr id="21" name="Text 19"/>
          <p:cNvSpPr/>
          <p:nvPr/>
        </p:nvSpPr>
        <p:spPr>
          <a:xfrm>
            <a:off x="3383280" y="2423160"/>
            <a:ext cx="2468880" cy="256032"/>
          </a:xfrm>
          <a:prstGeom prst="rect">
            <a:avLst/>
          </a:prstGeom>
          <a:noFill/>
          <a:ln/>
        </p:spPr>
        <p:txBody>
          <a:bodyPr wrap="square" lIns="0" tIns="0" rIns="0" bIns="0" rtlCol="0" anchor="ctr"/>
          <a:lstStyle/>
          <a:p>
            <a:pPr algn="l" indent="0" marL="0">
              <a:buNone/>
            </a:pPr>
            <a:r>
              <a:rPr lang="en-US" sz="1000" i="1" dirty="0">
                <a:solidFill>
                  <a:srgbClr val="6B5A47"/>
                </a:solidFill>
                <a:latin typeface="Yu Gothic" pitchFamily="34" charset="0"/>
                <a:ea typeface="Yu Gothic" pitchFamily="34" charset="-122"/>
                <a:cs typeface="Yu Gothic" pitchFamily="34" charset="-120"/>
              </a:rPr>
              <a:t>成果が出た社から選択可</a:t>
            </a:r>
            <a:endParaRPr lang="en-US" sz="1000" dirty="0"/>
          </a:p>
        </p:txBody>
      </p:sp>
      <p:sp>
        <p:nvSpPr>
          <p:cNvPr id="22" name="Shape 20"/>
          <p:cNvSpPr/>
          <p:nvPr/>
        </p:nvSpPr>
        <p:spPr>
          <a:xfrm>
            <a:off x="3383280" y="2724912"/>
            <a:ext cx="548640" cy="0"/>
          </a:xfrm>
          <a:prstGeom prst="line">
            <a:avLst/>
          </a:prstGeom>
          <a:noFill/>
          <a:ln w="25400">
            <a:solidFill>
              <a:srgbClr val="E8740C"/>
            </a:solidFill>
            <a:prstDash val="solid"/>
          </a:ln>
        </p:spPr>
      </p:sp>
      <p:sp>
        <p:nvSpPr>
          <p:cNvPr id="23" name="Text 21"/>
          <p:cNvSpPr/>
          <p:nvPr/>
        </p:nvSpPr>
        <p:spPr>
          <a:xfrm>
            <a:off x="3429000" y="2816352"/>
            <a:ext cx="2468880" cy="1600200"/>
          </a:xfrm>
          <a:prstGeom prst="rect">
            <a:avLst/>
          </a:prstGeom>
          <a:noFill/>
          <a:ln/>
        </p:spPr>
        <p:txBody>
          <a:bodyPr wrap="square" lIns="0" tIns="0" rIns="0" bIns="0" rtlCol="0" anchor="t"/>
          <a:lstStyle/>
          <a:p>
            <a:pPr algn="l" marL="342900" indent="-342900">
              <a:spcAft>
                <a:spcPts val="400"/>
              </a:spcAft>
              <a:buSzPct val="100000"/>
              <a:buChar char="●"/>
            </a:pPr>
            <a:r>
              <a:rPr lang="en-US" sz="1000" dirty="0">
                <a:solidFill>
                  <a:srgbClr val="3D2200"/>
                </a:solidFill>
                <a:latin typeface="Yu Gothic" pitchFamily="34" charset="0"/>
                <a:ea typeface="Yu Gothic" pitchFamily="34" charset="-122"/>
                <a:cs typeface="Yu Gothic" pitchFamily="34" charset="-120"/>
              </a:rPr>
              <a:t>成約報酬 契約額の1.5%</a:t>
            </a:r>
            <a:endParaRPr lang="en-US" sz="1000" dirty="0"/>
          </a:p>
          <a:p>
            <a:pPr algn="l" marL="342900" indent="-342900">
              <a:spcAft>
                <a:spcPts val="400"/>
              </a:spcAft>
              <a:buSzPct val="100000"/>
              <a:buChar char="●"/>
            </a:pPr>
            <a:r>
              <a:rPr lang="en-US" sz="1000" dirty="0">
                <a:solidFill>
                  <a:srgbClr val="3D2200"/>
                </a:solidFill>
                <a:latin typeface="Yu Gothic" pitchFamily="34" charset="0"/>
                <a:ea typeface="Yu Gothic" pitchFamily="34" charset="-122"/>
                <a:cs typeface="Yu Gothic" pitchFamily="34" charset="-120"/>
              </a:rPr>
              <a:t>予約¥50,000 据え置き</a:t>
            </a:r>
            <a:endParaRPr lang="en-US" sz="1000" dirty="0"/>
          </a:p>
          <a:p>
            <a:pPr algn="l" marL="342900" indent="-342900">
              <a:spcAft>
                <a:spcPts val="400"/>
              </a:spcAft>
              <a:buSzPct val="100000"/>
              <a:buChar char="●"/>
            </a:pPr>
            <a:r>
              <a:rPr lang="en-US" sz="1000" dirty="0">
                <a:solidFill>
                  <a:srgbClr val="3D2200"/>
                </a:solidFill>
                <a:latin typeface="Yu Gothic" pitchFamily="34" charset="0"/>
                <a:ea typeface="Yu Gothic" pitchFamily="34" charset="-122"/>
                <a:cs typeface="Yu Gothic" pitchFamily="34" charset="-120"/>
              </a:rPr>
              <a:t>月額プランは任意</a:t>
            </a:r>
            <a:endParaRPr lang="en-US" sz="1000" dirty="0"/>
          </a:p>
          <a:p>
            <a:pPr algn="l" marL="342900" indent="-342900">
              <a:spcAft>
                <a:spcPts val="400"/>
              </a:spcAft>
              <a:buSzPct val="100000"/>
              <a:buChar char="●"/>
            </a:pPr>
            <a:r>
              <a:rPr lang="en-US" sz="1000" dirty="0">
                <a:solidFill>
                  <a:srgbClr val="3D2200"/>
                </a:solidFill>
                <a:latin typeface="Yu Gothic" pitchFamily="34" charset="0"/>
                <a:ea typeface="Yu Gothic" pitchFamily="34" charset="-122"/>
                <a:cs typeface="Yu Gothic" pitchFamily="34" charset="-120"/>
              </a:rPr>
              <a:t>動画追加は優遇価格</a:t>
            </a:r>
            <a:endParaRPr lang="en-US" sz="1000" dirty="0"/>
          </a:p>
        </p:txBody>
      </p:sp>
      <p:sp>
        <p:nvSpPr>
          <p:cNvPr id="24" name="Shape 22"/>
          <p:cNvSpPr/>
          <p:nvPr/>
        </p:nvSpPr>
        <p:spPr>
          <a:xfrm>
            <a:off x="6035040" y="1691640"/>
            <a:ext cx="2743200" cy="640080"/>
          </a:xfrm>
          <a:prstGeom prst="rect">
            <a:avLst/>
          </a:prstGeom>
          <a:solidFill>
            <a:srgbClr val="2A1700"/>
          </a:solidFill>
          <a:ln w="12700">
            <a:solidFill>
              <a:srgbClr val="2A1700"/>
            </a:solidFill>
            <a:prstDash val="solid"/>
          </a:ln>
        </p:spPr>
      </p:sp>
      <p:sp>
        <p:nvSpPr>
          <p:cNvPr id="25" name="Text 23"/>
          <p:cNvSpPr/>
          <p:nvPr/>
        </p:nvSpPr>
        <p:spPr>
          <a:xfrm>
            <a:off x="6172200" y="1737360"/>
            <a:ext cx="1828800" cy="228600"/>
          </a:xfrm>
          <a:prstGeom prst="rect">
            <a:avLst/>
          </a:prstGeom>
          <a:noFill/>
          <a:ln/>
        </p:spPr>
        <p:txBody>
          <a:bodyPr wrap="square" lIns="0" tIns="0" rIns="0" bIns="0" rtlCol="0" anchor="ctr"/>
          <a:lstStyle/>
          <a:p>
            <a:pPr algn="l" indent="0" marL="0">
              <a:buNone/>
            </a:pPr>
            <a:r>
              <a:rPr lang="en-US" sz="1000" b="1" spc="200" kern="0" dirty="0">
                <a:solidFill>
                  <a:srgbClr val="FFFFFF"/>
                </a:solidFill>
                <a:latin typeface="Yu Gothic" pitchFamily="34" charset="0"/>
                <a:ea typeface="Yu Gothic" pitchFamily="34" charset="-122"/>
                <a:cs typeface="Yu Gothic" pitchFamily="34" charset="-120"/>
              </a:rPr>
              <a:t>Phase 3</a:t>
            </a:r>
            <a:endParaRPr lang="en-US" sz="1000" dirty="0"/>
          </a:p>
        </p:txBody>
      </p:sp>
      <p:sp>
        <p:nvSpPr>
          <p:cNvPr id="26" name="Text 24"/>
          <p:cNvSpPr/>
          <p:nvPr/>
        </p:nvSpPr>
        <p:spPr>
          <a:xfrm>
            <a:off x="7863840" y="1737360"/>
            <a:ext cx="822960" cy="228600"/>
          </a:xfrm>
          <a:prstGeom prst="rect">
            <a:avLst/>
          </a:prstGeom>
          <a:noFill/>
          <a:ln/>
        </p:spPr>
        <p:txBody>
          <a:bodyPr wrap="square" lIns="0" tIns="0" rIns="0" bIns="0" rtlCol="0" anchor="ctr"/>
          <a:lstStyle/>
          <a:p>
            <a:pPr algn="r" indent="0" marL="0">
              <a:buNone/>
            </a:pPr>
            <a:r>
              <a:rPr lang="en-US" sz="900" dirty="0">
                <a:solidFill>
                  <a:srgbClr val="FFFFFF"/>
                </a:solidFill>
                <a:latin typeface="Yu Gothic" pitchFamily="34" charset="0"/>
                <a:ea typeface="Yu Gothic" pitchFamily="34" charset="-122"/>
                <a:cs typeface="Yu Gothic" pitchFamily="34" charset="-120"/>
              </a:rPr>
              <a:t>M12〜</a:t>
            </a:r>
            <a:endParaRPr lang="en-US" sz="900" dirty="0"/>
          </a:p>
        </p:txBody>
      </p:sp>
      <p:sp>
        <p:nvSpPr>
          <p:cNvPr id="27" name="Text 25"/>
          <p:cNvSpPr/>
          <p:nvPr/>
        </p:nvSpPr>
        <p:spPr>
          <a:xfrm>
            <a:off x="6172200" y="1965960"/>
            <a:ext cx="2468880" cy="292608"/>
          </a:xfrm>
          <a:prstGeom prst="rect">
            <a:avLst/>
          </a:prstGeom>
          <a:noFill/>
          <a:ln/>
        </p:spPr>
        <p:txBody>
          <a:bodyPr wrap="square" lIns="0" tIns="0" rIns="0" bIns="0" rtlCol="0" anchor="ctr"/>
          <a:lstStyle/>
          <a:p>
            <a:pPr algn="l" indent="0" marL="0">
              <a:buNone/>
            </a:pPr>
            <a:r>
              <a:rPr lang="en-US" sz="1400" b="1" dirty="0">
                <a:solidFill>
                  <a:srgbClr val="FFFFFF"/>
                </a:solidFill>
                <a:latin typeface="Yu Gothic" pitchFamily="34" charset="0"/>
                <a:ea typeface="Yu Gothic" pitchFamily="34" charset="-122"/>
                <a:cs typeface="Yu Gothic" pitchFamily="34" charset="-120"/>
              </a:rPr>
              <a:t>最適化期</a:t>
            </a:r>
            <a:endParaRPr lang="en-US" sz="1400" dirty="0"/>
          </a:p>
        </p:txBody>
      </p:sp>
      <p:sp>
        <p:nvSpPr>
          <p:cNvPr id="28" name="Shape 26"/>
          <p:cNvSpPr/>
          <p:nvPr/>
        </p:nvSpPr>
        <p:spPr>
          <a:xfrm>
            <a:off x="6035040" y="2331720"/>
            <a:ext cx="2743200" cy="2103120"/>
          </a:xfrm>
          <a:prstGeom prst="rect">
            <a:avLst/>
          </a:prstGeom>
          <a:solidFill>
            <a:srgbClr val="FFF8F0"/>
          </a:solidFill>
          <a:ln w="12700">
            <a:solidFill>
              <a:srgbClr val="EBDFD0"/>
            </a:solidFill>
            <a:prstDash val="solid"/>
          </a:ln>
        </p:spPr>
      </p:sp>
      <p:sp>
        <p:nvSpPr>
          <p:cNvPr id="29" name="Text 27"/>
          <p:cNvSpPr/>
          <p:nvPr/>
        </p:nvSpPr>
        <p:spPr>
          <a:xfrm>
            <a:off x="6172200" y="2423160"/>
            <a:ext cx="2468880" cy="256032"/>
          </a:xfrm>
          <a:prstGeom prst="rect">
            <a:avLst/>
          </a:prstGeom>
          <a:noFill/>
          <a:ln/>
        </p:spPr>
        <p:txBody>
          <a:bodyPr wrap="square" lIns="0" tIns="0" rIns="0" bIns="0" rtlCol="0" anchor="ctr"/>
          <a:lstStyle/>
          <a:p>
            <a:pPr algn="l" indent="0" marL="0">
              <a:buNone/>
            </a:pPr>
            <a:r>
              <a:rPr lang="en-US" sz="1000" i="1" dirty="0">
                <a:solidFill>
                  <a:srgbClr val="6B5A47"/>
                </a:solidFill>
                <a:latin typeface="Yu Gothic" pitchFamily="34" charset="0"/>
                <a:ea typeface="Yu Gothic" pitchFamily="34" charset="-122"/>
                <a:cs typeface="Yu Gothic" pitchFamily="34" charset="-120"/>
              </a:rPr>
              <a:t>特別パートナー料金</a:t>
            </a:r>
            <a:endParaRPr lang="en-US" sz="1000" dirty="0"/>
          </a:p>
        </p:txBody>
      </p:sp>
      <p:sp>
        <p:nvSpPr>
          <p:cNvPr id="30" name="Shape 28"/>
          <p:cNvSpPr/>
          <p:nvPr/>
        </p:nvSpPr>
        <p:spPr>
          <a:xfrm>
            <a:off x="6172200" y="2724912"/>
            <a:ext cx="548640" cy="0"/>
          </a:xfrm>
          <a:prstGeom prst="line">
            <a:avLst/>
          </a:prstGeom>
          <a:noFill/>
          <a:ln w="25400">
            <a:solidFill>
              <a:srgbClr val="E8740C"/>
            </a:solidFill>
            <a:prstDash val="solid"/>
          </a:ln>
        </p:spPr>
      </p:sp>
      <p:sp>
        <p:nvSpPr>
          <p:cNvPr id="31" name="Text 29"/>
          <p:cNvSpPr/>
          <p:nvPr/>
        </p:nvSpPr>
        <p:spPr>
          <a:xfrm>
            <a:off x="6217920" y="2816352"/>
            <a:ext cx="2468880" cy="1600200"/>
          </a:xfrm>
          <a:prstGeom prst="rect">
            <a:avLst/>
          </a:prstGeom>
          <a:noFill/>
          <a:ln/>
        </p:spPr>
        <p:txBody>
          <a:bodyPr wrap="square" lIns="0" tIns="0" rIns="0" bIns="0" rtlCol="0" anchor="t"/>
          <a:lstStyle/>
          <a:p>
            <a:pPr algn="l" marL="342900" indent="-342900">
              <a:spcAft>
                <a:spcPts val="400"/>
              </a:spcAft>
              <a:buSzPct val="100000"/>
              <a:buChar char="●"/>
            </a:pPr>
            <a:r>
              <a:rPr lang="en-US" sz="1000" dirty="0">
                <a:solidFill>
                  <a:srgbClr val="3D2200"/>
                </a:solidFill>
                <a:latin typeface="Yu Gothic" pitchFamily="34" charset="0"/>
                <a:ea typeface="Yu Gothic" pitchFamily="34" charset="-122"/>
                <a:cs typeface="Yu Gothic" pitchFamily="34" charset="-120"/>
              </a:rPr>
              <a:t>月額 通常の50%OFF</a:t>
            </a:r>
            <a:endParaRPr lang="en-US" sz="1000" dirty="0"/>
          </a:p>
          <a:p>
            <a:pPr algn="l" marL="342900" indent="-342900">
              <a:spcAft>
                <a:spcPts val="400"/>
              </a:spcAft>
              <a:buSzPct val="100000"/>
              <a:buChar char="●"/>
            </a:pPr>
            <a:r>
              <a:rPr lang="en-US" sz="1000" dirty="0">
                <a:solidFill>
                  <a:srgbClr val="3D2200"/>
                </a:solidFill>
                <a:latin typeface="Yu Gothic" pitchFamily="34" charset="0"/>
                <a:ea typeface="Yu Gothic" pitchFamily="34" charset="-122"/>
                <a:cs typeface="Yu Gothic" pitchFamily="34" charset="-120"/>
              </a:rPr>
              <a:t>予約¥30,000/件（割引）</a:t>
            </a:r>
            <a:endParaRPr lang="en-US" sz="1000" dirty="0"/>
          </a:p>
          <a:p>
            <a:pPr algn="l" marL="342900" indent="-342900">
              <a:spcAft>
                <a:spcPts val="400"/>
              </a:spcAft>
              <a:buSzPct val="100000"/>
              <a:buChar char="●"/>
            </a:pPr>
            <a:r>
              <a:rPr lang="en-US" sz="1000" dirty="0">
                <a:solidFill>
                  <a:srgbClr val="3D2200"/>
                </a:solidFill>
                <a:latin typeface="Yu Gothic" pitchFamily="34" charset="0"/>
                <a:ea typeface="Yu Gothic" pitchFamily="34" charset="-122"/>
                <a:cs typeface="Yu Gothic" pitchFamily="34" charset="-120"/>
              </a:rPr>
              <a:t>成約報酬 1.5%維持</a:t>
            </a:r>
            <a:endParaRPr lang="en-US" sz="1000" dirty="0"/>
          </a:p>
          <a:p>
            <a:pPr algn="l" marL="342900" indent="-342900">
              <a:spcAft>
                <a:spcPts val="400"/>
              </a:spcAft>
              <a:buSzPct val="100000"/>
              <a:buChar char="●"/>
            </a:pPr>
            <a:r>
              <a:rPr lang="en-US" sz="1000" dirty="0">
                <a:solidFill>
                  <a:srgbClr val="3D2200"/>
                </a:solidFill>
                <a:latin typeface="Yu Gothic" pitchFamily="34" charset="0"/>
                <a:ea typeface="Yu Gothic" pitchFamily="34" charset="-122"/>
                <a:cs typeface="Yu Gothic" pitchFamily="34" charset="-120"/>
              </a:rPr>
              <a:t>オプション 常に10%OFF</a:t>
            </a:r>
            <a:endParaRPr lang="en-US" sz="1000" dirty="0"/>
          </a:p>
        </p:txBody>
      </p:sp>
      <p:sp>
        <p:nvSpPr>
          <p:cNvPr id="32" name="Shape 30"/>
          <p:cNvSpPr/>
          <p:nvPr/>
        </p:nvSpPr>
        <p:spPr>
          <a:xfrm>
            <a:off x="457200" y="4526280"/>
            <a:ext cx="8229600" cy="411480"/>
          </a:xfrm>
          <a:prstGeom prst="rect">
            <a:avLst/>
          </a:prstGeom>
          <a:solidFill>
            <a:srgbClr val="FFE8D1"/>
          </a:solidFill>
          <a:ln w="12700">
            <a:solidFill>
              <a:srgbClr val="E8740C"/>
            </a:solidFill>
            <a:prstDash val="solid"/>
          </a:ln>
        </p:spPr>
      </p:sp>
      <p:sp>
        <p:nvSpPr>
          <p:cNvPr id="33" name="Text 31"/>
          <p:cNvSpPr/>
          <p:nvPr/>
        </p:nvSpPr>
        <p:spPr>
          <a:xfrm>
            <a:off x="457200" y="4526280"/>
            <a:ext cx="8229600" cy="411480"/>
          </a:xfrm>
          <a:prstGeom prst="rect">
            <a:avLst/>
          </a:prstGeom>
          <a:noFill/>
          <a:ln/>
        </p:spPr>
        <p:txBody>
          <a:bodyPr wrap="square" lIns="0" tIns="0" rIns="0" bIns="0" rtlCol="0" anchor="ctr"/>
          <a:lstStyle/>
          <a:p>
            <a:pPr algn="ctr" indent="0" marL="0">
              <a:buNone/>
            </a:pPr>
            <a:r>
              <a:rPr lang="en-US" sz="1000" b="1" dirty="0">
                <a:solidFill>
                  <a:srgbClr val="E8740C"/>
                </a:solidFill>
                <a:latin typeface="Yu Gothic" pitchFamily="34" charset="0"/>
                <a:ea typeface="Yu Gothic" pitchFamily="34" charset="-122"/>
                <a:cs typeface="Yu Gothic" pitchFamily="34" charset="-120"/>
              </a:rPr>
              <a:t>移行条件: </a:t>
            </a:r>
            <a:pPr algn="ctr" indent="0" marL="0">
              <a:buNone/>
            </a:pPr>
            <a:r>
              <a:rPr lang="en-US" sz="1000" dirty="0">
                <a:solidFill>
                  <a:srgbClr val="3D2200"/>
                </a:solidFill>
                <a:latin typeface="Yu Gothic" pitchFamily="34" charset="0"/>
                <a:ea typeface="Yu Gothic" pitchFamily="34" charset="-122"/>
                <a:cs typeface="Yu Gothic" pitchFamily="34" charset="-120"/>
              </a:rPr>
              <a:t>成約1件以上 / 月間予約3件以上が3ヶ月連続 / 費用対効果を実感 ─ いずれかで次フェーズご案内</a:t>
            </a:r>
            <a:endParaRPr lang="en-US" sz="1000" dirty="0"/>
          </a:p>
        </p:txBody>
      </p:sp>
      <p:sp>
        <p:nvSpPr>
          <p:cNvPr id="34" name="Text 32"/>
          <p:cNvSpPr/>
          <p:nvPr/>
        </p:nvSpPr>
        <p:spPr>
          <a:xfrm>
            <a:off x="457200" y="4983480"/>
            <a:ext cx="8229600" cy="228600"/>
          </a:xfrm>
          <a:prstGeom prst="rect">
            <a:avLst/>
          </a:prstGeom>
          <a:noFill/>
          <a:ln/>
        </p:spPr>
        <p:txBody>
          <a:bodyPr wrap="square" lIns="0" tIns="0" rIns="0" bIns="0" rtlCol="0" anchor="ctr"/>
          <a:lstStyle/>
          <a:p>
            <a:pPr algn="ctr" indent="0" marL="0">
              <a:buNone/>
            </a:pPr>
            <a:r>
              <a:rPr lang="en-US" sz="900" i="1" dirty="0">
                <a:solidFill>
                  <a:srgbClr val="6B5A47"/>
                </a:solidFill>
                <a:latin typeface="Yu Gothic" pitchFamily="34" charset="0"/>
                <a:ea typeface="Yu Gothic" pitchFamily="34" charset="-122"/>
                <a:cs typeface="Yu Gothic" pitchFamily="34" charset="-120"/>
              </a:rPr>
              <a:t>※ フェーズ移行は強制ではなく、成果を見ながら任意で選択いただけます。現条件のまま継続も可能です。</a:t>
            </a:r>
            <a:endParaRPr lang="en-US" sz="900" dirty="0"/>
          </a:p>
        </p:txBody>
      </p:sp>
      <p:sp>
        <p:nvSpPr>
          <p:cNvPr id="35" name="Shape 33"/>
          <p:cNvSpPr/>
          <p:nvPr/>
        </p:nvSpPr>
        <p:spPr>
          <a:xfrm>
            <a:off x="365760" y="4823460"/>
            <a:ext cx="8412480" cy="0"/>
          </a:xfrm>
          <a:prstGeom prst="line">
            <a:avLst/>
          </a:prstGeom>
          <a:noFill/>
          <a:ln w="9525">
            <a:solidFill>
              <a:srgbClr val="EBDFD0"/>
            </a:solidFill>
            <a:prstDash val="solid"/>
          </a:ln>
        </p:spPr>
      </p:sp>
      <p:sp>
        <p:nvSpPr>
          <p:cNvPr id="36" name="Text 34"/>
          <p:cNvSpPr/>
          <p:nvPr/>
        </p:nvSpPr>
        <p:spPr>
          <a:xfrm>
            <a:off x="365760" y="4850892"/>
            <a:ext cx="4572000" cy="274320"/>
          </a:xfrm>
          <a:prstGeom prst="rect">
            <a:avLst/>
          </a:prstGeom>
          <a:noFill/>
          <a:ln/>
        </p:spPr>
        <p:txBody>
          <a:bodyPr wrap="square" lIns="0" tIns="0" rIns="0" bIns="0" rtlCol="0" anchor="ctr"/>
          <a:lstStyle/>
          <a:p>
            <a:pPr algn="l" indent="0" marL="0">
              <a:buNone/>
            </a:pPr>
            <a:r>
              <a:rPr lang="en-US" sz="900" dirty="0">
                <a:solidFill>
                  <a:srgbClr val="6B5A47"/>
                </a:solidFill>
                <a:latin typeface="Yu Gothic" pitchFamily="34" charset="0"/>
                <a:ea typeface="Yu Gothic" pitchFamily="34" charset="-122"/>
                <a:cs typeface="Yu Gothic" pitchFamily="34" charset="-120"/>
              </a:rPr>
              <a:t>ぺいほーむ ポータルサイト</a:t>
            </a:r>
            <a:endParaRPr lang="en-US" sz="900" dirty="0"/>
          </a:p>
        </p:txBody>
      </p:sp>
      <p:sp>
        <p:nvSpPr>
          <p:cNvPr id="37" name="Text 35"/>
          <p:cNvSpPr/>
          <p:nvPr/>
        </p:nvSpPr>
        <p:spPr>
          <a:xfrm>
            <a:off x="4206240" y="4850892"/>
            <a:ext cx="4572000" cy="274320"/>
          </a:xfrm>
          <a:prstGeom prst="rect">
            <a:avLst/>
          </a:prstGeom>
          <a:noFill/>
          <a:ln/>
        </p:spPr>
        <p:txBody>
          <a:bodyPr wrap="square" lIns="0" tIns="0" rIns="0" bIns="0" rtlCol="0" anchor="ctr"/>
          <a:lstStyle/>
          <a:p>
            <a:pPr algn="r" indent="0" marL="0">
              <a:buNone/>
            </a:pPr>
            <a:r>
              <a:rPr lang="en-US" sz="900" i="1" dirty="0">
                <a:solidFill>
                  <a:srgbClr val="6B5A47"/>
                </a:solidFill>
                <a:latin typeface="Yu Gothic" pitchFamily="34" charset="0"/>
                <a:ea typeface="Yu Gothic" pitchFamily="34" charset="-122"/>
                <a:cs typeface="Yu Gothic" pitchFamily="34" charset="-120"/>
              </a:rPr>
              <a:t>本気の出会いを、誠実に。</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8740C"/>
          </a:solidFill>
          <a:ln w="12700">
            <a:solidFill>
              <a:srgbClr val="E8740C"/>
            </a:solidFill>
            <a:prstDash val="solid"/>
          </a:ln>
        </p:spPr>
      </p:sp>
      <p:sp>
        <p:nvSpPr>
          <p:cNvPr id="3" name="Text 1"/>
          <p:cNvSpPr/>
          <p:nvPr/>
        </p:nvSpPr>
        <p:spPr>
          <a:xfrm>
            <a:off x="365760" y="182880"/>
            <a:ext cx="1097280" cy="274320"/>
          </a:xfrm>
          <a:prstGeom prst="rect">
            <a:avLst/>
          </a:prstGeom>
          <a:noFill/>
          <a:ln/>
        </p:spPr>
        <p:txBody>
          <a:bodyPr wrap="square" lIns="0" tIns="0" rIns="0" bIns="0" rtlCol="0" anchor="ctr"/>
          <a:lstStyle/>
          <a:p>
            <a:pPr algn="l" indent="0" marL="0">
              <a:buNone/>
            </a:pPr>
            <a:r>
              <a:rPr lang="en-US" sz="1000" b="1" dirty="0">
                <a:solidFill>
                  <a:srgbClr val="E8740C"/>
                </a:solidFill>
                <a:latin typeface="Yu Gothic" pitchFamily="34" charset="0"/>
                <a:ea typeface="Yu Gothic" pitchFamily="34" charset="-122"/>
                <a:cs typeface="Yu Gothic" pitchFamily="34" charset="-120"/>
              </a:rPr>
              <a:t>18 / 20</a:t>
            </a:r>
            <a:endParaRPr lang="en-US" sz="1000" dirty="0"/>
          </a:p>
        </p:txBody>
      </p:sp>
      <p:sp>
        <p:nvSpPr>
          <p:cNvPr id="4" name="Text 2"/>
          <p:cNvSpPr/>
          <p:nvPr/>
        </p:nvSpPr>
        <p:spPr>
          <a:xfrm>
            <a:off x="1554480" y="182880"/>
            <a:ext cx="7223760" cy="274320"/>
          </a:xfrm>
          <a:prstGeom prst="rect">
            <a:avLst/>
          </a:prstGeom>
          <a:noFill/>
          <a:ln/>
        </p:spPr>
        <p:txBody>
          <a:bodyPr wrap="square" lIns="0" tIns="0" rIns="0" bIns="0" rtlCol="0" anchor="ctr"/>
          <a:lstStyle/>
          <a:p>
            <a:pPr algn="r" indent="0" marL="0">
              <a:buNone/>
            </a:pPr>
            <a:r>
              <a:rPr lang="en-US" sz="1000" dirty="0">
                <a:solidFill>
                  <a:srgbClr val="6B5A47"/>
                </a:solidFill>
                <a:latin typeface="Yu Gothic" pitchFamily="34" charset="0"/>
                <a:ea typeface="Yu Gothic" pitchFamily="34" charset="-122"/>
                <a:cs typeface="Yu Gothic" pitchFamily="34" charset="-120"/>
              </a:rPr>
              <a:t>費用対効果のご試算</a:t>
            </a:r>
            <a:endParaRPr lang="en-US" sz="1000" dirty="0"/>
          </a:p>
        </p:txBody>
      </p:sp>
      <p:sp>
        <p:nvSpPr>
          <p:cNvPr id="5" name="Shape 3"/>
          <p:cNvSpPr/>
          <p:nvPr/>
        </p:nvSpPr>
        <p:spPr>
          <a:xfrm>
            <a:off x="457200" y="685800"/>
            <a:ext cx="109728" cy="502920"/>
          </a:xfrm>
          <a:prstGeom prst="rect">
            <a:avLst/>
          </a:prstGeom>
          <a:solidFill>
            <a:srgbClr val="E8740C"/>
          </a:solidFill>
          <a:ln w="12700">
            <a:solidFill>
              <a:srgbClr val="E8740C"/>
            </a:solidFill>
            <a:prstDash val="solid"/>
          </a:ln>
        </p:spPr>
      </p:sp>
      <p:sp>
        <p:nvSpPr>
          <p:cNvPr id="6" name="Text 4"/>
          <p:cNvSpPr/>
          <p:nvPr/>
        </p:nvSpPr>
        <p:spPr>
          <a:xfrm>
            <a:off x="685800" y="640080"/>
            <a:ext cx="8229600" cy="594360"/>
          </a:xfrm>
          <a:prstGeom prst="rect">
            <a:avLst/>
          </a:prstGeom>
          <a:noFill/>
          <a:ln/>
        </p:spPr>
        <p:txBody>
          <a:bodyPr wrap="square" lIns="0" tIns="0" rIns="0" bIns="0" rtlCol="0" anchor="ctr"/>
          <a:lstStyle/>
          <a:p>
            <a:pPr algn="l" indent="0" marL="0">
              <a:buNone/>
            </a:pPr>
            <a:r>
              <a:rPr lang="en-US" sz="2600" b="1" dirty="0">
                <a:solidFill>
                  <a:srgbClr val="2A1700"/>
                </a:solidFill>
                <a:latin typeface="Yu Gothic" pitchFamily="34" charset="0"/>
                <a:ea typeface="Yu Gothic" pitchFamily="34" charset="-122"/>
                <a:cs typeface="Yu Gothic" pitchFamily="34" charset="-120"/>
              </a:rPr>
              <a:t>3,000万円のご契約 1件が成立した場合</a:t>
            </a:r>
            <a:endParaRPr lang="en-US" sz="2600" dirty="0"/>
          </a:p>
        </p:txBody>
      </p:sp>
      <p:sp>
        <p:nvSpPr>
          <p:cNvPr id="7" name="Text 5"/>
          <p:cNvSpPr/>
          <p:nvPr/>
        </p:nvSpPr>
        <p:spPr>
          <a:xfrm>
            <a:off x="685800" y="1207008"/>
            <a:ext cx="8229600" cy="274320"/>
          </a:xfrm>
          <a:prstGeom prst="rect">
            <a:avLst/>
          </a:prstGeom>
          <a:noFill/>
          <a:ln/>
        </p:spPr>
        <p:txBody>
          <a:bodyPr wrap="square" lIns="0" tIns="0" rIns="0" bIns="0" rtlCol="0" anchor="ctr"/>
          <a:lstStyle/>
          <a:p>
            <a:pPr algn="l" indent="0" marL="0">
              <a:buNone/>
            </a:pPr>
            <a:r>
              <a:rPr lang="en-US" sz="1200" dirty="0">
                <a:solidFill>
                  <a:srgbClr val="6B5A47"/>
                </a:solidFill>
                <a:latin typeface="Yu Gothic" pitchFamily="34" charset="0"/>
                <a:ea typeface="Yu Gothic" pitchFamily="34" charset="-122"/>
                <a:cs typeface="Yu Gothic" pitchFamily="34" charset="-120"/>
              </a:rPr>
              <a:t>業界平均（成約率10%）での現実的な試算</a:t>
            </a:r>
            <a:endParaRPr lang="en-US" sz="1200" dirty="0"/>
          </a:p>
        </p:txBody>
      </p:sp>
      <p:sp>
        <p:nvSpPr>
          <p:cNvPr id="8" name="Shape 6"/>
          <p:cNvSpPr/>
          <p:nvPr/>
        </p:nvSpPr>
        <p:spPr>
          <a:xfrm>
            <a:off x="457200" y="1691640"/>
            <a:ext cx="2715768" cy="1600200"/>
          </a:xfrm>
          <a:prstGeom prst="rect">
            <a:avLst/>
          </a:prstGeom>
          <a:solidFill>
            <a:srgbClr val="FFFFFF"/>
          </a:solidFill>
          <a:ln w="12700">
            <a:solidFill>
              <a:srgbClr val="EBDFD0"/>
            </a:solidFill>
            <a:prstDash val="solid"/>
          </a:ln>
        </p:spPr>
      </p:sp>
      <p:sp>
        <p:nvSpPr>
          <p:cNvPr id="9" name="Shape 7"/>
          <p:cNvSpPr/>
          <p:nvPr/>
        </p:nvSpPr>
        <p:spPr>
          <a:xfrm>
            <a:off x="457200" y="1691640"/>
            <a:ext cx="2715768" cy="73152"/>
          </a:xfrm>
          <a:prstGeom prst="rect">
            <a:avLst/>
          </a:prstGeom>
          <a:solidFill>
            <a:srgbClr val="6B5A47"/>
          </a:solidFill>
          <a:ln w="12700">
            <a:solidFill>
              <a:srgbClr val="6B5A47"/>
            </a:solidFill>
            <a:prstDash val="solid"/>
          </a:ln>
        </p:spPr>
      </p:sp>
      <p:sp>
        <p:nvSpPr>
          <p:cNvPr id="10" name="Text 8"/>
          <p:cNvSpPr/>
          <p:nvPr/>
        </p:nvSpPr>
        <p:spPr>
          <a:xfrm>
            <a:off x="594360" y="1810512"/>
            <a:ext cx="2441448" cy="274320"/>
          </a:xfrm>
          <a:prstGeom prst="rect">
            <a:avLst/>
          </a:prstGeom>
          <a:noFill/>
          <a:ln/>
        </p:spPr>
        <p:txBody>
          <a:bodyPr wrap="square" lIns="0" tIns="0" rIns="0" bIns="0" rtlCol="0" anchor="ctr"/>
          <a:lstStyle/>
          <a:p>
            <a:pPr algn="l" indent="0" marL="0">
              <a:buNone/>
            </a:pPr>
            <a:r>
              <a:rPr lang="en-US" sz="1000" dirty="0">
                <a:solidFill>
                  <a:srgbClr val="6B5A47"/>
                </a:solidFill>
                <a:latin typeface="Yu Gothic" pitchFamily="34" charset="0"/>
                <a:ea typeface="Yu Gothic" pitchFamily="34" charset="-122"/>
                <a:cs typeface="Yu Gothic" pitchFamily="34" charset="-120"/>
              </a:rPr>
              <a:t>見学会予約</a:t>
            </a:r>
            <a:endParaRPr lang="en-US" sz="1000" dirty="0"/>
          </a:p>
        </p:txBody>
      </p:sp>
      <p:sp>
        <p:nvSpPr>
          <p:cNvPr id="11" name="Text 9"/>
          <p:cNvSpPr/>
          <p:nvPr/>
        </p:nvSpPr>
        <p:spPr>
          <a:xfrm>
            <a:off x="594360" y="2084832"/>
            <a:ext cx="2441448" cy="777240"/>
          </a:xfrm>
          <a:prstGeom prst="rect">
            <a:avLst/>
          </a:prstGeom>
          <a:noFill/>
          <a:ln/>
        </p:spPr>
        <p:txBody>
          <a:bodyPr wrap="square" lIns="0" tIns="0" rIns="0" bIns="0" rtlCol="0" anchor="ctr"/>
          <a:lstStyle/>
          <a:p>
            <a:pPr algn="l" indent="0" marL="0">
              <a:buNone/>
            </a:pPr>
            <a:r>
              <a:rPr lang="en-US" sz="3800" b="1" dirty="0">
                <a:solidFill>
                  <a:srgbClr val="6B5A47"/>
                </a:solidFill>
                <a:latin typeface="Yu Gothic" pitchFamily="34" charset="0"/>
                <a:ea typeface="Yu Gothic" pitchFamily="34" charset="-122"/>
                <a:cs typeface="Yu Gothic" pitchFamily="34" charset="-120"/>
              </a:rPr>
              <a:t>10件</a:t>
            </a:r>
            <a:endParaRPr lang="en-US" sz="3800" dirty="0"/>
          </a:p>
        </p:txBody>
      </p:sp>
      <p:sp>
        <p:nvSpPr>
          <p:cNvPr id="12" name="Text 10"/>
          <p:cNvSpPr/>
          <p:nvPr/>
        </p:nvSpPr>
        <p:spPr>
          <a:xfrm>
            <a:off x="594360" y="2880360"/>
            <a:ext cx="2441448" cy="320040"/>
          </a:xfrm>
          <a:prstGeom prst="rect">
            <a:avLst/>
          </a:prstGeom>
          <a:noFill/>
          <a:ln/>
        </p:spPr>
        <p:txBody>
          <a:bodyPr wrap="square" lIns="0" tIns="0" rIns="0" bIns="0" rtlCol="0" anchor="ctr"/>
          <a:lstStyle/>
          <a:p>
            <a:pPr algn="l" indent="0" marL="0">
              <a:buNone/>
            </a:pPr>
            <a:r>
              <a:rPr lang="en-US" sz="900" dirty="0">
                <a:solidFill>
                  <a:srgbClr val="6B5A47"/>
                </a:solidFill>
                <a:latin typeface="Yu Gothic" pitchFamily="34" charset="0"/>
                <a:ea typeface="Yu Gothic" pitchFamily="34" charset="-122"/>
                <a:cs typeface="Yu Gothic" pitchFamily="34" charset="-120"/>
              </a:rPr>
              <a:t>業界平均の成約率10%を想定</a:t>
            </a:r>
            <a:endParaRPr lang="en-US" sz="900" dirty="0"/>
          </a:p>
        </p:txBody>
      </p:sp>
      <p:sp>
        <p:nvSpPr>
          <p:cNvPr id="13" name="Shape 11"/>
          <p:cNvSpPr/>
          <p:nvPr/>
        </p:nvSpPr>
        <p:spPr>
          <a:xfrm>
            <a:off x="3264408" y="1691640"/>
            <a:ext cx="2715768" cy="1600200"/>
          </a:xfrm>
          <a:prstGeom prst="rect">
            <a:avLst/>
          </a:prstGeom>
          <a:solidFill>
            <a:srgbClr val="FFFFFF"/>
          </a:solidFill>
          <a:ln w="12700">
            <a:solidFill>
              <a:srgbClr val="EBDFD0"/>
            </a:solidFill>
            <a:prstDash val="solid"/>
          </a:ln>
        </p:spPr>
      </p:sp>
      <p:sp>
        <p:nvSpPr>
          <p:cNvPr id="14" name="Shape 12"/>
          <p:cNvSpPr/>
          <p:nvPr/>
        </p:nvSpPr>
        <p:spPr>
          <a:xfrm>
            <a:off x="3264408" y="1691640"/>
            <a:ext cx="2715768" cy="73152"/>
          </a:xfrm>
          <a:prstGeom prst="rect">
            <a:avLst/>
          </a:prstGeom>
          <a:solidFill>
            <a:srgbClr val="E8740C"/>
          </a:solidFill>
          <a:ln w="12700">
            <a:solidFill>
              <a:srgbClr val="E8740C"/>
            </a:solidFill>
            <a:prstDash val="solid"/>
          </a:ln>
        </p:spPr>
      </p:sp>
      <p:sp>
        <p:nvSpPr>
          <p:cNvPr id="15" name="Text 13"/>
          <p:cNvSpPr/>
          <p:nvPr/>
        </p:nvSpPr>
        <p:spPr>
          <a:xfrm>
            <a:off x="3401568" y="1810512"/>
            <a:ext cx="2441448" cy="274320"/>
          </a:xfrm>
          <a:prstGeom prst="rect">
            <a:avLst/>
          </a:prstGeom>
          <a:noFill/>
          <a:ln/>
        </p:spPr>
        <p:txBody>
          <a:bodyPr wrap="square" lIns="0" tIns="0" rIns="0" bIns="0" rtlCol="0" anchor="ctr"/>
          <a:lstStyle/>
          <a:p>
            <a:pPr algn="l" indent="0" marL="0">
              <a:buNone/>
            </a:pPr>
            <a:r>
              <a:rPr lang="en-US" sz="1000" dirty="0">
                <a:solidFill>
                  <a:srgbClr val="6B5A47"/>
                </a:solidFill>
                <a:latin typeface="Yu Gothic" pitchFamily="34" charset="0"/>
                <a:ea typeface="Yu Gothic" pitchFamily="34" charset="-122"/>
                <a:cs typeface="Yu Gothic" pitchFamily="34" charset="-120"/>
              </a:rPr>
              <a:t>ぺいほーむへのご負担</a:t>
            </a:r>
            <a:endParaRPr lang="en-US" sz="1000" dirty="0"/>
          </a:p>
        </p:txBody>
      </p:sp>
      <p:sp>
        <p:nvSpPr>
          <p:cNvPr id="16" name="Text 14"/>
          <p:cNvSpPr/>
          <p:nvPr/>
        </p:nvSpPr>
        <p:spPr>
          <a:xfrm>
            <a:off x="3401568" y="2084832"/>
            <a:ext cx="2441448" cy="777240"/>
          </a:xfrm>
          <a:prstGeom prst="rect">
            <a:avLst/>
          </a:prstGeom>
          <a:noFill/>
          <a:ln/>
        </p:spPr>
        <p:txBody>
          <a:bodyPr wrap="square" lIns="0" tIns="0" rIns="0" bIns="0" rtlCol="0" anchor="ctr"/>
          <a:lstStyle/>
          <a:p>
            <a:pPr algn="l" indent="0" marL="0">
              <a:buNone/>
            </a:pPr>
            <a:r>
              <a:rPr lang="en-US" sz="3800" b="1" dirty="0">
                <a:solidFill>
                  <a:srgbClr val="E8740C"/>
                </a:solidFill>
                <a:latin typeface="Yu Gothic" pitchFamily="34" charset="0"/>
                <a:ea typeface="Yu Gothic" pitchFamily="34" charset="-122"/>
                <a:cs typeface="Yu Gothic" pitchFamily="34" charset="-120"/>
              </a:rPr>
              <a:t>50万円</a:t>
            </a:r>
            <a:endParaRPr lang="en-US" sz="3800" dirty="0"/>
          </a:p>
        </p:txBody>
      </p:sp>
      <p:sp>
        <p:nvSpPr>
          <p:cNvPr id="17" name="Text 15"/>
          <p:cNvSpPr/>
          <p:nvPr/>
        </p:nvSpPr>
        <p:spPr>
          <a:xfrm>
            <a:off x="3401568" y="2880360"/>
            <a:ext cx="2441448" cy="320040"/>
          </a:xfrm>
          <a:prstGeom prst="rect">
            <a:avLst/>
          </a:prstGeom>
          <a:noFill/>
          <a:ln/>
        </p:spPr>
        <p:txBody>
          <a:bodyPr wrap="square" lIns="0" tIns="0" rIns="0" bIns="0" rtlCol="0" anchor="ctr"/>
          <a:lstStyle/>
          <a:p>
            <a:pPr algn="l" indent="0" marL="0">
              <a:buNone/>
            </a:pPr>
            <a:r>
              <a:rPr lang="en-US" sz="900" dirty="0">
                <a:solidFill>
                  <a:srgbClr val="6B5A47"/>
                </a:solidFill>
                <a:latin typeface="Yu Gothic" pitchFamily="34" charset="0"/>
                <a:ea typeface="Yu Gothic" pitchFamily="34" charset="-122"/>
                <a:cs typeface="Yu Gothic" pitchFamily="34" charset="-120"/>
              </a:rPr>
              <a:t>10件 × 5万円（税別）</a:t>
            </a:r>
            <a:endParaRPr lang="en-US" sz="900" dirty="0"/>
          </a:p>
        </p:txBody>
      </p:sp>
      <p:sp>
        <p:nvSpPr>
          <p:cNvPr id="18" name="Shape 16"/>
          <p:cNvSpPr/>
          <p:nvPr/>
        </p:nvSpPr>
        <p:spPr>
          <a:xfrm>
            <a:off x="6071616" y="1691640"/>
            <a:ext cx="2715768" cy="1600200"/>
          </a:xfrm>
          <a:prstGeom prst="rect">
            <a:avLst/>
          </a:prstGeom>
          <a:solidFill>
            <a:srgbClr val="FFFFFF"/>
          </a:solidFill>
          <a:ln w="12700">
            <a:solidFill>
              <a:srgbClr val="EBDFD0"/>
            </a:solidFill>
            <a:prstDash val="solid"/>
          </a:ln>
        </p:spPr>
      </p:sp>
      <p:sp>
        <p:nvSpPr>
          <p:cNvPr id="19" name="Shape 17"/>
          <p:cNvSpPr/>
          <p:nvPr/>
        </p:nvSpPr>
        <p:spPr>
          <a:xfrm>
            <a:off x="6071616" y="1691640"/>
            <a:ext cx="2715768" cy="73152"/>
          </a:xfrm>
          <a:prstGeom prst="rect">
            <a:avLst/>
          </a:prstGeom>
          <a:solidFill>
            <a:srgbClr val="2E7D32"/>
          </a:solidFill>
          <a:ln w="12700">
            <a:solidFill>
              <a:srgbClr val="2E7D32"/>
            </a:solidFill>
            <a:prstDash val="solid"/>
          </a:ln>
        </p:spPr>
      </p:sp>
      <p:sp>
        <p:nvSpPr>
          <p:cNvPr id="20" name="Text 18"/>
          <p:cNvSpPr/>
          <p:nvPr/>
        </p:nvSpPr>
        <p:spPr>
          <a:xfrm>
            <a:off x="6208776" y="1810512"/>
            <a:ext cx="2441448" cy="274320"/>
          </a:xfrm>
          <a:prstGeom prst="rect">
            <a:avLst/>
          </a:prstGeom>
          <a:noFill/>
          <a:ln/>
        </p:spPr>
        <p:txBody>
          <a:bodyPr wrap="square" lIns="0" tIns="0" rIns="0" bIns="0" rtlCol="0" anchor="ctr"/>
          <a:lstStyle/>
          <a:p>
            <a:pPr algn="l" indent="0" marL="0">
              <a:buNone/>
            </a:pPr>
            <a:r>
              <a:rPr lang="en-US" sz="1000" dirty="0">
                <a:solidFill>
                  <a:srgbClr val="6B5A47"/>
                </a:solidFill>
                <a:latin typeface="Yu Gothic" pitchFamily="34" charset="0"/>
                <a:ea typeface="Yu Gothic" pitchFamily="34" charset="-122"/>
                <a:cs typeface="Yu Gothic" pitchFamily="34" charset="-120"/>
              </a:rPr>
              <a:t>成約による粗利</a:t>
            </a:r>
            <a:endParaRPr lang="en-US" sz="1000" dirty="0"/>
          </a:p>
        </p:txBody>
      </p:sp>
      <p:sp>
        <p:nvSpPr>
          <p:cNvPr id="21" name="Text 19"/>
          <p:cNvSpPr/>
          <p:nvPr/>
        </p:nvSpPr>
        <p:spPr>
          <a:xfrm>
            <a:off x="6208776" y="2084832"/>
            <a:ext cx="2441448" cy="777240"/>
          </a:xfrm>
          <a:prstGeom prst="rect">
            <a:avLst/>
          </a:prstGeom>
          <a:noFill/>
          <a:ln/>
        </p:spPr>
        <p:txBody>
          <a:bodyPr wrap="square" lIns="0" tIns="0" rIns="0" bIns="0" rtlCol="0" anchor="ctr"/>
          <a:lstStyle/>
          <a:p>
            <a:pPr algn="l" indent="0" marL="0">
              <a:buNone/>
            </a:pPr>
            <a:r>
              <a:rPr lang="en-US" sz="3800" b="1" dirty="0">
                <a:solidFill>
                  <a:srgbClr val="2E7D32"/>
                </a:solidFill>
                <a:latin typeface="Yu Gothic" pitchFamily="34" charset="0"/>
                <a:ea typeface="Yu Gothic" pitchFamily="34" charset="-122"/>
                <a:cs typeface="Yu Gothic" pitchFamily="34" charset="-120"/>
              </a:rPr>
              <a:t>600万円</a:t>
            </a:r>
            <a:endParaRPr lang="en-US" sz="3800" dirty="0"/>
          </a:p>
        </p:txBody>
      </p:sp>
      <p:sp>
        <p:nvSpPr>
          <p:cNvPr id="22" name="Text 20"/>
          <p:cNvSpPr/>
          <p:nvPr/>
        </p:nvSpPr>
        <p:spPr>
          <a:xfrm>
            <a:off x="6208776" y="2880360"/>
            <a:ext cx="2441448" cy="320040"/>
          </a:xfrm>
          <a:prstGeom prst="rect">
            <a:avLst/>
          </a:prstGeom>
          <a:noFill/>
          <a:ln/>
        </p:spPr>
        <p:txBody>
          <a:bodyPr wrap="square" lIns="0" tIns="0" rIns="0" bIns="0" rtlCol="0" anchor="ctr"/>
          <a:lstStyle/>
          <a:p>
            <a:pPr algn="l" indent="0" marL="0">
              <a:buNone/>
            </a:pPr>
            <a:r>
              <a:rPr lang="en-US" sz="900" dirty="0">
                <a:solidFill>
                  <a:srgbClr val="6B5A47"/>
                </a:solidFill>
                <a:latin typeface="Yu Gothic" pitchFamily="34" charset="0"/>
                <a:ea typeface="Yu Gothic" pitchFamily="34" charset="-122"/>
                <a:cs typeface="Yu Gothic" pitchFamily="34" charset="-120"/>
              </a:rPr>
              <a:t>3,000万円 × 粗利率20%を想定</a:t>
            </a:r>
            <a:endParaRPr lang="en-US" sz="900" dirty="0"/>
          </a:p>
        </p:txBody>
      </p:sp>
      <p:sp>
        <p:nvSpPr>
          <p:cNvPr id="23" name="Shape 21"/>
          <p:cNvSpPr/>
          <p:nvPr/>
        </p:nvSpPr>
        <p:spPr>
          <a:xfrm>
            <a:off x="457200" y="3520440"/>
            <a:ext cx="8229600" cy="1051560"/>
          </a:xfrm>
          <a:prstGeom prst="rect">
            <a:avLst/>
          </a:prstGeom>
          <a:solidFill>
            <a:srgbClr val="FFF8F0"/>
          </a:solidFill>
          <a:ln w="19050">
            <a:solidFill>
              <a:srgbClr val="E8740C"/>
            </a:solidFill>
            <a:prstDash val="solid"/>
          </a:ln>
        </p:spPr>
      </p:sp>
      <p:sp>
        <p:nvSpPr>
          <p:cNvPr id="24" name="Text 22"/>
          <p:cNvSpPr/>
          <p:nvPr/>
        </p:nvSpPr>
        <p:spPr>
          <a:xfrm>
            <a:off x="685800" y="3611880"/>
            <a:ext cx="4572000" cy="274320"/>
          </a:xfrm>
          <a:prstGeom prst="rect">
            <a:avLst/>
          </a:prstGeom>
          <a:noFill/>
          <a:ln/>
        </p:spPr>
        <p:txBody>
          <a:bodyPr wrap="square" lIns="0" tIns="0" rIns="0" bIns="0" rtlCol="0" anchor="ctr"/>
          <a:lstStyle/>
          <a:p>
            <a:pPr algn="l" indent="0" marL="0">
              <a:buNone/>
            </a:pPr>
            <a:r>
              <a:rPr lang="en-US" sz="1100" dirty="0">
                <a:solidFill>
                  <a:srgbClr val="6B5A47"/>
                </a:solidFill>
                <a:latin typeface="Yu Gothic" pitchFamily="34" charset="0"/>
                <a:ea typeface="Yu Gothic" pitchFamily="34" charset="-122"/>
                <a:cs typeface="Yu Gothic" pitchFamily="34" charset="-120"/>
              </a:rPr>
              <a:t>粗利に対する集客コスト比率</a:t>
            </a:r>
            <a:endParaRPr lang="en-US" sz="1100" dirty="0"/>
          </a:p>
        </p:txBody>
      </p:sp>
      <p:sp>
        <p:nvSpPr>
          <p:cNvPr id="25" name="Text 23"/>
          <p:cNvSpPr/>
          <p:nvPr/>
        </p:nvSpPr>
        <p:spPr>
          <a:xfrm>
            <a:off x="685800" y="3886200"/>
            <a:ext cx="3657600" cy="640080"/>
          </a:xfrm>
          <a:prstGeom prst="rect">
            <a:avLst/>
          </a:prstGeom>
          <a:noFill/>
          <a:ln/>
        </p:spPr>
        <p:txBody>
          <a:bodyPr wrap="square" lIns="0" tIns="0" rIns="0" bIns="0" rtlCol="0" anchor="ctr"/>
          <a:lstStyle/>
          <a:p>
            <a:pPr algn="l" indent="0" marL="0">
              <a:buNone/>
            </a:pPr>
            <a:r>
              <a:rPr lang="en-US" sz="3600" b="1" dirty="0">
                <a:solidFill>
                  <a:srgbClr val="E8740C"/>
                </a:solidFill>
                <a:latin typeface="Yu Gothic" pitchFamily="34" charset="0"/>
                <a:ea typeface="Yu Gothic" pitchFamily="34" charset="-122"/>
                <a:cs typeface="Yu Gothic" pitchFamily="34" charset="-120"/>
              </a:rPr>
              <a:t>約 8.3%</a:t>
            </a:r>
            <a:endParaRPr lang="en-US" sz="3600" dirty="0"/>
          </a:p>
        </p:txBody>
      </p:sp>
      <p:sp>
        <p:nvSpPr>
          <p:cNvPr id="26" name="Text 24"/>
          <p:cNvSpPr/>
          <p:nvPr/>
        </p:nvSpPr>
        <p:spPr>
          <a:xfrm>
            <a:off x="4572000" y="3611880"/>
            <a:ext cx="3931920" cy="914400"/>
          </a:xfrm>
          <a:prstGeom prst="rect">
            <a:avLst/>
          </a:prstGeom>
          <a:noFill/>
          <a:ln/>
        </p:spPr>
        <p:txBody>
          <a:bodyPr wrap="square" lIns="0" tIns="0" rIns="0" bIns="0" rtlCol="0" anchor="ctr"/>
          <a:lstStyle/>
          <a:p>
            <a:pPr algn="l" indent="0" marL="0">
              <a:spcAft>
                <a:spcPts val="400"/>
              </a:spcAft>
              <a:buNone/>
            </a:pPr>
            <a:r>
              <a:rPr lang="en-US" sz="1200" dirty="0">
                <a:solidFill>
                  <a:srgbClr val="3D2200"/>
                </a:solidFill>
                <a:latin typeface="Yu Gothic" pitchFamily="34" charset="0"/>
                <a:ea typeface="Yu Gothic" pitchFamily="34" charset="-122"/>
                <a:cs typeface="Yu Gothic" pitchFamily="34" charset="-120"/>
              </a:rPr>
              <a:t>業界の目安（粗利の約15%）の </a:t>
            </a:r>
            <a:endParaRPr lang="en-US" sz="1200" dirty="0"/>
          </a:p>
          <a:p>
            <a:pPr algn="l" indent="0" marL="0">
              <a:spcAft>
                <a:spcPts val="400"/>
              </a:spcAft>
              <a:buNone/>
            </a:pPr>
            <a:r>
              <a:rPr lang="en-US" sz="1800" b="1" dirty="0">
                <a:solidFill>
                  <a:srgbClr val="E8740C"/>
                </a:solidFill>
                <a:latin typeface="Yu Gothic" pitchFamily="34" charset="0"/>
                <a:ea typeface="Yu Gothic" pitchFamily="34" charset="-122"/>
                <a:cs typeface="Yu Gothic" pitchFamily="34" charset="-120"/>
              </a:rPr>
              <a:t>およそ半分</a:t>
            </a:r>
            <a:pPr algn="l" indent="0" marL="0">
              <a:spcAft>
                <a:spcPts val="400"/>
              </a:spcAft>
              <a:buNone/>
            </a:pPr>
            <a:r>
              <a:rPr lang="en-US" sz="1200" dirty="0">
                <a:solidFill>
                  <a:srgbClr val="3D2200"/>
                </a:solidFill>
                <a:latin typeface="Yu Gothic" pitchFamily="34" charset="0"/>
                <a:ea typeface="Yu Gothic" pitchFamily="34" charset="-122"/>
                <a:cs typeface="Yu Gothic" pitchFamily="34" charset="-120"/>
              </a:rPr>
              <a:t> に収まる計算です。</a:t>
            </a:r>
            <a:endParaRPr lang="en-US" sz="1200" dirty="0"/>
          </a:p>
          <a:p>
            <a:pPr algn="l" indent="0" marL="0">
              <a:spcAft>
                <a:spcPts val="400"/>
              </a:spcAft>
              <a:buNone/>
            </a:pPr>
            <a:r>
              <a:rPr lang="en-US" sz="900" dirty="0">
                <a:solidFill>
                  <a:srgbClr val="6B5A47"/>
                </a:solidFill>
                <a:latin typeface="Yu Gothic" pitchFamily="34" charset="0"/>
                <a:ea typeface="Yu Gothic" pitchFamily="34" charset="-122"/>
                <a:cs typeface="Yu Gothic" pitchFamily="34" charset="-120"/>
              </a:rPr>
              <a:t>※ 船井総合研究所「住宅業界の広告費指標」参考</a:t>
            </a:r>
            <a:endParaRPr lang="en-US" sz="1200" dirty="0"/>
          </a:p>
        </p:txBody>
      </p:sp>
      <p:sp>
        <p:nvSpPr>
          <p:cNvPr id="27" name="Shape 25"/>
          <p:cNvSpPr/>
          <p:nvPr/>
        </p:nvSpPr>
        <p:spPr>
          <a:xfrm>
            <a:off x="365760" y="4823460"/>
            <a:ext cx="8412480" cy="0"/>
          </a:xfrm>
          <a:prstGeom prst="line">
            <a:avLst/>
          </a:prstGeom>
          <a:noFill/>
          <a:ln w="9525">
            <a:solidFill>
              <a:srgbClr val="EBDFD0"/>
            </a:solidFill>
            <a:prstDash val="solid"/>
          </a:ln>
        </p:spPr>
      </p:sp>
      <p:sp>
        <p:nvSpPr>
          <p:cNvPr id="28" name="Text 26"/>
          <p:cNvSpPr/>
          <p:nvPr/>
        </p:nvSpPr>
        <p:spPr>
          <a:xfrm>
            <a:off x="365760" y="4850892"/>
            <a:ext cx="4572000" cy="274320"/>
          </a:xfrm>
          <a:prstGeom prst="rect">
            <a:avLst/>
          </a:prstGeom>
          <a:noFill/>
          <a:ln/>
        </p:spPr>
        <p:txBody>
          <a:bodyPr wrap="square" lIns="0" tIns="0" rIns="0" bIns="0" rtlCol="0" anchor="ctr"/>
          <a:lstStyle/>
          <a:p>
            <a:pPr algn="l" indent="0" marL="0">
              <a:buNone/>
            </a:pPr>
            <a:r>
              <a:rPr lang="en-US" sz="900" dirty="0">
                <a:solidFill>
                  <a:srgbClr val="6B5A47"/>
                </a:solidFill>
                <a:latin typeface="Yu Gothic" pitchFamily="34" charset="0"/>
                <a:ea typeface="Yu Gothic" pitchFamily="34" charset="-122"/>
                <a:cs typeface="Yu Gothic" pitchFamily="34" charset="-120"/>
              </a:rPr>
              <a:t>ぺいほーむ ポータルサイト</a:t>
            </a:r>
            <a:endParaRPr lang="en-US" sz="900" dirty="0"/>
          </a:p>
        </p:txBody>
      </p:sp>
      <p:sp>
        <p:nvSpPr>
          <p:cNvPr id="29" name="Text 27"/>
          <p:cNvSpPr/>
          <p:nvPr/>
        </p:nvSpPr>
        <p:spPr>
          <a:xfrm>
            <a:off x="4206240" y="4850892"/>
            <a:ext cx="4572000" cy="274320"/>
          </a:xfrm>
          <a:prstGeom prst="rect">
            <a:avLst/>
          </a:prstGeom>
          <a:noFill/>
          <a:ln/>
        </p:spPr>
        <p:txBody>
          <a:bodyPr wrap="square" lIns="0" tIns="0" rIns="0" bIns="0" rtlCol="0" anchor="ctr"/>
          <a:lstStyle/>
          <a:p>
            <a:pPr algn="r" indent="0" marL="0">
              <a:buNone/>
            </a:pPr>
            <a:r>
              <a:rPr lang="en-US" sz="900" i="1" dirty="0">
                <a:solidFill>
                  <a:srgbClr val="6B5A47"/>
                </a:solidFill>
                <a:latin typeface="Yu Gothic" pitchFamily="34" charset="0"/>
                <a:ea typeface="Yu Gothic" pitchFamily="34" charset="-122"/>
                <a:cs typeface="Yu Gothic" pitchFamily="34" charset="-120"/>
              </a:rPr>
              <a:t>本気の出会いを、誠実に。</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8740C"/>
          </a:solidFill>
          <a:ln w="12700">
            <a:solidFill>
              <a:srgbClr val="E8740C"/>
            </a:solidFill>
            <a:prstDash val="solid"/>
          </a:ln>
        </p:spPr>
      </p:sp>
      <p:sp>
        <p:nvSpPr>
          <p:cNvPr id="3" name="Text 1"/>
          <p:cNvSpPr/>
          <p:nvPr/>
        </p:nvSpPr>
        <p:spPr>
          <a:xfrm>
            <a:off x="365760" y="182880"/>
            <a:ext cx="1097280" cy="274320"/>
          </a:xfrm>
          <a:prstGeom prst="rect">
            <a:avLst/>
          </a:prstGeom>
          <a:noFill/>
          <a:ln/>
        </p:spPr>
        <p:txBody>
          <a:bodyPr wrap="square" lIns="0" tIns="0" rIns="0" bIns="0" rtlCol="0" anchor="ctr"/>
          <a:lstStyle/>
          <a:p>
            <a:pPr algn="l" indent="0" marL="0">
              <a:buNone/>
            </a:pPr>
            <a:r>
              <a:rPr lang="en-US" sz="1000" b="1" dirty="0">
                <a:solidFill>
                  <a:srgbClr val="E8740C"/>
                </a:solidFill>
                <a:latin typeface="Yu Gothic" pitchFamily="34" charset="0"/>
                <a:ea typeface="Yu Gothic" pitchFamily="34" charset="-122"/>
                <a:cs typeface="Yu Gothic" pitchFamily="34" charset="-120"/>
              </a:rPr>
              <a:t>19 / 20</a:t>
            </a:r>
            <a:endParaRPr lang="en-US" sz="1000" dirty="0"/>
          </a:p>
        </p:txBody>
      </p:sp>
      <p:sp>
        <p:nvSpPr>
          <p:cNvPr id="4" name="Text 2"/>
          <p:cNvSpPr/>
          <p:nvPr/>
        </p:nvSpPr>
        <p:spPr>
          <a:xfrm>
            <a:off x="1554480" y="182880"/>
            <a:ext cx="7223760" cy="274320"/>
          </a:xfrm>
          <a:prstGeom prst="rect">
            <a:avLst/>
          </a:prstGeom>
          <a:noFill/>
          <a:ln/>
        </p:spPr>
        <p:txBody>
          <a:bodyPr wrap="square" lIns="0" tIns="0" rIns="0" bIns="0" rtlCol="0" anchor="ctr"/>
          <a:lstStyle/>
          <a:p>
            <a:pPr algn="r" indent="0" marL="0">
              <a:buNone/>
            </a:pPr>
            <a:r>
              <a:rPr lang="en-US" sz="1000" dirty="0">
                <a:solidFill>
                  <a:srgbClr val="6B5A47"/>
                </a:solidFill>
                <a:latin typeface="Yu Gothic" pitchFamily="34" charset="0"/>
                <a:ea typeface="Yu Gothic" pitchFamily="34" charset="-122"/>
                <a:cs typeface="Yu Gothic" pitchFamily="34" charset="-120"/>
              </a:rPr>
              <a:t>先行パートナー様へのお約束</a:t>
            </a:r>
            <a:endParaRPr lang="en-US" sz="1000" dirty="0"/>
          </a:p>
        </p:txBody>
      </p:sp>
      <p:sp>
        <p:nvSpPr>
          <p:cNvPr id="5" name="Shape 3"/>
          <p:cNvSpPr/>
          <p:nvPr/>
        </p:nvSpPr>
        <p:spPr>
          <a:xfrm>
            <a:off x="457200" y="685800"/>
            <a:ext cx="109728" cy="502920"/>
          </a:xfrm>
          <a:prstGeom prst="rect">
            <a:avLst/>
          </a:prstGeom>
          <a:solidFill>
            <a:srgbClr val="E8740C"/>
          </a:solidFill>
          <a:ln w="12700">
            <a:solidFill>
              <a:srgbClr val="E8740C"/>
            </a:solidFill>
            <a:prstDash val="solid"/>
          </a:ln>
        </p:spPr>
      </p:sp>
      <p:sp>
        <p:nvSpPr>
          <p:cNvPr id="6" name="Text 4"/>
          <p:cNvSpPr/>
          <p:nvPr/>
        </p:nvSpPr>
        <p:spPr>
          <a:xfrm>
            <a:off x="685800" y="640080"/>
            <a:ext cx="8229600" cy="594360"/>
          </a:xfrm>
          <a:prstGeom prst="rect">
            <a:avLst/>
          </a:prstGeom>
          <a:noFill/>
          <a:ln/>
        </p:spPr>
        <p:txBody>
          <a:bodyPr wrap="square" lIns="0" tIns="0" rIns="0" bIns="0" rtlCol="0" anchor="ctr"/>
          <a:lstStyle/>
          <a:p>
            <a:pPr algn="l" indent="0" marL="0">
              <a:buNone/>
            </a:pPr>
            <a:r>
              <a:rPr lang="en-US" sz="2600" b="1" dirty="0">
                <a:solidFill>
                  <a:srgbClr val="2A1700"/>
                </a:solidFill>
                <a:latin typeface="Yu Gothic" pitchFamily="34" charset="0"/>
                <a:ea typeface="Yu Gothic" pitchFamily="34" charset="-122"/>
                <a:cs typeface="Yu Gothic" pitchFamily="34" charset="-120"/>
              </a:rPr>
              <a:t>「最初に信じてくださった方」を、常に優遇し続けます</a:t>
            </a:r>
            <a:endParaRPr lang="en-US" sz="2600" dirty="0"/>
          </a:p>
        </p:txBody>
      </p:sp>
      <p:sp>
        <p:nvSpPr>
          <p:cNvPr id="7" name="Text 5"/>
          <p:cNvSpPr/>
          <p:nvPr/>
        </p:nvSpPr>
        <p:spPr>
          <a:xfrm>
            <a:off x="685800" y="1207008"/>
            <a:ext cx="8229600" cy="274320"/>
          </a:xfrm>
          <a:prstGeom prst="rect">
            <a:avLst/>
          </a:prstGeom>
          <a:noFill/>
          <a:ln/>
        </p:spPr>
        <p:txBody>
          <a:bodyPr wrap="square" lIns="0" tIns="0" rIns="0" bIns="0" rtlCol="0" anchor="ctr"/>
          <a:lstStyle/>
          <a:p>
            <a:pPr algn="l" indent="0" marL="0">
              <a:buNone/>
            </a:pPr>
            <a:r>
              <a:rPr lang="en-US" sz="1200" dirty="0">
                <a:solidFill>
                  <a:srgbClr val="6B5A47"/>
                </a:solidFill>
                <a:latin typeface="Yu Gothic" pitchFamily="34" charset="0"/>
                <a:ea typeface="Yu Gothic" pitchFamily="34" charset="-122"/>
                <a:cs typeface="Yu Gothic" pitchFamily="34" charset="-120"/>
              </a:rPr>
              <a:t>5つのお約束を、書面で明記いたします</a:t>
            </a:r>
            <a:endParaRPr lang="en-US" sz="1200" dirty="0"/>
          </a:p>
        </p:txBody>
      </p:sp>
      <p:sp>
        <p:nvSpPr>
          <p:cNvPr id="8" name="Shape 6"/>
          <p:cNvSpPr/>
          <p:nvPr/>
        </p:nvSpPr>
        <p:spPr>
          <a:xfrm>
            <a:off x="457200" y="1737360"/>
            <a:ext cx="8229600" cy="502920"/>
          </a:xfrm>
          <a:prstGeom prst="rect">
            <a:avLst/>
          </a:prstGeom>
          <a:solidFill>
            <a:srgbClr val="FFF8F0"/>
          </a:solidFill>
          <a:ln w="12700">
            <a:solidFill>
              <a:srgbClr val="EBDFD0"/>
            </a:solidFill>
            <a:prstDash val="solid"/>
          </a:ln>
        </p:spPr>
      </p:sp>
      <p:sp>
        <p:nvSpPr>
          <p:cNvPr id="9" name="Shape 7"/>
          <p:cNvSpPr/>
          <p:nvPr/>
        </p:nvSpPr>
        <p:spPr>
          <a:xfrm>
            <a:off x="457200" y="1737360"/>
            <a:ext cx="640080" cy="502920"/>
          </a:xfrm>
          <a:prstGeom prst="rect">
            <a:avLst/>
          </a:prstGeom>
          <a:solidFill>
            <a:srgbClr val="E8740C"/>
          </a:solidFill>
          <a:ln w="12700">
            <a:solidFill>
              <a:srgbClr val="E8740C"/>
            </a:solidFill>
            <a:prstDash val="solid"/>
          </a:ln>
        </p:spPr>
      </p:sp>
      <p:sp>
        <p:nvSpPr>
          <p:cNvPr id="10" name="Text 8"/>
          <p:cNvSpPr/>
          <p:nvPr/>
        </p:nvSpPr>
        <p:spPr>
          <a:xfrm>
            <a:off x="457200" y="1737360"/>
            <a:ext cx="64008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2"/>
                <a:cs typeface="Yu Gothic" pitchFamily="34" charset="-120"/>
              </a:rPr>
              <a:t>01</a:t>
            </a:r>
            <a:endParaRPr lang="en-US" sz="1600" dirty="0"/>
          </a:p>
        </p:txBody>
      </p:sp>
      <p:sp>
        <p:nvSpPr>
          <p:cNvPr id="11" name="Text 9"/>
          <p:cNvSpPr/>
          <p:nvPr/>
        </p:nvSpPr>
        <p:spPr>
          <a:xfrm>
            <a:off x="1280160" y="1773936"/>
            <a:ext cx="3017520" cy="429768"/>
          </a:xfrm>
          <a:prstGeom prst="rect">
            <a:avLst/>
          </a:prstGeom>
          <a:noFill/>
          <a:ln/>
        </p:spPr>
        <p:txBody>
          <a:bodyPr wrap="square" lIns="0" tIns="0" rIns="0" bIns="0" rtlCol="0" anchor="ctr"/>
          <a:lstStyle/>
          <a:p>
            <a:pPr algn="l" indent="0" marL="0">
              <a:buNone/>
            </a:pPr>
            <a:r>
              <a:rPr lang="en-US" sz="1300" b="1" dirty="0">
                <a:solidFill>
                  <a:srgbClr val="2A1700"/>
                </a:solidFill>
                <a:latin typeface="Yu Gothic" pitchFamily="34" charset="0"/>
                <a:ea typeface="Yu Gothic" pitchFamily="34" charset="-122"/>
                <a:cs typeface="Yu Gothic" pitchFamily="34" charset="-120"/>
              </a:rPr>
              <a:t>常に通常より優遇された条件</a:t>
            </a:r>
            <a:endParaRPr lang="en-US" sz="1300" dirty="0"/>
          </a:p>
        </p:txBody>
      </p:sp>
      <p:sp>
        <p:nvSpPr>
          <p:cNvPr id="12" name="Text 10"/>
          <p:cNvSpPr/>
          <p:nvPr/>
        </p:nvSpPr>
        <p:spPr>
          <a:xfrm>
            <a:off x="4343400" y="1773936"/>
            <a:ext cx="4251960" cy="429768"/>
          </a:xfrm>
          <a:prstGeom prst="rect">
            <a:avLst/>
          </a:prstGeom>
          <a:noFill/>
          <a:ln/>
        </p:spPr>
        <p:txBody>
          <a:bodyPr wrap="square" lIns="0" tIns="0" rIns="0" bIns="0" rtlCol="0" anchor="ctr"/>
          <a:lstStyle/>
          <a:p>
            <a:pPr algn="l" indent="0" marL="0">
              <a:buNone/>
            </a:pPr>
            <a:r>
              <a:rPr lang="en-US" sz="1050" dirty="0">
                <a:solidFill>
                  <a:srgbClr val="3D2200"/>
                </a:solidFill>
                <a:latin typeface="Yu Gothic" pitchFamily="34" charset="0"/>
                <a:ea typeface="Yu Gothic" pitchFamily="34" charset="-122"/>
                <a:cs typeface="Yu Gothic" pitchFamily="34" charset="-120"/>
              </a:rPr>
              <a:t>どの段階でも新規契約の工務店様より必ず優遇された条件でご案内します（料金・オプション共に）</a:t>
            </a:r>
            <a:endParaRPr lang="en-US" sz="1050" dirty="0"/>
          </a:p>
        </p:txBody>
      </p:sp>
      <p:sp>
        <p:nvSpPr>
          <p:cNvPr id="13" name="Shape 11"/>
          <p:cNvSpPr/>
          <p:nvPr/>
        </p:nvSpPr>
        <p:spPr>
          <a:xfrm>
            <a:off x="457200" y="2331720"/>
            <a:ext cx="8229600" cy="502920"/>
          </a:xfrm>
          <a:prstGeom prst="rect">
            <a:avLst/>
          </a:prstGeom>
          <a:solidFill>
            <a:srgbClr val="FFF8F0"/>
          </a:solidFill>
          <a:ln w="12700">
            <a:solidFill>
              <a:srgbClr val="EBDFD0"/>
            </a:solidFill>
            <a:prstDash val="solid"/>
          </a:ln>
        </p:spPr>
      </p:sp>
      <p:sp>
        <p:nvSpPr>
          <p:cNvPr id="14" name="Shape 12"/>
          <p:cNvSpPr/>
          <p:nvPr/>
        </p:nvSpPr>
        <p:spPr>
          <a:xfrm>
            <a:off x="457200" y="2331720"/>
            <a:ext cx="640080" cy="502920"/>
          </a:xfrm>
          <a:prstGeom prst="rect">
            <a:avLst/>
          </a:prstGeom>
          <a:solidFill>
            <a:srgbClr val="E8740C"/>
          </a:solidFill>
          <a:ln w="12700">
            <a:solidFill>
              <a:srgbClr val="E8740C"/>
            </a:solidFill>
            <a:prstDash val="solid"/>
          </a:ln>
        </p:spPr>
      </p:sp>
      <p:sp>
        <p:nvSpPr>
          <p:cNvPr id="15" name="Text 13"/>
          <p:cNvSpPr/>
          <p:nvPr/>
        </p:nvSpPr>
        <p:spPr>
          <a:xfrm>
            <a:off x="457200" y="2331720"/>
            <a:ext cx="64008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2"/>
                <a:cs typeface="Yu Gothic" pitchFamily="34" charset="-120"/>
              </a:rPr>
              <a:t>02</a:t>
            </a:r>
            <a:endParaRPr lang="en-US" sz="1600" dirty="0"/>
          </a:p>
        </p:txBody>
      </p:sp>
      <p:sp>
        <p:nvSpPr>
          <p:cNvPr id="16" name="Text 14"/>
          <p:cNvSpPr/>
          <p:nvPr/>
        </p:nvSpPr>
        <p:spPr>
          <a:xfrm>
            <a:off x="1280160" y="2368296"/>
            <a:ext cx="3017520" cy="429768"/>
          </a:xfrm>
          <a:prstGeom prst="rect">
            <a:avLst/>
          </a:prstGeom>
          <a:noFill/>
          <a:ln/>
        </p:spPr>
        <p:txBody>
          <a:bodyPr wrap="square" lIns="0" tIns="0" rIns="0" bIns="0" rtlCol="0" anchor="ctr"/>
          <a:lstStyle/>
          <a:p>
            <a:pPr algn="l" indent="0" marL="0">
              <a:buNone/>
            </a:pPr>
            <a:r>
              <a:rPr lang="en-US" sz="1300" b="1" dirty="0">
                <a:solidFill>
                  <a:srgbClr val="2A1700"/>
                </a:solidFill>
                <a:latin typeface="Yu Gothic" pitchFamily="34" charset="0"/>
                <a:ea typeface="Yu Gothic" pitchFamily="34" charset="-122"/>
                <a:cs typeface="Yu Gothic" pitchFamily="34" charset="-120"/>
              </a:rPr>
              <a:t>移行は任意・強制なし</a:t>
            </a:r>
            <a:endParaRPr lang="en-US" sz="1300" dirty="0"/>
          </a:p>
        </p:txBody>
      </p:sp>
      <p:sp>
        <p:nvSpPr>
          <p:cNvPr id="17" name="Text 15"/>
          <p:cNvSpPr/>
          <p:nvPr/>
        </p:nvSpPr>
        <p:spPr>
          <a:xfrm>
            <a:off x="4343400" y="2368296"/>
            <a:ext cx="4251960" cy="429768"/>
          </a:xfrm>
          <a:prstGeom prst="rect">
            <a:avLst/>
          </a:prstGeom>
          <a:noFill/>
          <a:ln/>
        </p:spPr>
        <p:txBody>
          <a:bodyPr wrap="square" lIns="0" tIns="0" rIns="0" bIns="0" rtlCol="0" anchor="ctr"/>
          <a:lstStyle/>
          <a:p>
            <a:pPr algn="l" indent="0" marL="0">
              <a:buNone/>
            </a:pPr>
            <a:r>
              <a:rPr lang="en-US" sz="1050" dirty="0">
                <a:solidFill>
                  <a:srgbClr val="3D2200"/>
                </a:solidFill>
                <a:latin typeface="Yu Gothic" pitchFamily="34" charset="0"/>
                <a:ea typeface="Yu Gothic" pitchFamily="34" charset="-122"/>
                <a:cs typeface="Yu Gothic" pitchFamily="34" charset="-120"/>
              </a:rPr>
              <a:t>成果を見ながら新プランに移行するか選択可能。現条件での継続もいつでも選べます</a:t>
            </a:r>
            <a:endParaRPr lang="en-US" sz="1050" dirty="0"/>
          </a:p>
        </p:txBody>
      </p:sp>
      <p:sp>
        <p:nvSpPr>
          <p:cNvPr id="18" name="Shape 16"/>
          <p:cNvSpPr/>
          <p:nvPr/>
        </p:nvSpPr>
        <p:spPr>
          <a:xfrm>
            <a:off x="457200" y="2926080"/>
            <a:ext cx="8229600" cy="502920"/>
          </a:xfrm>
          <a:prstGeom prst="rect">
            <a:avLst/>
          </a:prstGeom>
          <a:solidFill>
            <a:srgbClr val="FFF8F0"/>
          </a:solidFill>
          <a:ln w="12700">
            <a:solidFill>
              <a:srgbClr val="EBDFD0"/>
            </a:solidFill>
            <a:prstDash val="solid"/>
          </a:ln>
        </p:spPr>
      </p:sp>
      <p:sp>
        <p:nvSpPr>
          <p:cNvPr id="19" name="Shape 17"/>
          <p:cNvSpPr/>
          <p:nvPr/>
        </p:nvSpPr>
        <p:spPr>
          <a:xfrm>
            <a:off x="457200" y="2926080"/>
            <a:ext cx="640080" cy="502920"/>
          </a:xfrm>
          <a:prstGeom prst="rect">
            <a:avLst/>
          </a:prstGeom>
          <a:solidFill>
            <a:srgbClr val="E8740C"/>
          </a:solidFill>
          <a:ln w="12700">
            <a:solidFill>
              <a:srgbClr val="E8740C"/>
            </a:solidFill>
            <a:prstDash val="solid"/>
          </a:ln>
        </p:spPr>
      </p:sp>
      <p:sp>
        <p:nvSpPr>
          <p:cNvPr id="20" name="Text 18"/>
          <p:cNvSpPr/>
          <p:nvPr/>
        </p:nvSpPr>
        <p:spPr>
          <a:xfrm>
            <a:off x="457200" y="2926080"/>
            <a:ext cx="64008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2"/>
                <a:cs typeface="Yu Gothic" pitchFamily="34" charset="-120"/>
              </a:rPr>
              <a:t>03</a:t>
            </a:r>
            <a:endParaRPr lang="en-US" sz="1600" dirty="0"/>
          </a:p>
        </p:txBody>
      </p:sp>
      <p:sp>
        <p:nvSpPr>
          <p:cNvPr id="21" name="Text 19"/>
          <p:cNvSpPr/>
          <p:nvPr/>
        </p:nvSpPr>
        <p:spPr>
          <a:xfrm>
            <a:off x="1280160" y="2962656"/>
            <a:ext cx="3017520" cy="429768"/>
          </a:xfrm>
          <a:prstGeom prst="rect">
            <a:avLst/>
          </a:prstGeom>
          <a:noFill/>
          <a:ln/>
        </p:spPr>
        <p:txBody>
          <a:bodyPr wrap="square" lIns="0" tIns="0" rIns="0" bIns="0" rtlCol="0" anchor="ctr"/>
          <a:lstStyle/>
          <a:p>
            <a:pPr algn="l" indent="0" marL="0">
              <a:buNone/>
            </a:pPr>
            <a:r>
              <a:rPr lang="en-US" sz="1300" b="1" dirty="0">
                <a:solidFill>
                  <a:srgbClr val="2A1700"/>
                </a:solidFill>
                <a:latin typeface="Yu Gothic" pitchFamily="34" charset="0"/>
                <a:ea typeface="Yu Gothic" pitchFamily="34" charset="-122"/>
                <a:cs typeface="Yu Gothic" pitchFamily="34" charset="-120"/>
              </a:rPr>
              <a:t>コンテンツ制作の優先対応</a:t>
            </a:r>
            <a:endParaRPr lang="en-US" sz="1300" dirty="0"/>
          </a:p>
        </p:txBody>
      </p:sp>
      <p:sp>
        <p:nvSpPr>
          <p:cNvPr id="22" name="Text 20"/>
          <p:cNvSpPr/>
          <p:nvPr/>
        </p:nvSpPr>
        <p:spPr>
          <a:xfrm>
            <a:off x="4343400" y="2962656"/>
            <a:ext cx="4251960" cy="429768"/>
          </a:xfrm>
          <a:prstGeom prst="rect">
            <a:avLst/>
          </a:prstGeom>
          <a:noFill/>
          <a:ln/>
        </p:spPr>
        <p:txBody>
          <a:bodyPr wrap="square" lIns="0" tIns="0" rIns="0" bIns="0" rtlCol="0" anchor="ctr"/>
          <a:lstStyle/>
          <a:p>
            <a:pPr algn="l" indent="0" marL="0">
              <a:buNone/>
            </a:pPr>
            <a:r>
              <a:rPr lang="en-US" sz="1050" dirty="0">
                <a:solidFill>
                  <a:srgbClr val="3D2200"/>
                </a:solidFill>
                <a:latin typeface="Yu Gothic" pitchFamily="34" charset="0"/>
                <a:ea typeface="Yu Gothic" pitchFamily="34" charset="-122"/>
                <a:cs typeface="Yu Gothic" pitchFamily="34" charset="-120"/>
              </a:rPr>
              <a:t>動画追加制作や取材記事のご依頼は、先行10社様を常に優先してお受けします</a:t>
            </a:r>
            <a:endParaRPr lang="en-US" sz="1050" dirty="0"/>
          </a:p>
        </p:txBody>
      </p:sp>
      <p:sp>
        <p:nvSpPr>
          <p:cNvPr id="23" name="Shape 21"/>
          <p:cNvSpPr/>
          <p:nvPr/>
        </p:nvSpPr>
        <p:spPr>
          <a:xfrm>
            <a:off x="457200" y="3520440"/>
            <a:ext cx="8229600" cy="502920"/>
          </a:xfrm>
          <a:prstGeom prst="rect">
            <a:avLst/>
          </a:prstGeom>
          <a:solidFill>
            <a:srgbClr val="FFF8F0"/>
          </a:solidFill>
          <a:ln w="12700">
            <a:solidFill>
              <a:srgbClr val="EBDFD0"/>
            </a:solidFill>
            <a:prstDash val="solid"/>
          </a:ln>
        </p:spPr>
      </p:sp>
      <p:sp>
        <p:nvSpPr>
          <p:cNvPr id="24" name="Shape 22"/>
          <p:cNvSpPr/>
          <p:nvPr/>
        </p:nvSpPr>
        <p:spPr>
          <a:xfrm>
            <a:off x="457200" y="3520440"/>
            <a:ext cx="640080" cy="502920"/>
          </a:xfrm>
          <a:prstGeom prst="rect">
            <a:avLst/>
          </a:prstGeom>
          <a:solidFill>
            <a:srgbClr val="E8740C"/>
          </a:solidFill>
          <a:ln w="12700">
            <a:solidFill>
              <a:srgbClr val="E8740C"/>
            </a:solidFill>
            <a:prstDash val="solid"/>
          </a:ln>
        </p:spPr>
      </p:sp>
      <p:sp>
        <p:nvSpPr>
          <p:cNvPr id="25" name="Text 23"/>
          <p:cNvSpPr/>
          <p:nvPr/>
        </p:nvSpPr>
        <p:spPr>
          <a:xfrm>
            <a:off x="457200" y="3520440"/>
            <a:ext cx="64008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2"/>
                <a:cs typeface="Yu Gothic" pitchFamily="34" charset="-120"/>
              </a:rPr>
              <a:t>04</a:t>
            </a:r>
            <a:endParaRPr lang="en-US" sz="1600" dirty="0"/>
          </a:p>
        </p:txBody>
      </p:sp>
      <p:sp>
        <p:nvSpPr>
          <p:cNvPr id="26" name="Text 24"/>
          <p:cNvSpPr/>
          <p:nvPr/>
        </p:nvSpPr>
        <p:spPr>
          <a:xfrm>
            <a:off x="1280160" y="3557016"/>
            <a:ext cx="3017520" cy="429768"/>
          </a:xfrm>
          <a:prstGeom prst="rect">
            <a:avLst/>
          </a:prstGeom>
          <a:noFill/>
          <a:ln/>
        </p:spPr>
        <p:txBody>
          <a:bodyPr wrap="square" lIns="0" tIns="0" rIns="0" bIns="0" rtlCol="0" anchor="ctr"/>
          <a:lstStyle/>
          <a:p>
            <a:pPr algn="l" indent="0" marL="0">
              <a:buNone/>
            </a:pPr>
            <a:r>
              <a:rPr lang="en-US" sz="1300" b="1" dirty="0">
                <a:solidFill>
                  <a:srgbClr val="2A1700"/>
                </a:solidFill>
                <a:latin typeface="Yu Gothic" pitchFamily="34" charset="0"/>
                <a:ea typeface="Yu Gothic" pitchFamily="34" charset="-122"/>
                <a:cs typeface="Yu Gothic" pitchFamily="34" charset="-120"/>
              </a:rPr>
              <a:t>全国展開時の創業メンバー待遇</a:t>
            </a:r>
            <a:endParaRPr lang="en-US" sz="1300" dirty="0"/>
          </a:p>
        </p:txBody>
      </p:sp>
      <p:sp>
        <p:nvSpPr>
          <p:cNvPr id="27" name="Text 25"/>
          <p:cNvSpPr/>
          <p:nvPr/>
        </p:nvSpPr>
        <p:spPr>
          <a:xfrm>
            <a:off x="4343400" y="3557016"/>
            <a:ext cx="4251960" cy="429768"/>
          </a:xfrm>
          <a:prstGeom prst="rect">
            <a:avLst/>
          </a:prstGeom>
          <a:noFill/>
          <a:ln/>
        </p:spPr>
        <p:txBody>
          <a:bodyPr wrap="square" lIns="0" tIns="0" rIns="0" bIns="0" rtlCol="0" anchor="ctr"/>
          <a:lstStyle/>
          <a:p>
            <a:pPr algn="l" indent="0" marL="0">
              <a:buNone/>
            </a:pPr>
            <a:r>
              <a:rPr lang="en-US" sz="1050" dirty="0">
                <a:solidFill>
                  <a:srgbClr val="3D2200"/>
                </a:solidFill>
                <a:latin typeface="Yu Gothic" pitchFamily="34" charset="0"/>
                <a:ea typeface="Yu Gothic" pitchFamily="34" charset="-122"/>
                <a:cs typeface="Yu Gothic" pitchFamily="34" charset="-120"/>
              </a:rPr>
              <a:t>ぺいほーむが全国展開する際、創業メンバーとして特別にご紹介させていただきます</a:t>
            </a:r>
            <a:endParaRPr lang="en-US" sz="1050" dirty="0"/>
          </a:p>
        </p:txBody>
      </p:sp>
      <p:sp>
        <p:nvSpPr>
          <p:cNvPr id="28" name="Shape 26"/>
          <p:cNvSpPr/>
          <p:nvPr/>
        </p:nvSpPr>
        <p:spPr>
          <a:xfrm>
            <a:off x="457200" y="4114800"/>
            <a:ext cx="8229600" cy="502920"/>
          </a:xfrm>
          <a:prstGeom prst="rect">
            <a:avLst/>
          </a:prstGeom>
          <a:solidFill>
            <a:srgbClr val="FFF8F0"/>
          </a:solidFill>
          <a:ln w="12700">
            <a:solidFill>
              <a:srgbClr val="EBDFD0"/>
            </a:solidFill>
            <a:prstDash val="solid"/>
          </a:ln>
        </p:spPr>
      </p:sp>
      <p:sp>
        <p:nvSpPr>
          <p:cNvPr id="29" name="Shape 27"/>
          <p:cNvSpPr/>
          <p:nvPr/>
        </p:nvSpPr>
        <p:spPr>
          <a:xfrm>
            <a:off x="457200" y="4114800"/>
            <a:ext cx="640080" cy="502920"/>
          </a:xfrm>
          <a:prstGeom prst="rect">
            <a:avLst/>
          </a:prstGeom>
          <a:solidFill>
            <a:srgbClr val="E8740C"/>
          </a:solidFill>
          <a:ln w="12700">
            <a:solidFill>
              <a:srgbClr val="E8740C"/>
            </a:solidFill>
            <a:prstDash val="solid"/>
          </a:ln>
        </p:spPr>
      </p:sp>
      <p:sp>
        <p:nvSpPr>
          <p:cNvPr id="30" name="Text 28"/>
          <p:cNvSpPr/>
          <p:nvPr/>
        </p:nvSpPr>
        <p:spPr>
          <a:xfrm>
            <a:off x="457200" y="4114800"/>
            <a:ext cx="64008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2"/>
                <a:cs typeface="Yu Gothic" pitchFamily="34" charset="-120"/>
              </a:rPr>
              <a:t>05</a:t>
            </a:r>
            <a:endParaRPr lang="en-US" sz="1600" dirty="0"/>
          </a:p>
        </p:txBody>
      </p:sp>
      <p:sp>
        <p:nvSpPr>
          <p:cNvPr id="31" name="Text 29"/>
          <p:cNvSpPr/>
          <p:nvPr/>
        </p:nvSpPr>
        <p:spPr>
          <a:xfrm>
            <a:off x="1280160" y="4151376"/>
            <a:ext cx="3017520" cy="429768"/>
          </a:xfrm>
          <a:prstGeom prst="rect">
            <a:avLst/>
          </a:prstGeom>
          <a:noFill/>
          <a:ln/>
        </p:spPr>
        <p:txBody>
          <a:bodyPr wrap="square" lIns="0" tIns="0" rIns="0" bIns="0" rtlCol="0" anchor="ctr"/>
          <a:lstStyle/>
          <a:p>
            <a:pPr algn="l" indent="0" marL="0">
              <a:buNone/>
            </a:pPr>
            <a:r>
              <a:rPr lang="en-US" sz="1300" b="1" dirty="0">
                <a:solidFill>
                  <a:srgbClr val="2A1700"/>
                </a:solidFill>
                <a:latin typeface="Yu Gothic" pitchFamily="34" charset="0"/>
                <a:ea typeface="Yu Gothic" pitchFamily="34" charset="-122"/>
                <a:cs typeface="Yu Gothic" pitchFamily="34" charset="-120"/>
              </a:rPr>
              <a:t>すべて書面で明記</a:t>
            </a:r>
            <a:endParaRPr lang="en-US" sz="1300" dirty="0"/>
          </a:p>
        </p:txBody>
      </p:sp>
      <p:sp>
        <p:nvSpPr>
          <p:cNvPr id="32" name="Text 30"/>
          <p:cNvSpPr/>
          <p:nvPr/>
        </p:nvSpPr>
        <p:spPr>
          <a:xfrm>
            <a:off x="4343400" y="4151376"/>
            <a:ext cx="4251960" cy="429768"/>
          </a:xfrm>
          <a:prstGeom prst="rect">
            <a:avLst/>
          </a:prstGeom>
          <a:noFill/>
          <a:ln/>
        </p:spPr>
        <p:txBody>
          <a:bodyPr wrap="square" lIns="0" tIns="0" rIns="0" bIns="0" rtlCol="0" anchor="ctr"/>
          <a:lstStyle/>
          <a:p>
            <a:pPr algn="l" indent="0" marL="0">
              <a:buNone/>
            </a:pPr>
            <a:r>
              <a:rPr lang="en-US" sz="1050" dirty="0">
                <a:solidFill>
                  <a:srgbClr val="3D2200"/>
                </a:solidFill>
                <a:latin typeface="Yu Gothic" pitchFamily="34" charset="0"/>
                <a:ea typeface="Yu Gothic" pitchFamily="34" charset="-122"/>
                <a:cs typeface="Yu Gothic" pitchFamily="34" charset="-120"/>
              </a:rPr>
              <a:t>これらのお約束は契約書に明記し、法的に守られます。経営陣が変わっても引き継がれます</a:t>
            </a:r>
            <a:endParaRPr lang="en-US" sz="1050" dirty="0"/>
          </a:p>
        </p:txBody>
      </p:sp>
      <p:sp>
        <p:nvSpPr>
          <p:cNvPr id="33" name="Shape 31"/>
          <p:cNvSpPr/>
          <p:nvPr/>
        </p:nvSpPr>
        <p:spPr>
          <a:xfrm>
            <a:off x="365760" y="4823460"/>
            <a:ext cx="8412480" cy="0"/>
          </a:xfrm>
          <a:prstGeom prst="line">
            <a:avLst/>
          </a:prstGeom>
          <a:noFill/>
          <a:ln w="9525">
            <a:solidFill>
              <a:srgbClr val="EBDFD0"/>
            </a:solidFill>
            <a:prstDash val="solid"/>
          </a:ln>
        </p:spPr>
      </p:sp>
      <p:sp>
        <p:nvSpPr>
          <p:cNvPr id="34" name="Text 32"/>
          <p:cNvSpPr/>
          <p:nvPr/>
        </p:nvSpPr>
        <p:spPr>
          <a:xfrm>
            <a:off x="365760" y="4850892"/>
            <a:ext cx="4572000" cy="274320"/>
          </a:xfrm>
          <a:prstGeom prst="rect">
            <a:avLst/>
          </a:prstGeom>
          <a:noFill/>
          <a:ln/>
        </p:spPr>
        <p:txBody>
          <a:bodyPr wrap="square" lIns="0" tIns="0" rIns="0" bIns="0" rtlCol="0" anchor="ctr"/>
          <a:lstStyle/>
          <a:p>
            <a:pPr algn="l" indent="0" marL="0">
              <a:buNone/>
            </a:pPr>
            <a:r>
              <a:rPr lang="en-US" sz="900" dirty="0">
                <a:solidFill>
                  <a:srgbClr val="6B5A47"/>
                </a:solidFill>
                <a:latin typeface="Yu Gothic" pitchFamily="34" charset="0"/>
                <a:ea typeface="Yu Gothic" pitchFamily="34" charset="-122"/>
                <a:cs typeface="Yu Gothic" pitchFamily="34" charset="-120"/>
              </a:rPr>
              <a:t>ぺいほーむ ポータルサイト</a:t>
            </a:r>
            <a:endParaRPr lang="en-US" sz="900" dirty="0"/>
          </a:p>
        </p:txBody>
      </p:sp>
      <p:sp>
        <p:nvSpPr>
          <p:cNvPr id="35" name="Text 33"/>
          <p:cNvSpPr/>
          <p:nvPr/>
        </p:nvSpPr>
        <p:spPr>
          <a:xfrm>
            <a:off x="4206240" y="4850892"/>
            <a:ext cx="4572000" cy="274320"/>
          </a:xfrm>
          <a:prstGeom prst="rect">
            <a:avLst/>
          </a:prstGeom>
          <a:noFill/>
          <a:ln/>
        </p:spPr>
        <p:txBody>
          <a:bodyPr wrap="square" lIns="0" tIns="0" rIns="0" bIns="0" rtlCol="0" anchor="ctr"/>
          <a:lstStyle/>
          <a:p>
            <a:pPr algn="r" indent="0" marL="0">
              <a:buNone/>
            </a:pPr>
            <a:r>
              <a:rPr lang="en-US" sz="900" i="1" dirty="0">
                <a:solidFill>
                  <a:srgbClr val="6B5A47"/>
                </a:solidFill>
                <a:latin typeface="Yu Gothic" pitchFamily="34" charset="0"/>
                <a:ea typeface="Yu Gothic" pitchFamily="34" charset="-122"/>
                <a:cs typeface="Yu Gothic" pitchFamily="34" charset="-120"/>
              </a:rPr>
              <a:t>本気の出会いを、誠実に。</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8740C"/>
          </a:solidFill>
          <a:ln w="12700">
            <a:solidFill>
              <a:srgbClr val="E8740C"/>
            </a:solidFill>
            <a:prstDash val="solid"/>
          </a:ln>
        </p:spPr>
      </p:sp>
      <p:sp>
        <p:nvSpPr>
          <p:cNvPr id="3" name="Text 1"/>
          <p:cNvSpPr/>
          <p:nvPr/>
        </p:nvSpPr>
        <p:spPr>
          <a:xfrm>
            <a:off x="365760" y="182880"/>
            <a:ext cx="1097280" cy="274320"/>
          </a:xfrm>
          <a:prstGeom prst="rect">
            <a:avLst/>
          </a:prstGeom>
          <a:noFill/>
          <a:ln/>
        </p:spPr>
        <p:txBody>
          <a:bodyPr wrap="square" lIns="0" tIns="0" rIns="0" bIns="0" rtlCol="0" anchor="ctr"/>
          <a:lstStyle/>
          <a:p>
            <a:pPr algn="l" indent="0" marL="0">
              <a:buNone/>
            </a:pPr>
            <a:r>
              <a:rPr lang="en-US" sz="1000" b="1" dirty="0">
                <a:solidFill>
                  <a:srgbClr val="E8740C"/>
                </a:solidFill>
                <a:latin typeface="Yu Gothic" pitchFamily="34" charset="0"/>
                <a:ea typeface="Yu Gothic" pitchFamily="34" charset="-122"/>
                <a:cs typeface="Yu Gothic" pitchFamily="34" charset="-120"/>
              </a:rPr>
              <a:t>20 / 20</a:t>
            </a:r>
            <a:endParaRPr lang="en-US" sz="1000" dirty="0"/>
          </a:p>
        </p:txBody>
      </p:sp>
      <p:sp>
        <p:nvSpPr>
          <p:cNvPr id="4" name="Text 2"/>
          <p:cNvSpPr/>
          <p:nvPr/>
        </p:nvSpPr>
        <p:spPr>
          <a:xfrm>
            <a:off x="1554480" y="182880"/>
            <a:ext cx="7223760" cy="274320"/>
          </a:xfrm>
          <a:prstGeom prst="rect">
            <a:avLst/>
          </a:prstGeom>
          <a:noFill/>
          <a:ln/>
        </p:spPr>
        <p:txBody>
          <a:bodyPr wrap="square" lIns="0" tIns="0" rIns="0" bIns="0" rtlCol="0" anchor="ctr"/>
          <a:lstStyle/>
          <a:p>
            <a:pPr algn="r" indent="0" marL="0">
              <a:buNone/>
            </a:pPr>
            <a:r>
              <a:rPr lang="en-US" sz="1000" dirty="0">
                <a:solidFill>
                  <a:srgbClr val="6B5A47"/>
                </a:solidFill>
                <a:latin typeface="Yu Gothic" pitchFamily="34" charset="0"/>
                <a:ea typeface="Yu Gothic" pitchFamily="34" charset="-122"/>
                <a:cs typeface="Yu Gothic" pitchFamily="34" charset="-120"/>
              </a:rPr>
              <a:t>これからのぺいほーむ・導入までの流れ</a:t>
            </a:r>
            <a:endParaRPr lang="en-US" sz="1000" dirty="0"/>
          </a:p>
        </p:txBody>
      </p:sp>
      <p:sp>
        <p:nvSpPr>
          <p:cNvPr id="5" name="Shape 3"/>
          <p:cNvSpPr/>
          <p:nvPr/>
        </p:nvSpPr>
        <p:spPr>
          <a:xfrm>
            <a:off x="457200" y="685800"/>
            <a:ext cx="109728" cy="502920"/>
          </a:xfrm>
          <a:prstGeom prst="rect">
            <a:avLst/>
          </a:prstGeom>
          <a:solidFill>
            <a:srgbClr val="E8740C"/>
          </a:solidFill>
          <a:ln w="12700">
            <a:solidFill>
              <a:srgbClr val="E8740C"/>
            </a:solidFill>
            <a:prstDash val="solid"/>
          </a:ln>
        </p:spPr>
      </p:sp>
      <p:sp>
        <p:nvSpPr>
          <p:cNvPr id="6" name="Text 4"/>
          <p:cNvSpPr/>
          <p:nvPr/>
        </p:nvSpPr>
        <p:spPr>
          <a:xfrm>
            <a:off x="685800" y="640080"/>
            <a:ext cx="8229600" cy="594360"/>
          </a:xfrm>
          <a:prstGeom prst="rect">
            <a:avLst/>
          </a:prstGeom>
          <a:noFill/>
          <a:ln/>
        </p:spPr>
        <p:txBody>
          <a:bodyPr wrap="square" lIns="0" tIns="0" rIns="0" bIns="0" rtlCol="0" anchor="ctr"/>
          <a:lstStyle/>
          <a:p>
            <a:pPr algn="l" indent="0" marL="0">
              <a:buNone/>
            </a:pPr>
            <a:r>
              <a:rPr lang="en-US" sz="2600" b="1" dirty="0">
                <a:solidFill>
                  <a:srgbClr val="2A1700"/>
                </a:solidFill>
                <a:latin typeface="Yu Gothic" pitchFamily="34" charset="0"/>
                <a:ea typeface="Yu Gothic" pitchFamily="34" charset="-122"/>
                <a:cs typeface="Yu Gothic" pitchFamily="34" charset="-120"/>
              </a:rPr>
              <a:t>共に歩んでいただけますでしょうか</a:t>
            </a:r>
            <a:endParaRPr lang="en-US" sz="2600" dirty="0"/>
          </a:p>
        </p:txBody>
      </p:sp>
      <p:sp>
        <p:nvSpPr>
          <p:cNvPr id="7" name="Text 5"/>
          <p:cNvSpPr/>
          <p:nvPr/>
        </p:nvSpPr>
        <p:spPr>
          <a:xfrm>
            <a:off x="685800" y="1207008"/>
            <a:ext cx="8229600" cy="274320"/>
          </a:xfrm>
          <a:prstGeom prst="rect">
            <a:avLst/>
          </a:prstGeom>
          <a:noFill/>
          <a:ln/>
        </p:spPr>
        <p:txBody>
          <a:bodyPr wrap="square" lIns="0" tIns="0" rIns="0" bIns="0" rtlCol="0" anchor="ctr"/>
          <a:lstStyle/>
          <a:p>
            <a:pPr algn="l" indent="0" marL="0">
              <a:buNone/>
            </a:pPr>
            <a:r>
              <a:rPr lang="en-US" sz="1200" dirty="0">
                <a:solidFill>
                  <a:srgbClr val="6B5A47"/>
                </a:solidFill>
                <a:latin typeface="Yu Gothic" pitchFamily="34" charset="0"/>
                <a:ea typeface="Yu Gothic" pitchFamily="34" charset="-122"/>
                <a:cs typeface="Yu Gothic" pitchFamily="34" charset="-120"/>
              </a:rPr>
              <a:t>3年ロードマップとご導入までの4ステップ</a:t>
            </a:r>
            <a:endParaRPr lang="en-US" sz="1200" dirty="0"/>
          </a:p>
        </p:txBody>
      </p:sp>
      <p:sp>
        <p:nvSpPr>
          <p:cNvPr id="8" name="Text 6"/>
          <p:cNvSpPr/>
          <p:nvPr/>
        </p:nvSpPr>
        <p:spPr>
          <a:xfrm>
            <a:off x="457200" y="1691640"/>
            <a:ext cx="4114800" cy="320040"/>
          </a:xfrm>
          <a:prstGeom prst="rect">
            <a:avLst/>
          </a:prstGeom>
          <a:noFill/>
          <a:ln/>
        </p:spPr>
        <p:txBody>
          <a:bodyPr wrap="square" lIns="0" tIns="0" rIns="0" bIns="0" rtlCol="0" anchor="ctr"/>
          <a:lstStyle/>
          <a:p>
            <a:pPr algn="l" indent="0" marL="0">
              <a:buNone/>
            </a:pPr>
            <a:r>
              <a:rPr lang="en-US" sz="1200" b="1" spc="200" kern="0" dirty="0">
                <a:solidFill>
                  <a:srgbClr val="E8740C"/>
                </a:solidFill>
                <a:latin typeface="Yu Gothic" pitchFamily="34" charset="0"/>
                <a:ea typeface="Yu Gothic" pitchFamily="34" charset="-122"/>
                <a:cs typeface="Yu Gothic" pitchFamily="34" charset="-120"/>
              </a:rPr>
              <a:t>3年ロードマップ</a:t>
            </a:r>
            <a:endParaRPr lang="en-US" sz="1200" dirty="0"/>
          </a:p>
        </p:txBody>
      </p:sp>
      <p:sp>
        <p:nvSpPr>
          <p:cNvPr id="9" name="Shape 7"/>
          <p:cNvSpPr/>
          <p:nvPr/>
        </p:nvSpPr>
        <p:spPr>
          <a:xfrm>
            <a:off x="457200" y="2011680"/>
            <a:ext cx="4114800" cy="0"/>
          </a:xfrm>
          <a:prstGeom prst="line">
            <a:avLst/>
          </a:prstGeom>
          <a:noFill/>
          <a:ln w="25400">
            <a:solidFill>
              <a:srgbClr val="E8740C"/>
            </a:solidFill>
            <a:prstDash val="solid"/>
          </a:ln>
        </p:spPr>
      </p:sp>
      <p:sp>
        <p:nvSpPr>
          <p:cNvPr id="10" name="Shape 8"/>
          <p:cNvSpPr/>
          <p:nvPr/>
        </p:nvSpPr>
        <p:spPr>
          <a:xfrm>
            <a:off x="457200" y="2148840"/>
            <a:ext cx="1280160" cy="365760"/>
          </a:xfrm>
          <a:prstGeom prst="rect">
            <a:avLst/>
          </a:prstGeom>
          <a:solidFill>
            <a:srgbClr val="E8740C"/>
          </a:solidFill>
          <a:ln w="12700">
            <a:solidFill>
              <a:srgbClr val="E8740C"/>
            </a:solidFill>
            <a:prstDash val="solid"/>
          </a:ln>
        </p:spPr>
      </p:sp>
      <p:sp>
        <p:nvSpPr>
          <p:cNvPr id="11" name="Text 9"/>
          <p:cNvSpPr/>
          <p:nvPr/>
        </p:nvSpPr>
        <p:spPr>
          <a:xfrm>
            <a:off x="457200" y="2148840"/>
            <a:ext cx="12801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Yu Gothic" pitchFamily="34" charset="0"/>
                <a:ea typeface="Yu Gothic" pitchFamily="34" charset="-122"/>
                <a:cs typeface="Yu Gothic" pitchFamily="34" charset="-120"/>
              </a:rPr>
              <a:t>2026年 春</a:t>
            </a:r>
            <a:endParaRPr lang="en-US" sz="1000" dirty="0"/>
          </a:p>
        </p:txBody>
      </p:sp>
      <p:sp>
        <p:nvSpPr>
          <p:cNvPr id="12" name="Text 10"/>
          <p:cNvSpPr/>
          <p:nvPr/>
        </p:nvSpPr>
        <p:spPr>
          <a:xfrm>
            <a:off x="1828800" y="2148840"/>
            <a:ext cx="2743200" cy="365760"/>
          </a:xfrm>
          <a:prstGeom prst="rect">
            <a:avLst/>
          </a:prstGeom>
          <a:noFill/>
          <a:ln/>
        </p:spPr>
        <p:txBody>
          <a:bodyPr wrap="square" lIns="0" tIns="0" rIns="0" bIns="0" rtlCol="0" anchor="ctr"/>
          <a:lstStyle/>
          <a:p>
            <a:pPr algn="l" indent="0" marL="0">
              <a:buNone/>
            </a:pPr>
            <a:r>
              <a:rPr lang="en-US" sz="1050" dirty="0">
                <a:solidFill>
                  <a:srgbClr val="3D2200"/>
                </a:solidFill>
                <a:latin typeface="Yu Gothic" pitchFamily="34" charset="0"/>
                <a:ea typeface="Yu Gothic" pitchFamily="34" charset="-122"/>
                <a:cs typeface="Yu Gothic" pitchFamily="34" charset="-120"/>
              </a:rPr>
              <a:t>先行10社様と関係構築・事例蓄積</a:t>
            </a:r>
            <a:endParaRPr lang="en-US" sz="1050" dirty="0"/>
          </a:p>
        </p:txBody>
      </p:sp>
      <p:sp>
        <p:nvSpPr>
          <p:cNvPr id="13" name="Shape 11"/>
          <p:cNvSpPr/>
          <p:nvPr/>
        </p:nvSpPr>
        <p:spPr>
          <a:xfrm>
            <a:off x="457200" y="2606040"/>
            <a:ext cx="1280160" cy="365760"/>
          </a:xfrm>
          <a:prstGeom prst="rect">
            <a:avLst/>
          </a:prstGeom>
          <a:solidFill>
            <a:srgbClr val="E8740C"/>
          </a:solidFill>
          <a:ln w="12700">
            <a:solidFill>
              <a:srgbClr val="E8740C"/>
            </a:solidFill>
            <a:prstDash val="solid"/>
          </a:ln>
        </p:spPr>
      </p:sp>
      <p:sp>
        <p:nvSpPr>
          <p:cNvPr id="14" name="Text 12"/>
          <p:cNvSpPr/>
          <p:nvPr/>
        </p:nvSpPr>
        <p:spPr>
          <a:xfrm>
            <a:off x="457200" y="2606040"/>
            <a:ext cx="12801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Yu Gothic" pitchFamily="34" charset="0"/>
                <a:ea typeface="Yu Gothic" pitchFamily="34" charset="-122"/>
                <a:cs typeface="Yu Gothic" pitchFamily="34" charset="-120"/>
              </a:rPr>
              <a:t>2026年 夏</a:t>
            </a:r>
            <a:endParaRPr lang="en-US" sz="1000" dirty="0"/>
          </a:p>
        </p:txBody>
      </p:sp>
      <p:sp>
        <p:nvSpPr>
          <p:cNvPr id="15" name="Text 13"/>
          <p:cNvSpPr/>
          <p:nvPr/>
        </p:nvSpPr>
        <p:spPr>
          <a:xfrm>
            <a:off x="1828800" y="2606040"/>
            <a:ext cx="2743200" cy="365760"/>
          </a:xfrm>
          <a:prstGeom prst="rect">
            <a:avLst/>
          </a:prstGeom>
          <a:noFill/>
          <a:ln/>
        </p:spPr>
        <p:txBody>
          <a:bodyPr wrap="square" lIns="0" tIns="0" rIns="0" bIns="0" rtlCol="0" anchor="ctr"/>
          <a:lstStyle/>
          <a:p>
            <a:pPr algn="l" indent="0" marL="0">
              <a:buNone/>
            </a:pPr>
            <a:r>
              <a:rPr lang="en-US" sz="1050" dirty="0">
                <a:solidFill>
                  <a:srgbClr val="3D2200"/>
                </a:solidFill>
                <a:latin typeface="Yu Gothic" pitchFamily="34" charset="0"/>
                <a:ea typeface="Yu Gothic" pitchFamily="34" charset="-122"/>
                <a:cs typeface="Yu Gothic" pitchFamily="34" charset="-120"/>
              </a:rPr>
              <a:t>動画・取材記事のオプション提供開始</a:t>
            </a:r>
            <a:endParaRPr lang="en-US" sz="1050" dirty="0"/>
          </a:p>
        </p:txBody>
      </p:sp>
      <p:sp>
        <p:nvSpPr>
          <p:cNvPr id="16" name="Shape 14"/>
          <p:cNvSpPr/>
          <p:nvPr/>
        </p:nvSpPr>
        <p:spPr>
          <a:xfrm>
            <a:off x="457200" y="3063240"/>
            <a:ext cx="1280160" cy="365760"/>
          </a:xfrm>
          <a:prstGeom prst="rect">
            <a:avLst/>
          </a:prstGeom>
          <a:solidFill>
            <a:srgbClr val="E8740C"/>
          </a:solidFill>
          <a:ln w="12700">
            <a:solidFill>
              <a:srgbClr val="E8740C"/>
            </a:solidFill>
            <a:prstDash val="solid"/>
          </a:ln>
        </p:spPr>
      </p:sp>
      <p:sp>
        <p:nvSpPr>
          <p:cNvPr id="17" name="Text 15"/>
          <p:cNvSpPr/>
          <p:nvPr/>
        </p:nvSpPr>
        <p:spPr>
          <a:xfrm>
            <a:off x="457200" y="3063240"/>
            <a:ext cx="12801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Yu Gothic" pitchFamily="34" charset="0"/>
                <a:ea typeface="Yu Gothic" pitchFamily="34" charset="-122"/>
                <a:cs typeface="Yu Gothic" pitchFamily="34" charset="-120"/>
              </a:rPr>
              <a:t>2026年 秋</a:t>
            </a:r>
            <a:endParaRPr lang="en-US" sz="1000" dirty="0"/>
          </a:p>
        </p:txBody>
      </p:sp>
      <p:sp>
        <p:nvSpPr>
          <p:cNvPr id="18" name="Text 16"/>
          <p:cNvSpPr/>
          <p:nvPr/>
        </p:nvSpPr>
        <p:spPr>
          <a:xfrm>
            <a:off x="1828800" y="3063240"/>
            <a:ext cx="2743200" cy="365760"/>
          </a:xfrm>
          <a:prstGeom prst="rect">
            <a:avLst/>
          </a:prstGeom>
          <a:noFill/>
          <a:ln/>
        </p:spPr>
        <p:txBody>
          <a:bodyPr wrap="square" lIns="0" tIns="0" rIns="0" bIns="0" rtlCol="0" anchor="ctr"/>
          <a:lstStyle/>
          <a:p>
            <a:pPr algn="l" indent="0" marL="0">
              <a:buNone/>
            </a:pPr>
            <a:r>
              <a:rPr lang="en-US" sz="1050" dirty="0">
                <a:solidFill>
                  <a:srgbClr val="3D2200"/>
                </a:solidFill>
                <a:latin typeface="Yu Gothic" pitchFamily="34" charset="0"/>
                <a:ea typeface="Yu Gothic" pitchFamily="34" charset="-122"/>
                <a:cs typeface="Yu Gothic" pitchFamily="34" charset="-120"/>
              </a:rPr>
              <a:t>月額プラン本格展開（新規様向け）</a:t>
            </a:r>
            <a:endParaRPr lang="en-US" sz="1050" dirty="0"/>
          </a:p>
        </p:txBody>
      </p:sp>
      <p:sp>
        <p:nvSpPr>
          <p:cNvPr id="19" name="Shape 17"/>
          <p:cNvSpPr/>
          <p:nvPr/>
        </p:nvSpPr>
        <p:spPr>
          <a:xfrm>
            <a:off x="457200" y="3520440"/>
            <a:ext cx="1280160" cy="365760"/>
          </a:xfrm>
          <a:prstGeom prst="rect">
            <a:avLst/>
          </a:prstGeom>
          <a:solidFill>
            <a:srgbClr val="E8740C"/>
          </a:solidFill>
          <a:ln w="12700">
            <a:solidFill>
              <a:srgbClr val="E8740C"/>
            </a:solidFill>
            <a:prstDash val="solid"/>
          </a:ln>
        </p:spPr>
      </p:sp>
      <p:sp>
        <p:nvSpPr>
          <p:cNvPr id="20" name="Text 18"/>
          <p:cNvSpPr/>
          <p:nvPr/>
        </p:nvSpPr>
        <p:spPr>
          <a:xfrm>
            <a:off x="457200" y="3520440"/>
            <a:ext cx="12801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Yu Gothic" pitchFamily="34" charset="0"/>
                <a:ea typeface="Yu Gothic" pitchFamily="34" charset="-122"/>
                <a:cs typeface="Yu Gothic" pitchFamily="34" charset="-120"/>
              </a:rPr>
              <a:t>2027年 〜</a:t>
            </a:r>
            <a:endParaRPr lang="en-US" sz="1000" dirty="0"/>
          </a:p>
        </p:txBody>
      </p:sp>
      <p:sp>
        <p:nvSpPr>
          <p:cNvPr id="21" name="Text 19"/>
          <p:cNvSpPr/>
          <p:nvPr/>
        </p:nvSpPr>
        <p:spPr>
          <a:xfrm>
            <a:off x="1828800" y="3520440"/>
            <a:ext cx="2743200" cy="365760"/>
          </a:xfrm>
          <a:prstGeom prst="rect">
            <a:avLst/>
          </a:prstGeom>
          <a:noFill/>
          <a:ln/>
        </p:spPr>
        <p:txBody>
          <a:bodyPr wrap="square" lIns="0" tIns="0" rIns="0" bIns="0" rtlCol="0" anchor="ctr"/>
          <a:lstStyle/>
          <a:p>
            <a:pPr algn="l" indent="0" marL="0">
              <a:buNone/>
            </a:pPr>
            <a:r>
              <a:rPr lang="en-US" sz="1050" dirty="0">
                <a:solidFill>
                  <a:srgbClr val="3D2200"/>
                </a:solidFill>
                <a:latin typeface="Yu Gothic" pitchFamily="34" charset="0"/>
                <a:ea typeface="Yu Gothic" pitchFamily="34" charset="-122"/>
                <a:cs typeface="Yu Gothic" pitchFamily="34" charset="-120"/>
              </a:rPr>
              <a:t>住宅ローン・土地紹介など周辺拡充</a:t>
            </a:r>
            <a:endParaRPr lang="en-US" sz="1050" dirty="0"/>
          </a:p>
        </p:txBody>
      </p:sp>
      <p:sp>
        <p:nvSpPr>
          <p:cNvPr id="22" name="Shape 20"/>
          <p:cNvSpPr/>
          <p:nvPr/>
        </p:nvSpPr>
        <p:spPr>
          <a:xfrm>
            <a:off x="457200" y="3977640"/>
            <a:ext cx="1280160" cy="365760"/>
          </a:xfrm>
          <a:prstGeom prst="rect">
            <a:avLst/>
          </a:prstGeom>
          <a:solidFill>
            <a:srgbClr val="E8740C"/>
          </a:solidFill>
          <a:ln w="12700">
            <a:solidFill>
              <a:srgbClr val="E8740C"/>
            </a:solidFill>
            <a:prstDash val="solid"/>
          </a:ln>
        </p:spPr>
      </p:sp>
      <p:sp>
        <p:nvSpPr>
          <p:cNvPr id="23" name="Text 21"/>
          <p:cNvSpPr/>
          <p:nvPr/>
        </p:nvSpPr>
        <p:spPr>
          <a:xfrm>
            <a:off x="457200" y="3977640"/>
            <a:ext cx="12801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Yu Gothic" pitchFamily="34" charset="0"/>
                <a:ea typeface="Yu Gothic" pitchFamily="34" charset="-122"/>
                <a:cs typeface="Yu Gothic" pitchFamily="34" charset="-120"/>
              </a:rPr>
              <a:t>2028年 〜</a:t>
            </a:r>
            <a:endParaRPr lang="en-US" sz="1000" dirty="0"/>
          </a:p>
        </p:txBody>
      </p:sp>
      <p:sp>
        <p:nvSpPr>
          <p:cNvPr id="24" name="Text 22"/>
          <p:cNvSpPr/>
          <p:nvPr/>
        </p:nvSpPr>
        <p:spPr>
          <a:xfrm>
            <a:off x="1828800" y="3977640"/>
            <a:ext cx="2743200" cy="365760"/>
          </a:xfrm>
          <a:prstGeom prst="rect">
            <a:avLst/>
          </a:prstGeom>
          <a:noFill/>
          <a:ln/>
        </p:spPr>
        <p:txBody>
          <a:bodyPr wrap="square" lIns="0" tIns="0" rIns="0" bIns="0" rtlCol="0" anchor="ctr"/>
          <a:lstStyle/>
          <a:p>
            <a:pPr algn="l" indent="0" marL="0">
              <a:buNone/>
            </a:pPr>
            <a:r>
              <a:rPr lang="en-US" sz="1050" dirty="0">
                <a:solidFill>
                  <a:srgbClr val="3D2200"/>
                </a:solidFill>
                <a:latin typeface="Yu Gothic" pitchFamily="34" charset="0"/>
                <a:ea typeface="Yu Gothic" pitchFamily="34" charset="-122"/>
                <a:cs typeface="Yu Gothic" pitchFamily="34" charset="-120"/>
              </a:rPr>
              <a:t>九州モデルの全国展開</a:t>
            </a:r>
            <a:endParaRPr lang="en-US" sz="1050" dirty="0"/>
          </a:p>
        </p:txBody>
      </p:sp>
      <p:sp>
        <p:nvSpPr>
          <p:cNvPr id="25" name="Text 23"/>
          <p:cNvSpPr/>
          <p:nvPr/>
        </p:nvSpPr>
        <p:spPr>
          <a:xfrm>
            <a:off x="4846320" y="1691640"/>
            <a:ext cx="3840480" cy="320040"/>
          </a:xfrm>
          <a:prstGeom prst="rect">
            <a:avLst/>
          </a:prstGeom>
          <a:noFill/>
          <a:ln/>
        </p:spPr>
        <p:txBody>
          <a:bodyPr wrap="square" lIns="0" tIns="0" rIns="0" bIns="0" rtlCol="0" anchor="ctr"/>
          <a:lstStyle/>
          <a:p>
            <a:pPr algn="l" indent="0" marL="0">
              <a:buNone/>
            </a:pPr>
            <a:r>
              <a:rPr lang="en-US" sz="1200" b="1" spc="200" kern="0" dirty="0">
                <a:solidFill>
                  <a:srgbClr val="E8740C"/>
                </a:solidFill>
                <a:latin typeface="Yu Gothic" pitchFamily="34" charset="0"/>
                <a:ea typeface="Yu Gothic" pitchFamily="34" charset="-122"/>
                <a:cs typeface="Yu Gothic" pitchFamily="34" charset="-120"/>
              </a:rPr>
              <a:t>ご導入までの4ステップ</a:t>
            </a:r>
            <a:endParaRPr lang="en-US" sz="1200" dirty="0"/>
          </a:p>
        </p:txBody>
      </p:sp>
      <p:sp>
        <p:nvSpPr>
          <p:cNvPr id="26" name="Shape 24"/>
          <p:cNvSpPr/>
          <p:nvPr/>
        </p:nvSpPr>
        <p:spPr>
          <a:xfrm>
            <a:off x="4846320" y="2011680"/>
            <a:ext cx="3840480" cy="0"/>
          </a:xfrm>
          <a:prstGeom prst="line">
            <a:avLst/>
          </a:prstGeom>
          <a:noFill/>
          <a:ln w="25400">
            <a:solidFill>
              <a:srgbClr val="E8740C"/>
            </a:solidFill>
            <a:prstDash val="solid"/>
          </a:ln>
        </p:spPr>
      </p:sp>
      <p:sp>
        <p:nvSpPr>
          <p:cNvPr id="27" name="Shape 25"/>
          <p:cNvSpPr/>
          <p:nvPr/>
        </p:nvSpPr>
        <p:spPr>
          <a:xfrm>
            <a:off x="4846320" y="2194560"/>
            <a:ext cx="384048" cy="384048"/>
          </a:xfrm>
          <a:prstGeom prst="ellipse">
            <a:avLst/>
          </a:prstGeom>
          <a:solidFill>
            <a:srgbClr val="E8740C"/>
          </a:solidFill>
          <a:ln w="12700">
            <a:solidFill>
              <a:srgbClr val="E8740C"/>
            </a:solidFill>
            <a:prstDash val="solid"/>
          </a:ln>
        </p:spPr>
      </p:sp>
      <p:sp>
        <p:nvSpPr>
          <p:cNvPr id="28" name="Text 26"/>
          <p:cNvSpPr/>
          <p:nvPr/>
        </p:nvSpPr>
        <p:spPr>
          <a:xfrm>
            <a:off x="4846320" y="21945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1</a:t>
            </a:r>
            <a:endParaRPr lang="en-US" sz="1400" dirty="0"/>
          </a:p>
        </p:txBody>
      </p:sp>
      <p:sp>
        <p:nvSpPr>
          <p:cNvPr id="29" name="Text 27"/>
          <p:cNvSpPr/>
          <p:nvPr/>
        </p:nvSpPr>
        <p:spPr>
          <a:xfrm>
            <a:off x="5349240" y="2148840"/>
            <a:ext cx="3291840" cy="274320"/>
          </a:xfrm>
          <a:prstGeom prst="rect">
            <a:avLst/>
          </a:prstGeom>
          <a:noFill/>
          <a:ln/>
        </p:spPr>
        <p:txBody>
          <a:bodyPr wrap="square" lIns="0" tIns="0" rIns="0" bIns="0" rtlCol="0" anchor="t"/>
          <a:lstStyle/>
          <a:p>
            <a:pPr algn="l" indent="0" marL="0">
              <a:buNone/>
            </a:pPr>
            <a:r>
              <a:rPr lang="en-US" sz="1200" b="1" dirty="0">
                <a:solidFill>
                  <a:srgbClr val="2A1700"/>
                </a:solidFill>
                <a:latin typeface="Yu Gothic" pitchFamily="34" charset="0"/>
                <a:ea typeface="Yu Gothic" pitchFamily="34" charset="-122"/>
                <a:cs typeface="Yu Gothic" pitchFamily="34" charset="-120"/>
              </a:rPr>
              <a:t>初回ご面談（60分）</a:t>
            </a:r>
            <a:endParaRPr lang="en-US" sz="1200" dirty="0"/>
          </a:p>
        </p:txBody>
      </p:sp>
      <p:sp>
        <p:nvSpPr>
          <p:cNvPr id="30" name="Text 28"/>
          <p:cNvSpPr/>
          <p:nvPr/>
        </p:nvSpPr>
        <p:spPr>
          <a:xfrm>
            <a:off x="5349240" y="2386584"/>
            <a:ext cx="3291840" cy="256032"/>
          </a:xfrm>
          <a:prstGeom prst="rect">
            <a:avLst/>
          </a:prstGeom>
          <a:noFill/>
          <a:ln/>
        </p:spPr>
        <p:txBody>
          <a:bodyPr wrap="square" lIns="0" tIns="0" rIns="0" bIns="0" rtlCol="0" anchor="t"/>
          <a:lstStyle/>
          <a:p>
            <a:pPr algn="l" indent="0" marL="0">
              <a:buNone/>
            </a:pPr>
            <a:r>
              <a:rPr lang="en-US" sz="950" dirty="0">
                <a:solidFill>
                  <a:srgbClr val="6B5A47"/>
                </a:solidFill>
                <a:latin typeface="Yu Gothic" pitchFamily="34" charset="0"/>
                <a:ea typeface="Yu Gothic" pitchFamily="34" charset="-122"/>
                <a:cs typeface="Yu Gothic" pitchFamily="34" charset="-120"/>
              </a:rPr>
              <a:t>全体像・料金・ご質問への回答</a:t>
            </a:r>
            <a:endParaRPr lang="en-US" sz="950" dirty="0"/>
          </a:p>
        </p:txBody>
      </p:sp>
      <p:sp>
        <p:nvSpPr>
          <p:cNvPr id="31" name="Shape 29"/>
          <p:cNvSpPr/>
          <p:nvPr/>
        </p:nvSpPr>
        <p:spPr>
          <a:xfrm>
            <a:off x="4846320" y="2770632"/>
            <a:ext cx="384048" cy="384048"/>
          </a:xfrm>
          <a:prstGeom prst="ellipse">
            <a:avLst/>
          </a:prstGeom>
          <a:solidFill>
            <a:srgbClr val="E8740C"/>
          </a:solidFill>
          <a:ln w="12700">
            <a:solidFill>
              <a:srgbClr val="E8740C"/>
            </a:solidFill>
            <a:prstDash val="solid"/>
          </a:ln>
        </p:spPr>
      </p:sp>
      <p:sp>
        <p:nvSpPr>
          <p:cNvPr id="32" name="Text 30"/>
          <p:cNvSpPr/>
          <p:nvPr/>
        </p:nvSpPr>
        <p:spPr>
          <a:xfrm>
            <a:off x="4846320" y="277063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2</a:t>
            </a:r>
            <a:endParaRPr lang="en-US" sz="1400" dirty="0"/>
          </a:p>
        </p:txBody>
      </p:sp>
      <p:sp>
        <p:nvSpPr>
          <p:cNvPr id="33" name="Text 31"/>
          <p:cNvSpPr/>
          <p:nvPr/>
        </p:nvSpPr>
        <p:spPr>
          <a:xfrm>
            <a:off x="5349240" y="2724912"/>
            <a:ext cx="3291840" cy="274320"/>
          </a:xfrm>
          <a:prstGeom prst="rect">
            <a:avLst/>
          </a:prstGeom>
          <a:noFill/>
          <a:ln/>
        </p:spPr>
        <p:txBody>
          <a:bodyPr wrap="square" lIns="0" tIns="0" rIns="0" bIns="0" rtlCol="0" anchor="t"/>
          <a:lstStyle/>
          <a:p>
            <a:pPr algn="l" indent="0" marL="0">
              <a:buNone/>
            </a:pPr>
            <a:r>
              <a:rPr lang="en-US" sz="1200" b="1" dirty="0">
                <a:solidFill>
                  <a:srgbClr val="2A1700"/>
                </a:solidFill>
                <a:latin typeface="Yu Gothic" pitchFamily="34" charset="0"/>
                <a:ea typeface="Yu Gothic" pitchFamily="34" charset="-122"/>
                <a:cs typeface="Yu Gothic" pitchFamily="34" charset="-120"/>
              </a:rPr>
              <a:t>下見・撮影企画（無料）</a:t>
            </a:r>
            <a:endParaRPr lang="en-US" sz="1200" dirty="0"/>
          </a:p>
        </p:txBody>
      </p:sp>
      <p:sp>
        <p:nvSpPr>
          <p:cNvPr id="34" name="Text 32"/>
          <p:cNvSpPr/>
          <p:nvPr/>
        </p:nvSpPr>
        <p:spPr>
          <a:xfrm>
            <a:off x="5349240" y="2962656"/>
            <a:ext cx="3291840" cy="256032"/>
          </a:xfrm>
          <a:prstGeom prst="rect">
            <a:avLst/>
          </a:prstGeom>
          <a:noFill/>
          <a:ln/>
        </p:spPr>
        <p:txBody>
          <a:bodyPr wrap="square" lIns="0" tIns="0" rIns="0" bIns="0" rtlCol="0" anchor="t"/>
          <a:lstStyle/>
          <a:p>
            <a:pPr algn="l" indent="0" marL="0">
              <a:buNone/>
            </a:pPr>
            <a:r>
              <a:rPr lang="en-US" sz="950" dirty="0">
                <a:solidFill>
                  <a:srgbClr val="6B5A47"/>
                </a:solidFill>
                <a:latin typeface="Yu Gothic" pitchFamily="34" charset="0"/>
                <a:ea typeface="Yu Gothic" pitchFamily="34" charset="-122"/>
                <a:cs typeface="Yu Gothic" pitchFamily="34" charset="-120"/>
              </a:rPr>
              <a:t>ご社屋・モデルハウスの下見</a:t>
            </a:r>
            <a:endParaRPr lang="en-US" sz="950" dirty="0"/>
          </a:p>
        </p:txBody>
      </p:sp>
      <p:sp>
        <p:nvSpPr>
          <p:cNvPr id="35" name="Shape 33"/>
          <p:cNvSpPr/>
          <p:nvPr/>
        </p:nvSpPr>
        <p:spPr>
          <a:xfrm>
            <a:off x="4846320" y="3346704"/>
            <a:ext cx="384048" cy="384048"/>
          </a:xfrm>
          <a:prstGeom prst="ellipse">
            <a:avLst/>
          </a:prstGeom>
          <a:solidFill>
            <a:srgbClr val="E8740C"/>
          </a:solidFill>
          <a:ln w="12700">
            <a:solidFill>
              <a:srgbClr val="E8740C"/>
            </a:solidFill>
            <a:prstDash val="solid"/>
          </a:ln>
        </p:spPr>
      </p:sp>
      <p:sp>
        <p:nvSpPr>
          <p:cNvPr id="36" name="Text 34"/>
          <p:cNvSpPr/>
          <p:nvPr/>
        </p:nvSpPr>
        <p:spPr>
          <a:xfrm>
            <a:off x="4846320" y="334670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3</a:t>
            </a:r>
            <a:endParaRPr lang="en-US" sz="1400" dirty="0"/>
          </a:p>
        </p:txBody>
      </p:sp>
      <p:sp>
        <p:nvSpPr>
          <p:cNvPr id="37" name="Text 35"/>
          <p:cNvSpPr/>
          <p:nvPr/>
        </p:nvSpPr>
        <p:spPr>
          <a:xfrm>
            <a:off x="5349240" y="3300984"/>
            <a:ext cx="3291840" cy="274320"/>
          </a:xfrm>
          <a:prstGeom prst="rect">
            <a:avLst/>
          </a:prstGeom>
          <a:noFill/>
          <a:ln/>
        </p:spPr>
        <p:txBody>
          <a:bodyPr wrap="square" lIns="0" tIns="0" rIns="0" bIns="0" rtlCol="0" anchor="t"/>
          <a:lstStyle/>
          <a:p>
            <a:pPr algn="l" indent="0" marL="0">
              <a:buNone/>
            </a:pPr>
            <a:r>
              <a:rPr lang="en-US" sz="1200" b="1" dirty="0">
                <a:solidFill>
                  <a:srgbClr val="2A1700"/>
                </a:solidFill>
                <a:latin typeface="Yu Gothic" pitchFamily="34" charset="0"/>
                <a:ea typeface="Yu Gothic" pitchFamily="34" charset="-122"/>
                <a:cs typeface="Yu Gothic" pitchFamily="34" charset="-120"/>
              </a:rPr>
              <a:t>ご契約・初期設定</a:t>
            </a:r>
            <a:endParaRPr lang="en-US" sz="1200" dirty="0"/>
          </a:p>
        </p:txBody>
      </p:sp>
      <p:sp>
        <p:nvSpPr>
          <p:cNvPr id="38" name="Text 36"/>
          <p:cNvSpPr/>
          <p:nvPr/>
        </p:nvSpPr>
        <p:spPr>
          <a:xfrm>
            <a:off x="5349240" y="3538728"/>
            <a:ext cx="3291840" cy="256032"/>
          </a:xfrm>
          <a:prstGeom prst="rect">
            <a:avLst/>
          </a:prstGeom>
          <a:noFill/>
          <a:ln/>
        </p:spPr>
        <p:txBody>
          <a:bodyPr wrap="square" lIns="0" tIns="0" rIns="0" bIns="0" rtlCol="0" anchor="t"/>
          <a:lstStyle/>
          <a:p>
            <a:pPr algn="l" indent="0" marL="0">
              <a:buNone/>
            </a:pPr>
            <a:r>
              <a:rPr lang="en-US" sz="950" dirty="0">
                <a:solidFill>
                  <a:srgbClr val="6B5A47"/>
                </a:solidFill>
                <a:latin typeface="Yu Gothic" pitchFamily="34" charset="0"/>
                <a:ea typeface="Yu Gothic" pitchFamily="34" charset="-122"/>
                <a:cs typeface="Yu Gothic" pitchFamily="34" charset="-120"/>
              </a:rPr>
              <a:t>管理画面の設定を一緒にお手伝い</a:t>
            </a:r>
            <a:endParaRPr lang="en-US" sz="950" dirty="0"/>
          </a:p>
        </p:txBody>
      </p:sp>
      <p:sp>
        <p:nvSpPr>
          <p:cNvPr id="39" name="Shape 37"/>
          <p:cNvSpPr/>
          <p:nvPr/>
        </p:nvSpPr>
        <p:spPr>
          <a:xfrm>
            <a:off x="4846320" y="3922776"/>
            <a:ext cx="384048" cy="384048"/>
          </a:xfrm>
          <a:prstGeom prst="ellipse">
            <a:avLst/>
          </a:prstGeom>
          <a:solidFill>
            <a:srgbClr val="E8740C"/>
          </a:solidFill>
          <a:ln w="12700">
            <a:solidFill>
              <a:srgbClr val="E8740C"/>
            </a:solidFill>
            <a:prstDash val="solid"/>
          </a:ln>
        </p:spPr>
      </p:sp>
      <p:sp>
        <p:nvSpPr>
          <p:cNvPr id="40" name="Text 38"/>
          <p:cNvSpPr/>
          <p:nvPr/>
        </p:nvSpPr>
        <p:spPr>
          <a:xfrm>
            <a:off x="4846320" y="392277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4</a:t>
            </a:r>
            <a:endParaRPr lang="en-US" sz="1400" dirty="0"/>
          </a:p>
        </p:txBody>
      </p:sp>
      <p:sp>
        <p:nvSpPr>
          <p:cNvPr id="41" name="Text 39"/>
          <p:cNvSpPr/>
          <p:nvPr/>
        </p:nvSpPr>
        <p:spPr>
          <a:xfrm>
            <a:off x="5349240" y="3877056"/>
            <a:ext cx="3291840" cy="274320"/>
          </a:xfrm>
          <a:prstGeom prst="rect">
            <a:avLst/>
          </a:prstGeom>
          <a:noFill/>
          <a:ln/>
        </p:spPr>
        <p:txBody>
          <a:bodyPr wrap="square" lIns="0" tIns="0" rIns="0" bIns="0" rtlCol="0" anchor="t"/>
          <a:lstStyle/>
          <a:p>
            <a:pPr algn="l" indent="0" marL="0">
              <a:buNone/>
            </a:pPr>
            <a:r>
              <a:rPr lang="en-US" sz="1200" b="1" dirty="0">
                <a:solidFill>
                  <a:srgbClr val="2A1700"/>
                </a:solidFill>
                <a:latin typeface="Yu Gothic" pitchFamily="34" charset="0"/>
                <a:ea typeface="Yu Gothic" pitchFamily="34" charset="-122"/>
                <a:cs typeface="Yu Gothic" pitchFamily="34" charset="-120"/>
              </a:rPr>
              <a:t>動画公開・掲載開始</a:t>
            </a:r>
            <a:endParaRPr lang="en-US" sz="1200" dirty="0"/>
          </a:p>
        </p:txBody>
      </p:sp>
      <p:sp>
        <p:nvSpPr>
          <p:cNvPr id="42" name="Text 40"/>
          <p:cNvSpPr/>
          <p:nvPr/>
        </p:nvSpPr>
        <p:spPr>
          <a:xfrm>
            <a:off x="5349240" y="4114800"/>
            <a:ext cx="3291840" cy="256032"/>
          </a:xfrm>
          <a:prstGeom prst="rect">
            <a:avLst/>
          </a:prstGeom>
          <a:noFill/>
          <a:ln/>
        </p:spPr>
        <p:txBody>
          <a:bodyPr wrap="square" lIns="0" tIns="0" rIns="0" bIns="0" rtlCol="0" anchor="t"/>
          <a:lstStyle/>
          <a:p>
            <a:pPr algn="l" indent="0" marL="0">
              <a:buNone/>
            </a:pPr>
            <a:r>
              <a:rPr lang="en-US" sz="950" dirty="0">
                <a:solidFill>
                  <a:srgbClr val="6B5A47"/>
                </a:solidFill>
                <a:latin typeface="Yu Gothic" pitchFamily="34" charset="0"/>
                <a:ea typeface="Yu Gothic" pitchFamily="34" charset="-122"/>
                <a:cs typeface="Yu Gothic" pitchFamily="34" charset="-120"/>
              </a:rPr>
              <a:t>撮影から約3週間でスタート</a:t>
            </a:r>
            <a:endParaRPr lang="en-US" sz="950" dirty="0"/>
          </a:p>
        </p:txBody>
      </p:sp>
      <p:sp>
        <p:nvSpPr>
          <p:cNvPr id="43" name="Shape 41"/>
          <p:cNvSpPr/>
          <p:nvPr/>
        </p:nvSpPr>
        <p:spPr>
          <a:xfrm>
            <a:off x="457200" y="4526280"/>
            <a:ext cx="8229600" cy="502920"/>
          </a:xfrm>
          <a:prstGeom prst="rect">
            <a:avLst/>
          </a:prstGeom>
          <a:solidFill>
            <a:srgbClr val="2A1700"/>
          </a:solidFill>
          <a:ln w="12700">
            <a:solidFill>
              <a:srgbClr val="2A1700"/>
            </a:solidFill>
            <a:prstDash val="solid"/>
          </a:ln>
        </p:spPr>
      </p:sp>
      <p:sp>
        <p:nvSpPr>
          <p:cNvPr id="44" name="Text 42"/>
          <p:cNvSpPr/>
          <p:nvPr/>
        </p:nvSpPr>
        <p:spPr>
          <a:xfrm>
            <a:off x="457200" y="4526280"/>
            <a:ext cx="822960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まずは、お気軽にご相談ください。</a:t>
            </a:r>
            <a:pPr algn="ctr" indent="0" marL="0">
              <a:buNone/>
            </a:pPr>
            <a:r>
              <a:rPr lang="en-US" sz="1300" dirty="0">
                <a:solidFill>
                  <a:srgbClr val="FFFFFF"/>
                </a:solidFill>
                <a:latin typeface="Yu Gothic" pitchFamily="34" charset="0"/>
                <a:ea typeface="Yu Gothic" pitchFamily="34" charset="-122"/>
                <a:cs typeface="Yu Gothic" pitchFamily="34" charset="-120"/>
              </a:rPr>
              <a:t>   オンライン面談 / ご訪問 どちらも対応いたします。</a:t>
            </a:r>
            <a:endParaRPr lang="en-US" sz="1300" dirty="0"/>
          </a:p>
        </p:txBody>
      </p:sp>
      <p:sp>
        <p:nvSpPr>
          <p:cNvPr id="45" name="Shape 43"/>
          <p:cNvSpPr/>
          <p:nvPr/>
        </p:nvSpPr>
        <p:spPr>
          <a:xfrm>
            <a:off x="365760" y="4823460"/>
            <a:ext cx="8412480" cy="0"/>
          </a:xfrm>
          <a:prstGeom prst="line">
            <a:avLst/>
          </a:prstGeom>
          <a:noFill/>
          <a:ln w="9525">
            <a:solidFill>
              <a:srgbClr val="EBDFD0"/>
            </a:solidFill>
            <a:prstDash val="solid"/>
          </a:ln>
        </p:spPr>
      </p:sp>
      <p:sp>
        <p:nvSpPr>
          <p:cNvPr id="46" name="Text 44"/>
          <p:cNvSpPr/>
          <p:nvPr/>
        </p:nvSpPr>
        <p:spPr>
          <a:xfrm>
            <a:off x="365760" y="4850892"/>
            <a:ext cx="4572000" cy="274320"/>
          </a:xfrm>
          <a:prstGeom prst="rect">
            <a:avLst/>
          </a:prstGeom>
          <a:noFill/>
          <a:ln/>
        </p:spPr>
        <p:txBody>
          <a:bodyPr wrap="square" lIns="0" tIns="0" rIns="0" bIns="0" rtlCol="0" anchor="ctr"/>
          <a:lstStyle/>
          <a:p>
            <a:pPr algn="l" indent="0" marL="0">
              <a:buNone/>
            </a:pPr>
            <a:r>
              <a:rPr lang="en-US" sz="900" dirty="0">
                <a:solidFill>
                  <a:srgbClr val="6B5A47"/>
                </a:solidFill>
                <a:latin typeface="Yu Gothic" pitchFamily="34" charset="0"/>
                <a:ea typeface="Yu Gothic" pitchFamily="34" charset="-122"/>
                <a:cs typeface="Yu Gothic" pitchFamily="34" charset="-120"/>
              </a:rPr>
              <a:t>ぺいほーむ ポータルサイト</a:t>
            </a:r>
            <a:endParaRPr lang="en-US" sz="900" dirty="0"/>
          </a:p>
        </p:txBody>
      </p:sp>
      <p:sp>
        <p:nvSpPr>
          <p:cNvPr id="47" name="Text 45"/>
          <p:cNvSpPr/>
          <p:nvPr/>
        </p:nvSpPr>
        <p:spPr>
          <a:xfrm>
            <a:off x="4206240" y="4850892"/>
            <a:ext cx="4572000" cy="274320"/>
          </a:xfrm>
          <a:prstGeom prst="rect">
            <a:avLst/>
          </a:prstGeom>
          <a:noFill/>
          <a:ln/>
        </p:spPr>
        <p:txBody>
          <a:bodyPr wrap="square" lIns="0" tIns="0" rIns="0" bIns="0" rtlCol="0" anchor="ctr"/>
          <a:lstStyle/>
          <a:p>
            <a:pPr algn="r" indent="0" marL="0">
              <a:buNone/>
            </a:pPr>
            <a:r>
              <a:rPr lang="en-US" sz="900" i="1" dirty="0">
                <a:solidFill>
                  <a:srgbClr val="6B5A47"/>
                </a:solidFill>
                <a:latin typeface="Yu Gothic" pitchFamily="34" charset="0"/>
                <a:ea typeface="Yu Gothic" pitchFamily="34" charset="-122"/>
                <a:cs typeface="Yu Gothic" pitchFamily="34" charset="-120"/>
              </a:rPr>
              <a:t>本気の出会いを、誠実に。</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ぺいほーむ</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工務店様向けご提案資料｜ぺいほーむ ポータルサイト</dc:title>
  <dc:subject>ぺいほーむ</dc:subject>
  <dc:creator>ぺいほーむ</dc:creator>
  <cp:lastModifiedBy>ぺいほーむ</cp:lastModifiedBy>
  <cp:revision>1</cp:revision>
  <dcterms:created xsi:type="dcterms:W3CDTF">2026-04-11T14:12:26Z</dcterms:created>
  <dcterms:modified xsi:type="dcterms:W3CDTF">2026-04-11T14:12:26Z</dcterms:modified>
</cp:coreProperties>
</file>