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E8740C"/>
                </a:solidFill>
                <a:latin typeface="Yu Gothic"/>
              </a:defRPr>
            </a:pPr>
            <a:r>
              <a:t>ぺいほーむ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D2200"/>
                </a:solidFill>
                <a:latin typeface="Yu Gothic"/>
              </a:defRPr>
            </a:pPr>
            <a:r>
              <a:t>九州No.1 平屋専門プラットフォーム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931920"/>
            <a:ext cx="2103120" cy="5080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297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D2200"/>
                </a:solidFill>
                <a:latin typeface="Yu Gothic"/>
              </a:defRPr>
            </a:pPr>
            <a:r>
              <a:t>パートナー企業様向けご案内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5943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Yu Gothic"/>
              </a:defRPr>
            </a:pPr>
            <a:r>
              <a:t>株式会社wazeka  |  ぺいほーむ事業部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D2200"/>
                </a:solidFill>
                <a:latin typeface="Yu Gothic"/>
              </a:defRPr>
            </a:pPr>
            <a:r>
              <a:t>ぺいほーむとは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D2200"/>
                </a:solidFill>
                <a:latin typeface="Yu Gothic"/>
              </a:defRPr>
            </a:pPr>
            <a:r>
              <a:t>九州の平屋検討者が集まる、平屋専門プラットフォーム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20040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423160"/>
            <a:ext cx="2926080" cy="5080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8740C"/>
                </a:solidFill>
                <a:latin typeface="Yu Gothic"/>
              </a:defRPr>
            </a:pPr>
            <a:r>
              <a:t>42,841人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661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D2200"/>
                </a:solidFill>
                <a:latin typeface="Yu Gothic"/>
              </a:defRPr>
            </a:pPr>
            <a:r>
              <a:t>YouTube登録者数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2062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Yu Gothic"/>
              </a:defRPr>
            </a:pPr>
            <a:r>
              <a:t>平屋専門チャンネルとして九州No.1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286000"/>
            <a:ext cx="320040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2423160"/>
            <a:ext cx="2926080" cy="5080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74320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8740C"/>
                </a:solidFill>
                <a:latin typeface="Yu Gothic"/>
              </a:defRPr>
            </a:pPr>
            <a:r>
              <a:t>257本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5661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D2200"/>
                </a:solidFill>
                <a:latin typeface="Yu Gothic"/>
              </a:defRPr>
            </a:pPr>
            <a:r>
              <a:t>公開動画数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2062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Yu Gothic"/>
              </a:defRPr>
            </a:pPr>
            <a:r>
              <a:t>ルームツアー・ショート動画を毎週配信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2286000"/>
            <a:ext cx="320040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2423160"/>
            <a:ext cx="2926080" cy="5080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274320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8740C"/>
                </a:solidFill>
                <a:latin typeface="Yu Gothic"/>
              </a:defRPr>
            </a:pPr>
            <a:r>
              <a:t>15万回+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5661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D2200"/>
                </a:solidFill>
                <a:latin typeface="Yu Gothic"/>
              </a:defRPr>
            </a:pPr>
            <a:r>
              <a:t>月間再生回数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42062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Yu Gothic"/>
              </a:defRPr>
            </a:pPr>
            <a:r>
              <a:t>平屋を検討中のユーザーが視聴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Yu Gothic"/>
              </a:defRPr>
            </a:pPr>
            <a: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D2200"/>
                </a:solidFill>
                <a:latin typeface="Yu Gothic"/>
              </a:defRPr>
            </a:pPr>
            <a:r>
              <a:t>工務店様のこんなお悩みを解決します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3474720"/>
          </a:xfrm>
          <a:prstGeom prst="roundRect">
            <a:avLst>
              <a:gd name="adj" fmla="val 5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45920" y="1920240"/>
            <a:ext cx="640080" cy="640080"/>
          </a:xfrm>
          <a:prstGeom prst="ellipse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Yu Gothic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D2200"/>
                </a:solidFill>
                <a:latin typeface="Yu Gothic"/>
              </a:defRPr>
            </a:pPr>
            <a:r>
              <a:t>SUUMOの反響単価が高い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5544"/>
                </a:solidFill>
                <a:latin typeface="Yu Gothic"/>
              </a:defRPr>
            </a:pPr>
            <a:r>
              <a:t>5〜15万円/件の反響単価。</a:t>
            </a:r>
            <a:br/>
            <a:r>
              <a:t>費用対効果が見合わない...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468880" cy="3474720"/>
          </a:xfrm>
          <a:prstGeom prst="roundRect">
            <a:avLst>
              <a:gd name="adj" fmla="val 5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89120" y="1920240"/>
            <a:ext cx="640080" cy="640080"/>
          </a:xfrm>
          <a:prstGeom prst="ellipse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Yu Gothic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7432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D2200"/>
                </a:solidFill>
                <a:latin typeface="Yu Gothic"/>
              </a:defRPr>
            </a:pPr>
            <a:r>
              <a:t>平屋検討者に届かない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6576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5544"/>
                </a:solidFill>
                <a:latin typeface="Yu Gothic"/>
              </a:defRPr>
            </a:pPr>
            <a:r>
              <a:t>平屋を検討している方に</a:t>
            </a:r>
            <a:br/>
            <a:r>
              <a:t>ピンポイントでリーチできない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2468880" cy="3474720"/>
          </a:xfrm>
          <a:prstGeom prst="roundRect">
            <a:avLst>
              <a:gd name="adj" fmla="val 5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0" y="1920240"/>
            <a:ext cx="640080" cy="640080"/>
          </a:xfrm>
          <a:prstGeom prst="ellipse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Yu Gothic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7432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D2200"/>
                </a:solidFill>
                <a:latin typeface="Yu Gothic"/>
              </a:defRPr>
            </a:pPr>
            <a:r>
              <a:t>動画・SNSの人手不足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6576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5544"/>
                </a:solidFill>
                <a:latin typeface="Yu Gothic"/>
              </a:defRPr>
            </a:pPr>
            <a:r>
              <a:t>動画やSNSをやりたいが</a:t>
            </a:r>
            <a:br/>
            <a:r>
              <a:t>人手もノウハウも足りない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645920"/>
            <a:ext cx="2468880" cy="3474720"/>
          </a:xfrm>
          <a:prstGeom prst="roundRect">
            <a:avLst>
              <a:gd name="adj" fmla="val 5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875520" y="1920240"/>
            <a:ext cx="640080" cy="640080"/>
          </a:xfrm>
          <a:prstGeom prst="ellipse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Yu Gothic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7432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D2200"/>
                </a:solidFill>
                <a:latin typeface="Yu Gothic"/>
              </a:defRPr>
            </a:pPr>
            <a:r>
              <a:t>問い合わせの質が低い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6576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5544"/>
                </a:solidFill>
                <a:latin typeface="Yu Gothic"/>
              </a:defRPr>
            </a:pPr>
            <a:r>
              <a:t>冷やかしが多く、</a:t>
            </a:r>
            <a:br/>
            <a:r>
              <a:t>本気度の高い方に出会えない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Yu Gothic"/>
              </a:defRPr>
            </a:pPr>
            <a: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D2200"/>
                </a:solidFill>
                <a:latin typeface="Yu Gothic"/>
              </a:defRPr>
            </a:pPr>
            <a:r>
              <a:t>ぺいほーむが選ばれる3つの理由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0040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8740C"/>
                </a:solidFill>
                <a:latin typeface="Yu Gothic"/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1965960"/>
            <a:ext cx="1828800" cy="365760"/>
          </a:xfrm>
          <a:prstGeom prst="roundRect">
            <a:avLst>
              <a:gd name="adj" fmla="val 5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8740C"/>
                </a:solidFill>
                <a:latin typeface="Yu Gothic"/>
              </a:defRPr>
            </a:pPr>
            <a:r>
              <a:t>平屋専門だから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D2200"/>
                </a:solidFill>
                <a:latin typeface="Yu Gothic"/>
              </a:defRPr>
            </a:pPr>
            <a:r>
              <a:t>来る方の100%が平屋検討者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6616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5544"/>
                </a:solidFill>
                <a:latin typeface="Yu Gothic"/>
              </a:defRPr>
            </a:pPr>
            <a:r>
              <a:t>平屋専門だから当然です。</a:t>
            </a:r>
            <a:br/>
            <a:r>
              <a:t>SUUMOのように「なんとなく見ている人」はいません。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645920"/>
            <a:ext cx="320040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8740C"/>
                </a:solidFill>
                <a:latin typeface="Yu Gothic"/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1965960"/>
            <a:ext cx="1828800" cy="365760"/>
          </a:xfrm>
          <a:prstGeom prst="roundRect">
            <a:avLst>
              <a:gd name="adj" fmla="val 5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8740C"/>
                </a:solidFill>
                <a:latin typeface="Yu Gothic"/>
              </a:defRPr>
            </a:pPr>
            <a:r>
              <a:t>写真では伝わらない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6517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D2200"/>
                </a:solidFill>
                <a:latin typeface="Yu Gothic"/>
              </a:defRPr>
            </a:pPr>
            <a:r>
              <a:t>動画で「住み心地」まで伝わる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56616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5544"/>
                </a:solidFill>
                <a:latin typeface="Yu Gothic"/>
              </a:defRPr>
            </a:pPr>
            <a:r>
              <a:t>写真では伝わらない空間の広がり、</a:t>
            </a:r>
            <a:br/>
            <a:r>
              <a:t>生活動線、光の入り方を動画で体感。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645920"/>
            <a:ext cx="320040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828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8740C"/>
                </a:solidFill>
                <a:latin typeface="Yu Gothic"/>
              </a:defRPr>
            </a:pPr>
            <a: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965960"/>
            <a:ext cx="1828800" cy="365760"/>
          </a:xfrm>
          <a:prstGeom prst="roundRect">
            <a:avLst>
              <a:gd name="adj" fmla="val 5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8740C"/>
                </a:solidFill>
                <a:latin typeface="Yu Gothic"/>
              </a:defRPr>
            </a:pPr>
            <a:r>
              <a:t>目標1〜3万円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6517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D2200"/>
                </a:solidFill>
                <a:latin typeface="Yu Gothic"/>
              </a:defRPr>
            </a:pPr>
            <a:r>
              <a:t>反響単価がSUUMOの1/3〜1/5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56616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5544"/>
                </a:solidFill>
                <a:latin typeface="Yu Gothic"/>
              </a:defRPr>
            </a:pPr>
            <a:r>
              <a:t>目標は1件あたり1〜3万円。</a:t>
            </a:r>
            <a:br/>
            <a:r>
              <a:t>SUUMOの5〜15万円と比較してください。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Yu Gothic"/>
              </a:defRPr>
            </a:pPr>
            <a: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D2200"/>
                </a:solidFill>
                <a:latin typeface="Yu Gothic"/>
              </a:defRPr>
            </a:pPr>
            <a:r>
              <a:t>2つのサービス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E874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029200" cy="73152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Yu Gothic"/>
              </a:defRPr>
            </a:pPr>
            <a:r>
              <a:t>プラットフォーム掲載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2560320"/>
            <a:ext cx="2286000" cy="365760"/>
          </a:xfrm>
          <a:prstGeom prst="roundRect">
            <a:avLst>
              <a:gd name="adj" fmla="val 5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8740C"/>
                </a:solidFill>
                <a:latin typeface="Yu Gothic"/>
              </a:defRPr>
            </a:pPr>
            <a:r>
              <a:t>鹿児島エリア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4297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D2200"/>
                </a:solidFill>
                <a:latin typeface="Yu Gothic"/>
              </a:defRPr>
            </a:pPr>
            <a:r>
              <a:t>平屋検討者からのリードを獲得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3D2200"/>
                </a:solidFill>
                <a:latin typeface="Yu Gothic"/>
              </a:defRPr>
            </a:pPr>
          </a:p>
          <a:p>
            <a:pPr algn="l">
              <a:spcBef>
                <a:spcPts val="600"/>
              </a:spcBef>
              <a:defRPr sz="1300" b="0">
                <a:solidFill>
                  <a:srgbClr val="3D2200"/>
                </a:solidFill>
                <a:latin typeface="Yu Gothic"/>
              </a:defRPr>
            </a:pPr>
            <a:r>
              <a:t>✓  紹介ページ作成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3D2200"/>
                </a:solidFill>
                <a:latin typeface="Yu Gothic"/>
              </a:defRPr>
            </a:pPr>
            <a:r>
              <a:t>✓  見学会告知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3D2200"/>
                </a:solidFill>
                <a:latin typeface="Yu Gothic"/>
              </a:defRPr>
            </a:pPr>
            <a:r>
              <a:t>✓  リード送客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3D2200"/>
                </a:solidFill>
                <a:latin typeface="Yu Gothic"/>
              </a:defRPr>
            </a:pPr>
          </a:p>
          <a:p>
            <a:pPr algn="ctr">
              <a:spcBef>
                <a:spcPts val="600"/>
              </a:spcBef>
              <a:defRPr sz="1800" b="1">
                <a:solidFill>
                  <a:srgbClr val="E8740C"/>
                </a:solidFill>
                <a:latin typeface="Yu Gothic"/>
              </a:defRPr>
            </a:pPr>
            <a:r>
              <a:t>まずは3ヶ月無料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02920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E874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029200" cy="73152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Yu Gothic"/>
              </a:defRPr>
            </a:pPr>
            <a:r>
              <a:t>マーケティング支援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2560320"/>
            <a:ext cx="2286000" cy="365760"/>
          </a:xfrm>
          <a:prstGeom prst="roundRect">
            <a:avLst>
              <a:gd name="adj" fmla="val 5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8740C"/>
                </a:solidFill>
                <a:latin typeface="Yu Gothic"/>
              </a:defRPr>
            </a:pPr>
            <a:r>
              <a:t>全国対応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200400"/>
            <a:ext cx="4297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D2200"/>
                </a:solidFill>
                <a:latin typeface="Yu Gothic"/>
              </a:defRPr>
            </a:pPr>
            <a:r>
              <a:t>動画・SNSでブランド構築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3D2200"/>
                </a:solidFill>
                <a:latin typeface="Yu Gothic"/>
              </a:defRPr>
            </a:pPr>
          </a:p>
          <a:p>
            <a:pPr algn="l">
              <a:spcBef>
                <a:spcPts val="600"/>
              </a:spcBef>
              <a:defRPr sz="1300" b="0">
                <a:solidFill>
                  <a:srgbClr val="3D2200"/>
                </a:solidFill>
                <a:latin typeface="Yu Gothic"/>
              </a:defRPr>
            </a:pPr>
            <a:r>
              <a:t>✓  ルームツアー動画制作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3D2200"/>
                </a:solidFill>
                <a:latin typeface="Yu Gothic"/>
              </a:defRPr>
            </a:pPr>
            <a:r>
              <a:t>✓  ショート動画・SNS運用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3D2200"/>
                </a:solidFill>
                <a:latin typeface="Yu Gothic"/>
              </a:defRPr>
            </a:pPr>
            <a:r>
              <a:t>✓  LINE配信・戦略会議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3D2200"/>
                </a:solidFill>
                <a:latin typeface="Yu Gothic"/>
              </a:defRPr>
            </a:pPr>
          </a:p>
          <a:p>
            <a:pPr algn="ctr">
              <a:spcBef>
                <a:spcPts val="600"/>
              </a:spcBef>
              <a:defRPr sz="1800" b="1">
                <a:solidFill>
                  <a:srgbClr val="E8740C"/>
                </a:solidFill>
                <a:latin typeface="Yu Gothic"/>
              </a:defRPr>
            </a:pPr>
            <a:r>
              <a:t>月8万円〜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Yu Gothic"/>
              </a:defRPr>
            </a:pPr>
            <a: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D2200"/>
                </a:solidFill>
                <a:latin typeface="Yu Gothic"/>
              </a:defRPr>
            </a:pPr>
            <a:r>
              <a:t>プラットフォーム掲載 — フリープラン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740C"/>
                </a:solidFill>
                <a:latin typeface="Yu Gothic"/>
              </a:defRPr>
            </a:pPr>
            <a:r>
              <a:t>まずは3ヶ月間、完全無料で始めてください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011680" cy="1188720"/>
          </a:xfrm>
          <a:prstGeom prst="roundRect">
            <a:avLst>
              <a:gd name="adj" fmla="val 5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Yu Gothic"/>
              </a:defRPr>
            </a:pPr>
            <a:r>
              <a:t>月額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E8740C"/>
                </a:solidFill>
                <a:latin typeface="Yu Gothic"/>
              </a:defRPr>
            </a:pPr>
            <a:r>
              <a:t>0円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1920240"/>
            <a:ext cx="2011680" cy="1188720"/>
          </a:xfrm>
          <a:prstGeom prst="roundRect">
            <a:avLst>
              <a:gd name="adj" fmla="val 5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Yu Gothic"/>
              </a:defRPr>
            </a:pPr>
            <a:r>
              <a:t>資料請求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3774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E8740C"/>
                </a:solidFill>
                <a:latin typeface="Yu Gothic"/>
              </a:defRPr>
            </a:pPr>
            <a:r>
              <a:t>0円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1920240"/>
            <a:ext cx="2011680" cy="1188720"/>
          </a:xfrm>
          <a:prstGeom prst="roundRect">
            <a:avLst>
              <a:gd name="adj" fmla="val 5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Yu Gothic"/>
              </a:defRPr>
            </a:pPr>
            <a:r>
              <a:t>見学会予約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23774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E8740C"/>
                </a:solidFill>
                <a:latin typeface="Yu Gothic"/>
              </a:defRPr>
            </a:pPr>
            <a:r>
              <a:t>0円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83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D2200"/>
                </a:solidFill>
                <a:latin typeface="Yu Gothic"/>
              </a:defRPr>
            </a:pPr>
            <a:r>
              <a:t>含まれるもの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D2200"/>
                </a:solidFill>
                <a:latin typeface="Yu Gothic"/>
              </a:defRPr>
            </a:pPr>
            <a:r>
              <a:t>✓  紹介ページ作成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D2200"/>
                </a:solidFill>
                <a:latin typeface="Yu Gothic"/>
              </a:defRPr>
            </a:pPr>
            <a:r>
              <a:t>✓  見学会告知（月1件）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D2200"/>
                </a:solidFill>
                <a:latin typeface="Yu Gothic"/>
              </a:defRPr>
            </a:pPr>
            <a:r>
              <a:t>✓  リード送客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D2200"/>
                </a:solidFill>
                <a:latin typeface="Yu Gothic"/>
              </a:defRPr>
            </a:pPr>
            <a:r>
              <a:t>✓  AIチャット対応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D2200"/>
                </a:solidFill>
                <a:latin typeface="Yu Gothic"/>
              </a:defRPr>
            </a:pPr>
            <a:r>
              <a:t>✓  月次レポート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20040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FEF9F3"/>
          </a:solidFill>
          <a:ln w="12700">
            <a:solidFill>
              <a:srgbClr val="E874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3383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40C"/>
                </a:solidFill>
                <a:latin typeface="Yu Gothic"/>
              </a:defRPr>
            </a:pPr>
            <a:r>
              <a:t>なぜ無料なのか？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8404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5544"/>
                </a:solidFill>
                <a:latin typeface="Yu Gothic"/>
              </a:defRPr>
            </a:pPr>
            <a:r>
              <a:t>リリース直後はまだユーザーが少ない。ユーザーが少ないうちからお金をいただくのは筋が通らない。最初の3ヶ月は私たちが価値を証明する期間です。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852160"/>
            <a:ext cx="10698480" cy="640080"/>
          </a:xfrm>
          <a:prstGeom prst="roundRect">
            <a:avLst>
              <a:gd name="adj" fmla="val 5000"/>
            </a:avLst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先着20社限定  |  申込期限 4月20日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Yu Gothic"/>
              </a:defRPr>
            </a:pPr>
            <a: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D2200"/>
                </a:solidFill>
                <a:latin typeface="Yu Gothic"/>
              </a:defRPr>
            </a:pPr>
            <a:r>
              <a:t>3ヶ月後の有料プラン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05840" y="1463040"/>
          <a:ext cx="10058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D2200"/>
                          </a:solidFill>
                          <a:latin typeface="Yu Gothic"/>
                        </a:defRPr>
                      </a:p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成果報酬</a:t>
                      </a:r>
                    </a:p>
                  </a:txBody>
                  <a:tcPr anchor="ctr">
                    <a:solidFill>
                      <a:srgbClr val="553A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掲載ベーシック</a:t>
                      </a:r>
                    </a:p>
                  </a:txBody>
                  <a:tcPr anchor="ctr">
                    <a:solidFill>
                      <a:srgbClr val="553A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掲載プロ</a:t>
                      </a:r>
                    </a:p>
                  </a:txBody>
                  <a:tcPr anchor="ctr">
                    <a:solidFill>
                      <a:srgbClr val="E8740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D2200"/>
                          </a:solidFill>
                          <a:latin typeface="Yu Gothic"/>
                        </a:defRPr>
                      </a:pPr>
                      <a:r>
                        <a:t>月額</a:t>
                      </a:r>
                    </a:p>
                  </a:txBody>
                  <a:tcPr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D2200"/>
                          </a:solidFill>
                          <a:latin typeface="Yu Gothic"/>
                        </a:defRPr>
                      </a:pPr>
                      <a:r>
                        <a:t>0円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D2200"/>
                          </a:solidFill>
                          <a:latin typeface="Yu Gothic"/>
                        </a:defRPr>
                      </a:pPr>
                      <a:r>
                        <a:t>3万円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8740C"/>
                          </a:solidFill>
                          <a:latin typeface="Yu Gothic"/>
                        </a:defRPr>
                      </a:pPr>
                      <a:r>
                        <a:t>5万円</a:t>
                      </a:r>
                    </a:p>
                  </a:txBody>
                  <a:tcPr anchor="ctr">
                    <a:solidFill>
                      <a:srgbClr val="FFF8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D2200"/>
                          </a:solidFill>
                          <a:latin typeface="Yu Gothic"/>
                        </a:defRPr>
                      </a:pPr>
                      <a:r>
                        <a:t>資料請求</a:t>
                      </a:r>
                    </a:p>
                  </a:txBody>
                  <a:tcPr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D2200"/>
                          </a:solidFill>
                          <a:latin typeface="Yu Gothic"/>
                        </a:defRPr>
                      </a:pPr>
                      <a:r>
                        <a:t>8,000円/件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D2200"/>
                          </a:solidFill>
                          <a:latin typeface="Yu Gothic"/>
                        </a:defRPr>
                      </a:pPr>
                      <a:r>
                        <a:t>5,000円/件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8740C"/>
                          </a:solidFill>
                          <a:latin typeface="Yu Gothic"/>
                        </a:defRPr>
                      </a:pPr>
                      <a:r>
                        <a:t>3,000円/件</a:t>
                      </a:r>
                    </a:p>
                  </a:txBody>
                  <a:tcPr anchor="ctr">
                    <a:solidFill>
                      <a:srgbClr val="FFF8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D2200"/>
                          </a:solidFill>
                          <a:latin typeface="Yu Gothic"/>
                        </a:defRPr>
                      </a:pPr>
                      <a:r>
                        <a:t>見学会予約</a:t>
                      </a:r>
                    </a:p>
                  </a:txBody>
                  <a:tcPr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D2200"/>
                          </a:solidFill>
                          <a:latin typeface="Yu Gothic"/>
                        </a:defRPr>
                      </a:pPr>
                      <a:r>
                        <a:t>80,000円/件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D2200"/>
                          </a:solidFill>
                          <a:latin typeface="Yu Gothic"/>
                        </a:defRPr>
                      </a:pPr>
                      <a:r>
                        <a:t>50,000円/件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8740C"/>
                          </a:solidFill>
                          <a:latin typeface="Yu Gothic"/>
                        </a:defRPr>
                      </a:pPr>
                      <a:r>
                        <a:t>30,000円/件</a:t>
                      </a:r>
                    </a:p>
                  </a:txBody>
                  <a:tcPr anchor="ctr">
                    <a:solidFill>
                      <a:srgbClr val="FFF8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D2200"/>
                          </a:solidFill>
                          <a:latin typeface="Yu Gothic"/>
                        </a:defRPr>
                      </a:pPr>
                      <a:r>
                        <a:t>住宅契約</a:t>
                      </a:r>
                    </a:p>
                  </a:txBody>
                  <a:tcPr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D2200"/>
                          </a:solidFill>
                          <a:latin typeface="Yu Gothic"/>
                        </a:defRPr>
                      </a:pPr>
                      <a:r>
                        <a:t>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D2200"/>
                          </a:solidFill>
                          <a:latin typeface="Yu Gothic"/>
                        </a:defRPr>
                      </a:pPr>
                      <a:r>
                        <a:t>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8740C"/>
                          </a:solidFill>
                          <a:latin typeface="Yu Gothic"/>
                        </a:defRPr>
                      </a:pPr>
                      <a:r>
                        <a:t>2%</a:t>
                      </a:r>
                    </a:p>
                  </a:txBody>
                  <a:tcPr anchor="ctr">
                    <a:solidFill>
                      <a:srgbClr val="FFF8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D2200"/>
                          </a:solidFill>
                          <a:latin typeface="Yu Gothic"/>
                        </a:defRPr>
                      </a:pPr>
                      <a:r>
                        <a:t>YouTube概要欄</a:t>
                      </a:r>
                    </a:p>
                  </a:txBody>
                  <a:tcPr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D2200"/>
                          </a:solidFill>
                          <a:latin typeface="Yu Gothic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D2200"/>
                          </a:solidFill>
                          <a:latin typeface="Yu Gothic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8740C"/>
                          </a:solidFill>
                          <a:latin typeface="Yu Gothic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FFF8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D2200"/>
                          </a:solidFill>
                          <a:latin typeface="Yu Gothic"/>
                        </a:defRPr>
                      </a:pPr>
                      <a:r>
                        <a:t>上位表示</a:t>
                      </a:r>
                    </a:p>
                  </a:txBody>
                  <a:tcPr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D2200"/>
                          </a:solidFill>
                          <a:latin typeface="Yu Gothic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D2200"/>
                          </a:solidFill>
                          <a:latin typeface="Yu Gothic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8740C"/>
                          </a:solidFill>
                          <a:latin typeface="Yu Gothic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FFF8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D2200"/>
                          </a:solidFill>
                          <a:latin typeface="Yu Gothic"/>
                        </a:defRPr>
                      </a:pPr>
                      <a:r>
                        <a:t>詳細レポート</a:t>
                      </a:r>
                    </a:p>
                  </a:txBody>
                  <a:tcPr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D2200"/>
                          </a:solidFill>
                          <a:latin typeface="Yu Gothic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D2200"/>
                          </a:solidFill>
                          <a:latin typeface="Yu Gothic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8740C"/>
                          </a:solidFill>
                          <a:latin typeface="Yu Gothic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FFF8F0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005840" y="5486400"/>
            <a:ext cx="10058400" cy="640080"/>
          </a:xfrm>
          <a:prstGeom prst="roundRect">
            <a:avLst>
              <a:gd name="adj" fmla="val 5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3D2200"/>
                </a:solidFill>
                <a:latin typeface="Yu Gothic"/>
              </a:defRPr>
            </a:pPr>
            <a:r>
              <a:t>💡 3ヶ月間のデータを見て、いちばんお得なプランを一緒に選びます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Yu Gothic"/>
              </a:defRPr>
            </a:pPr>
            <a: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D2200"/>
                </a:solidFill>
                <a:latin typeface="Yu Gothic"/>
              </a:defRPr>
            </a:pPr>
            <a:r>
              <a:t>マーケティング支援 — サービス概要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740C"/>
                </a:solidFill>
                <a:latin typeface="Yu Gothic"/>
              </a:defRPr>
            </a:pPr>
            <a:r>
              <a:t>4.2万人チャンネルの制作チームが御社の集客をプロデュース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20040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3200400" cy="64008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D2200"/>
                </a:solidFill>
                <a:latin typeface="Yu Gothic"/>
              </a:defRPr>
            </a:pPr>
            <a:r>
              <a:t>エントリー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8740C"/>
                </a:solidFill>
                <a:latin typeface="Yu Gothic"/>
              </a:defRPr>
            </a:pPr>
            <a:r>
              <a:t>月8万円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3383280"/>
            <a:ext cx="265176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6616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2200"/>
                </a:solidFill>
                <a:latin typeface="Yu Gothic"/>
              </a:defRPr>
            </a:pPr>
            <a:r>
              <a:t>✓  ショート動画 月4本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3D2200"/>
                </a:solidFill>
                <a:latin typeface="Yu Gothic"/>
              </a:defRPr>
            </a:pPr>
            <a:r>
              <a:t>✓  Instagram 週3投稿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3D2200"/>
                </a:solidFill>
                <a:latin typeface="Yu Gothic"/>
              </a:defRPr>
            </a:pPr>
            <a:r>
              <a:t>✓  TikTok 週2投稿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920240"/>
            <a:ext cx="320040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920240"/>
            <a:ext cx="3200400" cy="64008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D2200"/>
                </a:solidFill>
                <a:latin typeface="Yu Gothic"/>
              </a:defRPr>
            </a:pPr>
            <a:r>
              <a:t>グロース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7432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8740C"/>
                </a:solidFill>
                <a:latin typeface="Yu Gothic"/>
              </a:defRPr>
            </a:pPr>
            <a:r>
              <a:t>月15万円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3383280"/>
            <a:ext cx="265176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356616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2200"/>
                </a:solidFill>
                <a:latin typeface="Yu Gothic"/>
              </a:defRPr>
            </a:pPr>
            <a:r>
              <a:t>✓  ルームツアー 月1本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3D2200"/>
                </a:solidFill>
                <a:latin typeface="Yu Gothic"/>
              </a:defRPr>
            </a:pPr>
            <a:r>
              <a:t>✓  ショート動画 月8本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3D2200"/>
                </a:solidFill>
                <a:latin typeface="Yu Gothic"/>
              </a:defRPr>
            </a:pPr>
            <a:r>
              <a:t>✓  Instagram 毎日投稿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3D2200"/>
                </a:solidFill>
                <a:latin typeface="Yu Gothic"/>
              </a:defRPr>
            </a:pPr>
            <a:r>
              <a:t>✓  TikTok 週3投稿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3D2200"/>
                </a:solidFill>
                <a:latin typeface="Yu Gothic"/>
              </a:defRPr>
            </a:pPr>
            <a:r>
              <a:t>✓  LINE配信 月2回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1920240"/>
            <a:ext cx="320040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E874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40" y="1920240"/>
            <a:ext cx="3200400" cy="64008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プレミアム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7432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8740C"/>
                </a:solidFill>
                <a:latin typeface="Yu Gothic"/>
              </a:defRPr>
            </a:pPr>
            <a:r>
              <a:t>月25万円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3383280"/>
            <a:ext cx="265176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356616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2200"/>
                </a:solidFill>
                <a:latin typeface="Yu Gothic"/>
              </a:defRPr>
            </a:pPr>
            <a:r>
              <a:t>✓  ルームツアー 月2本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3D2200"/>
                </a:solidFill>
                <a:latin typeface="Yu Gothic"/>
              </a:defRPr>
            </a:pPr>
            <a:r>
              <a:t>✓  ショート動画 月12本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3D2200"/>
                </a:solidFill>
                <a:latin typeface="Yu Gothic"/>
              </a:defRPr>
            </a:pPr>
            <a:r>
              <a:t>✓  Instagram 毎日投稿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3D2200"/>
                </a:solidFill>
                <a:latin typeface="Yu Gothic"/>
              </a:defRPr>
            </a:pPr>
            <a:r>
              <a:t>✓  TikTok 毎日投稿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3D2200"/>
                </a:solidFill>
                <a:latin typeface="Yu Gothic"/>
              </a:defRPr>
            </a:pPr>
            <a:r>
              <a:t>✓  LINE配信 月4回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3D2200"/>
                </a:solidFill>
                <a:latin typeface="Yu Gothic"/>
              </a:defRPr>
            </a:pPr>
            <a:r>
              <a:t>✓  戦略会議 月1回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0" y="1737360"/>
            <a:ext cx="1737360" cy="320040"/>
          </a:xfrm>
          <a:prstGeom prst="roundRect">
            <a:avLst>
              <a:gd name="adj" fmla="val 5000"/>
            </a:avLst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おすすめ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Yu Gothic"/>
              </a:defRPr>
            </a:pPr>
            <a: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D2200"/>
                </a:solidFill>
                <a:latin typeface="Yu Gothic"/>
              </a:defRPr>
            </a:pPr>
            <a:r>
              <a:t>マーケティング支援 — コスト比較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740C"/>
                </a:solidFill>
                <a:latin typeface="Yu Gothic"/>
              </a:defRPr>
            </a:pPr>
            <a:r>
              <a:t>一般の外注相場と比較して70〜85%のコスト削減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D2200"/>
                </a:solidFill>
                <a:latin typeface="Yu Gothic"/>
              </a:defRPr>
            </a:pPr>
            <a:r>
              <a:t>一般的な外注相場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834640"/>
            <a:ext cx="9601200" cy="1097280"/>
          </a:xfrm>
          <a:prstGeom prst="roundRect">
            <a:avLst>
              <a:gd name="adj" fmla="val 10000"/>
            </a:avLst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926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88888"/>
                </a:solidFill>
                <a:latin typeface="Yu Gothic"/>
              </a:defRPr>
            </a:pPr>
            <a:r>
              <a:t>月46〜73万円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0175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Yu Gothic"/>
              </a:defRPr>
            </a:pPr>
            <a:r>
              <a:t>ルームツアー制作 15〜30万  |  ショート動画 16〜24万  |  SNS運用 15〜20万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D2200"/>
                </a:solidFill>
                <a:latin typeface="Yu Gothic"/>
              </a:defRPr>
            </a:pPr>
            <a:r>
              <a:t>ぺいほーむ グロースプラン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846320"/>
            <a:ext cx="3200400" cy="1097280"/>
          </a:xfrm>
          <a:prstGeom prst="roundRect">
            <a:avLst>
              <a:gd name="adj" fmla="val 10000"/>
            </a:avLst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9377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月15万円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4937760"/>
            <a:ext cx="3200400" cy="822960"/>
          </a:xfrm>
          <a:prstGeom prst="roundRect">
            <a:avLst>
              <a:gd name="adj" fmla="val 5000"/>
            </a:avLst>
          </a:prstGeom>
          <a:solidFill>
            <a:srgbClr val="FFF3E6"/>
          </a:solidFill>
          <a:ln w="25400">
            <a:solidFill>
              <a:srgbClr val="E874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E8740C"/>
                </a:solidFill>
                <a:latin typeface="Yu Gothic"/>
              </a:defRPr>
            </a:pPr>
            <a:r>
              <a:t>67〜79% コスト削減！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Yu Gothic"/>
              </a:defRPr>
            </a:pPr>
            <a: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D2200"/>
                </a:solidFill>
                <a:latin typeface="Yu Gothic"/>
              </a:defRPr>
            </a:pPr>
            <a:r>
              <a:t>ご利用の流れ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28600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3040" y="2286000"/>
            <a:ext cx="822960" cy="822960"/>
          </a:xfrm>
          <a:prstGeom prst="ellipse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8740C"/>
                </a:solidFill>
                <a:latin typeface="Yu Gothic"/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D2200"/>
                </a:solidFill>
                <a:latin typeface="Yu Gothic"/>
              </a:defRPr>
            </a:pPr>
            <a:r>
              <a:t>お申込み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Yu Gothic"/>
              </a:defRPr>
            </a:pPr>
            <a:r>
              <a:t>基本情報＋写真をご提出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08960" y="3383280"/>
            <a:ext cx="274320" cy="274320"/>
          </a:xfrm>
          <a:prstGeom prst="rightArrow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4720" y="2011680"/>
            <a:ext cx="228600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06240" y="2286000"/>
            <a:ext cx="822960" cy="822960"/>
          </a:xfrm>
          <a:prstGeom prst="ellipse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2918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8740C"/>
                </a:solidFill>
                <a:latin typeface="Yu Gothic"/>
              </a:defRPr>
            </a:pPr>
            <a: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6576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D2200"/>
                </a:solidFill>
                <a:latin typeface="Yu Gothic"/>
              </a:defRPr>
            </a:pPr>
            <a:r>
              <a:t>掲載ページ作成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2976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Yu Gothic"/>
              </a:defRPr>
            </a:pPr>
            <a:r>
              <a:t>私たちが全て作成します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852160" y="3383280"/>
            <a:ext cx="274320" cy="274320"/>
          </a:xfrm>
          <a:prstGeom prst="rightArrow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2011680"/>
            <a:ext cx="228600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49440" y="2286000"/>
            <a:ext cx="822960" cy="822960"/>
          </a:xfrm>
          <a:prstGeom prst="ellipse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2918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8740C"/>
                </a:solidFill>
                <a:latin typeface="Yu Gothic"/>
              </a:defRPr>
            </a:pPr>
            <a: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6576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D2200"/>
                </a:solidFill>
                <a:latin typeface="Yu Gothic"/>
              </a:defRPr>
            </a:pPr>
            <a:r>
              <a:t>5/1 リリース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2976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Yu Gothic"/>
              </a:defRPr>
            </a:pPr>
            <a:r>
              <a:t>集客開始！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595360" y="3383280"/>
            <a:ext cx="274320" cy="274320"/>
          </a:xfrm>
          <a:prstGeom prst="rightArrow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61120" y="2011680"/>
            <a:ext cx="228600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0" y="2286000"/>
            <a:ext cx="822960" cy="822960"/>
          </a:xfrm>
          <a:prstGeom prst="ellipse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2918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8740C"/>
                </a:solidFill>
                <a:latin typeface="Yu Gothic"/>
              </a:defRPr>
            </a:pPr>
            <a:r>
              <a:t>STEP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6576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D2200"/>
                </a:solidFill>
                <a:latin typeface="Yu Gothic"/>
              </a:defRPr>
            </a:pPr>
            <a:r>
              <a:t>データレポート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42976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Yu Gothic"/>
              </a:defRPr>
            </a:pPr>
            <a:r>
              <a:t>3ヶ月後に有料プランをご提案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Yu Gothic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D2200"/>
                </a:solidFill>
                <a:latin typeface="Yu Gothic"/>
              </a:defRPr>
            </a:pPr>
            <a:r>
              <a:t>よくあるご質問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097280"/>
          </a:xfrm>
          <a:prstGeom prst="roundRect">
            <a:avLst>
              <a:gd name="adj" fmla="val 5000"/>
            </a:avLst>
          </a:prstGeom>
          <a:solidFill>
            <a:srgbClr val="FCF8F4"/>
          </a:solidFill>
          <a:ln w="1270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1600200"/>
            <a:ext cx="457200" cy="365760"/>
          </a:xfrm>
          <a:prstGeom prst="roundRect">
            <a:avLst>
              <a:gd name="adj" fmla="val 5000"/>
            </a:avLst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Yu Gothic"/>
              </a:defRPr>
            </a:pPr>
            <a:r>
              <a:t>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554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D2200"/>
                </a:solidFill>
                <a:latin typeface="Yu Gothic"/>
              </a:defRPr>
            </a:pPr>
            <a:r>
              <a:t>本当に無料ですか？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965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5544"/>
                </a:solidFill>
                <a:latin typeface="Yu Gothic"/>
              </a:defRPr>
            </a:pPr>
            <a:r>
              <a:t>3ヶ月間は完全無料です。資料請求・見学会予約が来ても0円。隠れた費用は一切ありません。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97480"/>
            <a:ext cx="10698480" cy="1097280"/>
          </a:xfrm>
          <a:prstGeom prst="roundRect">
            <a:avLst>
              <a:gd name="adj" fmla="val 5000"/>
            </a:avLst>
          </a:prstGeom>
          <a:solidFill>
            <a:srgbClr val="FCF8F4"/>
          </a:solidFill>
          <a:ln w="1270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2834640"/>
            <a:ext cx="457200" cy="365760"/>
          </a:xfrm>
          <a:prstGeom prst="roundRect">
            <a:avLst>
              <a:gd name="adj" fmla="val 5000"/>
            </a:avLst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Yu Gothic"/>
              </a:defRPr>
            </a:pPr>
            <a: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788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D2200"/>
                </a:solidFill>
                <a:latin typeface="Yu Gothic"/>
              </a:defRPr>
            </a:pPr>
            <a:r>
              <a:t>3ヶ月後は必ず有料になりますか？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5544"/>
                </a:solidFill>
                <a:latin typeface="Yu Gothic"/>
              </a:defRPr>
            </a:pPr>
            <a:r>
              <a:t>効果がなければやめていただいて構いません。無理な営業は一切いたしません。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10698480" cy="1097280"/>
          </a:xfrm>
          <a:prstGeom prst="roundRect">
            <a:avLst>
              <a:gd name="adj" fmla="val 5000"/>
            </a:avLst>
          </a:prstGeom>
          <a:solidFill>
            <a:srgbClr val="FCF8F4"/>
          </a:solidFill>
          <a:ln w="1270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5840" y="4069080"/>
            <a:ext cx="457200" cy="365760"/>
          </a:xfrm>
          <a:prstGeom prst="roundRect">
            <a:avLst>
              <a:gd name="adj" fmla="val 5000"/>
            </a:avLst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Yu Gothic"/>
              </a:defRPr>
            </a:pPr>
            <a: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023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D2200"/>
                </a:solidFill>
                <a:latin typeface="Yu Gothic"/>
              </a:defRPr>
            </a:pPr>
            <a:r>
              <a:t>何を準備すればいいですか？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434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5544"/>
                </a:solidFill>
                <a:latin typeface="Yu Gothic"/>
              </a:defRPr>
            </a:pPr>
            <a:r>
              <a:t>基本情報と施工事例の写真3〜5枚だけ。掲載ページは私たちが全て作成します。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166360"/>
            <a:ext cx="10698480" cy="1097280"/>
          </a:xfrm>
          <a:prstGeom prst="roundRect">
            <a:avLst>
              <a:gd name="adj" fmla="val 5000"/>
            </a:avLst>
          </a:prstGeom>
          <a:solidFill>
            <a:srgbClr val="FCF8F4"/>
          </a:solidFill>
          <a:ln w="1270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05840" y="5303520"/>
            <a:ext cx="457200" cy="365760"/>
          </a:xfrm>
          <a:prstGeom prst="roundRect">
            <a:avLst>
              <a:gd name="adj" fmla="val 5000"/>
            </a:avLst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Yu Gothic"/>
              </a:defRPr>
            </a:pPr>
            <a:r>
              <a:t>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257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D2200"/>
                </a:solidFill>
                <a:latin typeface="Yu Gothic"/>
              </a:defRPr>
            </a:pPr>
            <a:r>
              <a:t>SUUMOとの違いは？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5544"/>
                </a:solidFill>
                <a:latin typeface="Yu Gothic"/>
              </a:defRPr>
            </a:pPr>
            <a:r>
              <a:t>来る方の100%が平屋検討者。反響の質が違います。「なんとなく見ている人」はゼロです。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Yu Gothic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Yu Gothic"/>
              </a:defRPr>
            </a:pPr>
            <a:r>
              <a:t>まずは3ヶ月無料で</a:t>
            </a:r>
            <a:br/>
            <a:r>
              <a:t>始めてみませんか？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2743200"/>
            <a:ext cx="576072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0" y="30175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D2200"/>
                </a:solidFill>
                <a:latin typeface="Yu Gothic"/>
              </a:defRPr>
            </a:pPr>
            <a:r>
              <a:t>株式会社wazeka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3566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D2200"/>
                </a:solidFill>
                <a:latin typeface="Yu Gothic"/>
              </a:defRPr>
            </a:pPr>
            <a:r>
              <a:t>ぺいほーむ事業部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4114800"/>
            <a:ext cx="301752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42976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Yu Gothic"/>
              </a:defRPr>
            </a:pPr>
            <a:r>
              <a:t>Email:  info@payhome.jp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4709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Yu Gothic"/>
              </a:defRPr>
            </a:pPr>
            <a:r>
              <a:t>TEL:  099-XXX-XXXX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Yu Gothic"/>
              </a:defRPr>
            </a:pPr>
            <a:r>
              <a:t>先着20社限定  |  申込期限 4月20日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