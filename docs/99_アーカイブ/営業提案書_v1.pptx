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ぺいほーむ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t>パートナープログラムのご提案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40C"/>
                </a:solidFill>
              </a:defRPr>
            </a:pPr>
            <a:r>
              <a:t>九州No.1 平屋専門メディア × AI住宅プラットフォーム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D2200"/>
                </a:solidFill>
              </a:defRPr>
            </a:pPr>
            <a:r>
              <a:t>株式会社wazeka</a:t>
            </a:r>
          </a:p>
          <a:p>
            <a:pPr algn="l">
              <a:defRPr sz="1400">
                <a:solidFill>
                  <a:srgbClr val="666666"/>
                </a:solidFill>
              </a:defRPr>
            </a:pPr>
            <a:r>
              <a:t>2026年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ぺいほーむ とは — ひとことで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29200" cy="320040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消費者向け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60320"/>
            <a:ext cx="548640" cy="54864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D2200"/>
                </a:solidFill>
              </a:defRPr>
            </a:pPr>
            <a:r>
              <a:t>「平屋を検討する方の情報整理・比較・相談を、AIを活用して支援するプラットフォームです」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320040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住宅会社向け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2560320"/>
            <a:ext cx="548640" cy="548640"/>
          </a:xfrm>
          <a:prstGeom prst="ellipse">
            <a:avLst/>
          </a:prstGeom>
          <a:solidFill>
            <a:srgbClr val="3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D2200"/>
                </a:solidFill>
              </a:defRPr>
            </a:pPr>
            <a:r>
              <a:t>「YouTube4.29万人の平屋専門メディアから、意向データ付きの高精度な見込み顧客を工務店様にお届けします」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ぺいほーむとは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740C"/>
                </a:solidFill>
              </a:defRPr>
            </a:pPr>
            <a:r>
              <a:t>42,841人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YouTube登録者数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平屋専門チャンネルとして</a:t>
            </a:r>
            <a:br/>
            <a:r>
              <a:t>九州No.1の登録者数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38328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10312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740C"/>
                </a:solidFill>
              </a:defRPr>
            </a:pPr>
            <a:r>
              <a:t>257本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8346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公開動画数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291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ルームツアー・間取り解説</a:t>
            </a:r>
            <a:br/>
            <a:r>
              <a:t>平屋の全てをカバー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38328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740C"/>
                </a:solidFill>
              </a:defRPr>
            </a:pPr>
            <a:r>
              <a:t>月間15万回+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346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動画視聴回数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91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毎月新規の平屋検討者が</a:t>
            </a:r>
            <a:br/>
            <a:r>
              <a:t>継続的に流入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九州・鹿児島発の平屋専門メディアとして、平屋検討者向けWebプラットフォームを運営しています。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住宅会社様が抱える課題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8D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740C"/>
                </a:solidFill>
              </a:defRPr>
            </a:pPr>
            <a:r>
              <a:t>課題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2200"/>
                </a:solidFill>
              </a:defRPr>
            </a:pPr>
            <a:r>
              <a:t>反響単価の高騰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ポータルサイトの反響単価が</a:t>
            </a:r>
            <a:br/>
            <a:r>
              <a:t>8,000〜15,000円/件に高騰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212080" cy="19202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8D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4864" cy="19202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740C"/>
                </a:solidFill>
              </a:defRPr>
            </a:pPr>
            <a:r>
              <a:t>課題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2200"/>
                </a:solidFill>
              </a:defRPr>
            </a:pPr>
            <a:r>
              <a:t>リードの質が低い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「とりあえず資料請求」が多く</a:t>
            </a:r>
            <a:br/>
            <a:r>
              <a:t>本気度が分からない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8D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4864" cy="19202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740C"/>
                </a:solidFill>
              </a:defRPr>
            </a:pPr>
            <a:r>
              <a:t>課題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26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2200"/>
                </a:solidFill>
              </a:defRPr>
            </a:pPr>
            <a:r>
              <a:t>リソース不足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SNS・動画マーケティングの</a:t>
            </a:r>
            <a:br/>
            <a:r>
              <a:t>リソースが不足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14800"/>
            <a:ext cx="5212080" cy="19202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8D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114800"/>
            <a:ext cx="54864" cy="19202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740C"/>
                </a:solidFill>
              </a:defRPr>
            </a:pPr>
            <a:r>
              <a:t>課題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26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2200"/>
                </a:solidFill>
              </a:defRPr>
            </a:pPr>
            <a:r>
              <a:t>顧客情報の不足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商談前に顧客の関心事が</a:t>
            </a:r>
            <a:br/>
            <a:r>
              <a:t>分からない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ぺいほーむが解決すること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28600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高精度リード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平屋検討者に特化した</a:t>
            </a:r>
            <a:br/>
            <a:r>
              <a:t>高精度なリード獲得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28600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意向データ付き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関心・予算・検討フェーズ</a:t>
            </a:r>
            <a:br/>
            <a:r>
              <a:t>閲覧履歴を提供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69479" y="228600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信頼構築済み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ルームツアー動画による</a:t>
            </a:r>
            <a:br/>
            <a:r>
              <a:t>信頼構築済みの見込み客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39" y="228600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AI商談支援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将来的にはAIによる</a:t>
            </a:r>
            <a:br/>
            <a:r>
              <a:t>商談前要約の提供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ぺいほーむの視聴者データ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YouTube Analytics 直近データ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D2200"/>
                </a:solidFill>
              </a:defRPr>
            </a:pPr>
            <a:r>
              <a:t>年齢層分布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2200"/>
                </a:solidFill>
              </a:defRPr>
            </a:pPr>
            <a:r>
              <a:t>55-64歳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240280"/>
            <a:ext cx="3657600" cy="256032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0" y="2240280"/>
            <a:ext cx="3227832" cy="256032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21945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35.3%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セカンドライフ・建て替え需要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2200"/>
                </a:solidFill>
              </a:defRPr>
            </a:pPr>
            <a:r>
              <a:t>45-54歳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926080"/>
            <a:ext cx="3657600" cy="256032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0" y="2926080"/>
            <a:ext cx="2660903" cy="256032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3" y="28803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29.1%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54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子育て後の住環境見直し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2200"/>
                </a:solidFill>
              </a:defRPr>
            </a:pPr>
            <a:r>
              <a:t>35-44歳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611880"/>
            <a:ext cx="3657600" cy="256032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11680" y="3611880"/>
            <a:ext cx="1664207" cy="256032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7" y="35661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18.2%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8404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新築検討層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2200"/>
                </a:solidFill>
              </a:defRPr>
            </a:pPr>
            <a:r>
              <a:t>その他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297680"/>
            <a:ext cx="3657600" cy="256032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11680" y="4297680"/>
            <a:ext cx="1591055" cy="256032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5" y="4251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40C"/>
                </a:solidFill>
              </a:defRPr>
            </a:pPr>
            <a:r>
              <a:t>17.4%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645920"/>
            <a:ext cx="4572000" cy="201168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性別構成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女性</a:t>
            </a:r>
          </a:p>
          <a:p>
            <a:pPr>
              <a:defRPr sz="3200" b="1">
                <a:solidFill>
                  <a:srgbClr val="E8740C"/>
                </a:solidFill>
              </a:defRPr>
            </a:pPr>
            <a:r>
              <a:t>54%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男性</a:t>
            </a:r>
          </a:p>
          <a:p>
            <a:pPr>
              <a:defRPr sz="3200" b="1">
                <a:solidFill>
                  <a:srgbClr val="3D2200"/>
                </a:solidFill>
              </a:defRPr>
            </a:pPr>
            <a:r>
              <a:t>46%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931920"/>
            <a:ext cx="4572000" cy="201168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023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新規視聴者率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48056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8740C"/>
                </a:solidFill>
              </a:defRPr>
            </a:pPr>
            <a:r>
              <a:t>84.8%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常に新しい検討者が流入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サービス内容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2148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14884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103120"/>
            <a:ext cx="640080" cy="640080"/>
          </a:xfrm>
          <a:prstGeom prst="ellipse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8740C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ルームツアー動画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撮影・制作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プロ品質の平屋</a:t>
            </a:r>
            <a:br/>
            <a:r>
              <a:t>ルームツアー動画を</a:t>
            </a:r>
            <a:br/>
            <a:r>
              <a:t>制作・公開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1828800"/>
            <a:ext cx="2148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1828800"/>
            <a:ext cx="214884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10711" y="2103120"/>
            <a:ext cx="640080" cy="640080"/>
          </a:xfrm>
          <a:prstGeom prst="ellipse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8740C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9260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SNS運用代行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19" y="33375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YouTube/Instagram/TikTok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19" y="38404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各SNSプラットフォーム</a:t>
            </a:r>
            <a:br/>
            <a:r>
              <a:t>での投稿・運用を</a:t>
            </a:r>
            <a:br/>
            <a:r>
              <a:t>代行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828800"/>
            <a:ext cx="2148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828800"/>
            <a:ext cx="214884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42432" y="2103120"/>
            <a:ext cx="640080" cy="640080"/>
          </a:xfrm>
          <a:prstGeom prst="ellipse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8740C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Webサイト制作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3375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制作・SEO対策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8404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集客力のある</a:t>
            </a:r>
            <a:br/>
            <a:r>
              <a:t>Webサイトを制作</a:t>
            </a:r>
            <a:br/>
            <a:r>
              <a:t>SEO対策も実施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1828800"/>
            <a:ext cx="2148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828800"/>
            <a:ext cx="214884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74151" y="2103120"/>
            <a:ext cx="640080" cy="640080"/>
          </a:xfrm>
          <a:prstGeom prst="ellipse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8740C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29260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反響送客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33375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平屋検討者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38404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平屋検討者からの</a:t>
            </a:r>
            <a:br/>
            <a:r>
              <a:t>問い合わせを</a:t>
            </a:r>
            <a:br/>
            <a:r>
              <a:t>直接送客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828800"/>
            <a:ext cx="2148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828800"/>
            <a:ext cx="214884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05872" y="2103120"/>
            <a:ext cx="640080" cy="640080"/>
          </a:xfrm>
          <a:prstGeom prst="ellipse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8740C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9260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</a:defRPr>
            </a:pPr>
            <a:r>
              <a:t>AIチャット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3375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見込み客育成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8404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AIチャットボットで</a:t>
            </a:r>
            <a:br/>
            <a:r>
              <a:t>見込み客の育成と</a:t>
            </a:r>
            <a:br/>
            <a:r>
              <a:t>情報収集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料金プラン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ライト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8740C"/>
                </a:solidFill>
              </a:rPr>
              <a:t>30,000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円/月（税別）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2103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SNS投稿代行（月8本）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基本レポート（月次）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メール/チャットサポート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51760" cy="4389120"/>
          </a:xfrm>
          <a:prstGeom prst="roundRect">
            <a:avLst/>
          </a:prstGeom>
          <a:solidFill>
            <a:srgbClr val="FFF0E0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4760" y="1664208"/>
            <a:ext cx="1737360" cy="320040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おすすめ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スタンダード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8740C"/>
                </a:solidFill>
              </a:rPr>
              <a:t>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円/月（税別）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3337560"/>
            <a:ext cx="2103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474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SNS運用代行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ルームツアー動画 月1本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SEO記事制作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リード通知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月次レポート＋改善提案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プレミアム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8740C"/>
                </a:solidFill>
              </a:rPr>
              <a:t>150,000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円/月（税別）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337560"/>
            <a:ext cx="2103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74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全サービス込み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専属担当者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WEBサイト制作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広告運用代行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週次レポート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82880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エンタープライズ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68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E8740C"/>
                </a:solidFill>
              </a:rPr>
              <a:t>個別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見積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3337560"/>
            <a:ext cx="2103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474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カスタマイズ対応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複数店舗対応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専用開発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✓  優先サポート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導入事例（想定）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1371600" cy="320040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A工務店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299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YouTube動画制作後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月間問い合わせ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40C"/>
                </a:solidFill>
              </a:defRPr>
            </a:pPr>
            <a:r>
              <a:t>3件 → 15件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6ヶ月で5倍に増加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0175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ルームツアー動画の定期配信により、指名検索が増加。視聴者からの直接問い合わせが急増。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82880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828800"/>
            <a:ext cx="356616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2011680"/>
            <a:ext cx="1371600" cy="320040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Bハウス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0299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WEBリニューアル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資料請求数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40C"/>
                </a:solidFill>
              </a:defRPr>
            </a:pPr>
            <a:r>
              <a:t>2.8倍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リニューアル後3ヶ月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931920"/>
            <a:ext cx="30175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14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SEO対策とUI改善により、検索流入が増加。コンバージョン率も大幅に改善。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82880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2011680"/>
            <a:ext cx="1371600" cy="320040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Cホーム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0299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SNS運用開始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モデルハウス来場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740C"/>
                </a:solidFill>
              </a:defRPr>
            </a:pPr>
            <a:r>
              <a:t>1.5倍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8740C"/>
                </a:solidFill>
              </a:defRPr>
            </a:pPr>
            <a:r>
              <a:t>開始3ヶ月後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931920"/>
            <a:ext cx="30175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Instagram・TikTokでの施工事例発信により、若年層の来場が増加。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※ 上記は導入想定事例です。実際の成果はお客様の状況により異なります。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導入の流れ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96596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657600"/>
            <a:ext cx="36576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お問い合わせ</a:t>
            </a:r>
            <a:br/>
            <a:r>
              <a:t>ヒアリング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現状の課題やご要望を</a:t>
            </a:r>
            <a:br/>
            <a:r>
              <a:t>丁寧にヒアリング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846320"/>
            <a:ext cx="1097280" cy="32004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740C"/>
                </a:solidFill>
              </a:defRPr>
            </a:pPr>
            <a:r>
              <a:t>無料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28600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0" y="196596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3657600"/>
            <a:ext cx="36576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926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プランの</a:t>
            </a:r>
            <a:br/>
            <a:r>
              <a:t>ご提案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最適なプランと</a:t>
            </a:r>
            <a:br/>
            <a:r>
              <a:t>お見積りをご提示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846320"/>
            <a:ext cx="1097280" cy="32004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740C"/>
                </a:solidFill>
              </a:defRPr>
            </a:pPr>
            <a:r>
              <a:t>1週間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28600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599" y="196596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23959" y="3657600"/>
            <a:ext cx="36576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2926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無料</a:t>
            </a:r>
            <a:br/>
            <a:r>
              <a:t>トライアル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1ヶ月間の無料</a:t>
            </a:r>
            <a:br/>
            <a:r>
              <a:t>トライアル実施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39" y="4846320"/>
            <a:ext cx="1097280" cy="32004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740C"/>
                </a:solidFill>
              </a:defRPr>
            </a:pPr>
            <a:r>
              <a:t>1ヶ月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228600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66959" y="196596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926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2200"/>
                </a:solidFill>
              </a:defRPr>
            </a:pPr>
            <a:r>
              <a:t>本契約</a:t>
            </a:r>
            <a:br/>
            <a:r>
              <a:t>運用開始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本契約後</a:t>
            </a:r>
            <a:br/>
            <a:r>
              <a:t>本格運用スタート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799" y="4846320"/>
            <a:ext cx="1097280" cy="320040"/>
          </a:xfrm>
          <a:prstGeom prst="round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740C"/>
                </a:solidFill>
              </a:defRPr>
            </a:pPr>
            <a:r>
              <a:t>継続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D2200"/>
                </a:solidFill>
              </a:defRPr>
            </a:pPr>
            <a:r>
              <a:t>よくあるご質問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740C"/>
                </a:solidFill>
              </a:rPr>
              <a:t>ぺいほーむ</a:t>
            </a:r>
            <a:r>
              <a:rPr sz="1000">
                <a:solidFill>
                  <a:srgbClr val="666666"/>
                </a:solidFill>
              </a:rPr>
              <a:t>  |  株式会社wazeka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515600" cy="10972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4864" cy="10972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Q. 費用対効果はどれくらいですか？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反響単価を業界平均（8,000〜15,000円）の半分以下に抑えることを目標としています。意向データ付きのリードにより、商談化率の向上も期待できます。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54864" cy="10972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Q. 契約期間はどれくらいですか？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最低契約期間は3ヶ月です。以降は1ヶ月単位での継続・解約が可能です。効果が出るまでに一定期間が必要なため、3ヶ月をお勧めしています。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10972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4864" cy="10972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Q. 対応エリアはどこですか？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九州全域に対応しています（鹿児島・福岡を中心）。オンラインでのやり取りが中心のため、エリアを問わずご利用いただけます。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54864" cy="10972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2200"/>
                </a:solidFill>
              </a:defRPr>
            </a:pPr>
            <a:r>
              <a:t>Q. トライアル期間中の費用は？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1ヶ月間の無料トライアルをご用意しています。トライアル期間中はスタンダードプランの機能をお試しいただけます。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914400"/>
            <a:ext cx="7589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188720"/>
            <a:ext cx="6675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D2200"/>
                </a:solidFill>
              </a:defRPr>
            </a:pPr>
            <a:r>
              <a:t>お問い合わせ・ご相談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まずはお気軽にご連絡ください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51760"/>
            <a:ext cx="2103120" cy="36576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8740C"/>
                </a:solidFill>
              </a:defRPr>
            </a:pPr>
            <a:r>
              <a:t>会社名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200"/>
                </a:solidFill>
              </a:defRPr>
            </a:pPr>
            <a:r>
              <a:t>株式会社wazeka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118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8740C"/>
                </a:solidFill>
              </a:defRPr>
            </a:pPr>
            <a:r>
              <a:t>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6118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200"/>
                </a:solidFill>
              </a:defRPr>
            </a:pPr>
            <a:r>
              <a:t>ぺいほーむ パートナー担当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8740C"/>
                </a:solidFill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200"/>
                </a:solidFill>
              </a:defRPr>
            </a:pPr>
            <a:r>
              <a:t>payhome-media.com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00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8740C"/>
                </a:solidFill>
              </a:defRPr>
            </a:pPr>
            <a:r>
              <a:t>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200"/>
                </a:solidFill>
              </a:defRPr>
            </a:pPr>
            <a:r>
              <a:t>@253gzmoh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303520"/>
            <a:ext cx="3931920" cy="502920"/>
          </a:xfrm>
          <a:prstGeom prst="round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無料トライアルのお申し込みはこちら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